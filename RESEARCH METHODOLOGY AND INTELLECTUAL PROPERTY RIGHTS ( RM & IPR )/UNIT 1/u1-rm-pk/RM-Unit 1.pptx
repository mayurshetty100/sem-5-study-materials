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300" r:id="rId3"/>
    <p:sldId id="301" r:id="rId4"/>
    <p:sldId id="302" r:id="rId5"/>
    <p:sldId id="257" r:id="rId6"/>
    <p:sldId id="303" r:id="rId7"/>
    <p:sldId id="304" r:id="rId8"/>
    <p:sldId id="305" r:id="rId9"/>
    <p:sldId id="306" r:id="rId10"/>
    <p:sldId id="312" r:id="rId11"/>
    <p:sldId id="308" r:id="rId12"/>
    <p:sldId id="307" r:id="rId13"/>
    <p:sldId id="313" r:id="rId14"/>
    <p:sldId id="309" r:id="rId15"/>
    <p:sldId id="314" r:id="rId16"/>
    <p:sldId id="310" r:id="rId17"/>
    <p:sldId id="311" r:id="rId18"/>
    <p:sldId id="315" r:id="rId19"/>
    <p:sldId id="316" r:id="rId20"/>
    <p:sldId id="317" r:id="rId21"/>
    <p:sldId id="318" r:id="rId22"/>
    <p:sldId id="321" r:id="rId23"/>
    <p:sldId id="320" r:id="rId24"/>
    <p:sldId id="289" r:id="rId25"/>
    <p:sldId id="290" r:id="rId26"/>
    <p:sldId id="291" r:id="rId27"/>
    <p:sldId id="29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41" autoAdjust="0"/>
    <p:restoredTop sz="94660"/>
  </p:normalViewPr>
  <p:slideViewPr>
    <p:cSldViewPr snapToGrid="0">
      <p:cViewPr varScale="1">
        <p:scale>
          <a:sx n="69" d="100"/>
          <a:sy n="69" d="100"/>
        </p:scale>
        <p:origin x="55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043F4B-44FD-43A5-8413-696A2105957E}" type="datetimeFigureOut">
              <a:rPr lang="en-IN" smtClean="0"/>
              <a:pPr/>
              <a:t>22-09-2025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CA299D-3896-4E2E-9ED0-B741A92573B2}" type="slidenum">
              <a:rPr lang="en-IN" smtClean="0"/>
              <a:pPr/>
              <a:t>‹#›</a:t>
            </a:fld>
            <a:endParaRPr lang="en-IN"/>
          </a:p>
        </p:txBody>
      </p:sp>
    </p:spTree>
    <p:extLst>
      <p:ext uri="{BB962C8B-B14F-4D97-AF65-F5344CB8AC3E}">
        <p14:creationId xmlns:p14="http://schemas.microsoft.com/office/powerpoint/2010/main" val="664956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5A10CFF-EFE4-4C69-A4C0-E704BD976F67}" type="slidenum">
              <a:rPr lang="en-US" altLang="en-US"/>
              <a:pPr>
                <a:spcBef>
                  <a:spcPct val="0"/>
                </a:spcBef>
              </a:pPr>
              <a:t>27</a:t>
            </a:fld>
            <a:endParaRPr lang="en-US" altLang="en-US"/>
          </a:p>
        </p:txBody>
      </p:sp>
    </p:spTree>
    <p:extLst>
      <p:ext uri="{BB962C8B-B14F-4D97-AF65-F5344CB8AC3E}">
        <p14:creationId xmlns:p14="http://schemas.microsoft.com/office/powerpoint/2010/main" val="645158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67AC46A-D910-4ABF-B5E1-1163F2AB5EA8}" type="datetimeFigureOut">
              <a:rPr lang="en-IN" smtClean="0"/>
              <a:pPr/>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4C3851-FE56-47B5-B31F-974CBC2A3F80}" type="slidenum">
              <a:rPr lang="en-IN" smtClean="0"/>
              <a:pPr/>
              <a:t>‹#›</a:t>
            </a:fld>
            <a:endParaRPr lang="en-IN"/>
          </a:p>
        </p:txBody>
      </p:sp>
    </p:spTree>
    <p:extLst>
      <p:ext uri="{BB962C8B-B14F-4D97-AF65-F5344CB8AC3E}">
        <p14:creationId xmlns:p14="http://schemas.microsoft.com/office/powerpoint/2010/main" val="849218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67AC46A-D910-4ABF-B5E1-1163F2AB5EA8}" type="datetimeFigureOut">
              <a:rPr lang="en-IN" smtClean="0"/>
              <a:pPr/>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4C3851-FE56-47B5-B31F-974CBC2A3F80}" type="slidenum">
              <a:rPr lang="en-IN" smtClean="0"/>
              <a:pPr/>
              <a:t>‹#›</a:t>
            </a:fld>
            <a:endParaRPr lang="en-IN"/>
          </a:p>
        </p:txBody>
      </p:sp>
    </p:spTree>
    <p:extLst>
      <p:ext uri="{BB962C8B-B14F-4D97-AF65-F5344CB8AC3E}">
        <p14:creationId xmlns:p14="http://schemas.microsoft.com/office/powerpoint/2010/main" val="1675172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AC46A-D910-4ABF-B5E1-1163F2AB5EA8}" type="datetimeFigureOut">
              <a:rPr lang="en-IN" smtClean="0"/>
              <a:pPr/>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4C3851-FE56-47B5-B31F-974CBC2A3F80}" type="slidenum">
              <a:rPr lang="en-IN" smtClean="0"/>
              <a:pPr/>
              <a:t>‹#›</a:t>
            </a:fld>
            <a:endParaRPr lang="en-IN"/>
          </a:p>
        </p:txBody>
      </p:sp>
    </p:spTree>
    <p:extLst>
      <p:ext uri="{BB962C8B-B14F-4D97-AF65-F5344CB8AC3E}">
        <p14:creationId xmlns:p14="http://schemas.microsoft.com/office/powerpoint/2010/main" val="590889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67AC46A-D910-4ABF-B5E1-1163F2AB5EA8}" type="datetimeFigureOut">
              <a:rPr lang="en-IN" smtClean="0"/>
              <a:pPr/>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4C3851-FE56-47B5-B31F-974CBC2A3F80}" type="slidenum">
              <a:rPr lang="en-IN" smtClean="0"/>
              <a:pPr/>
              <a:t>‹#›</a:t>
            </a:fld>
            <a:endParaRPr lang="en-IN"/>
          </a:p>
        </p:txBody>
      </p:sp>
    </p:spTree>
    <p:extLst>
      <p:ext uri="{BB962C8B-B14F-4D97-AF65-F5344CB8AC3E}">
        <p14:creationId xmlns:p14="http://schemas.microsoft.com/office/powerpoint/2010/main" val="593496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67AC46A-D910-4ABF-B5E1-1163F2AB5EA8}" type="datetimeFigureOut">
              <a:rPr lang="en-IN" smtClean="0"/>
              <a:pPr/>
              <a:t>22-09-2025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94C3851-FE56-47B5-B31F-974CBC2A3F80}" type="slidenum">
              <a:rPr lang="en-IN" smtClean="0"/>
              <a:pPr/>
              <a:t>‹#›</a:t>
            </a:fld>
            <a:endParaRPr lang="en-IN"/>
          </a:p>
        </p:txBody>
      </p:sp>
    </p:spTree>
    <p:extLst>
      <p:ext uri="{BB962C8B-B14F-4D97-AF65-F5344CB8AC3E}">
        <p14:creationId xmlns:p14="http://schemas.microsoft.com/office/powerpoint/2010/main" val="2028916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67AC46A-D910-4ABF-B5E1-1163F2AB5EA8}" type="datetimeFigureOut">
              <a:rPr lang="en-IN" smtClean="0"/>
              <a:pPr/>
              <a:t>22-09-2025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94C3851-FE56-47B5-B31F-974CBC2A3F80}" type="slidenum">
              <a:rPr lang="en-IN" smtClean="0"/>
              <a:pPr/>
              <a:t>‹#›</a:t>
            </a:fld>
            <a:endParaRPr lang="en-IN"/>
          </a:p>
        </p:txBody>
      </p:sp>
    </p:spTree>
    <p:extLst>
      <p:ext uri="{BB962C8B-B14F-4D97-AF65-F5344CB8AC3E}">
        <p14:creationId xmlns:p14="http://schemas.microsoft.com/office/powerpoint/2010/main" val="2357549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AC46A-D910-4ABF-B5E1-1163F2AB5EA8}" type="datetimeFigureOut">
              <a:rPr lang="en-IN" smtClean="0"/>
              <a:pPr/>
              <a:t>22-09-2025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94C3851-FE56-47B5-B31F-974CBC2A3F80}" type="slidenum">
              <a:rPr lang="en-IN" smtClean="0"/>
              <a:pPr/>
              <a:t>‹#›</a:t>
            </a:fld>
            <a:endParaRPr lang="en-IN"/>
          </a:p>
        </p:txBody>
      </p:sp>
    </p:spTree>
    <p:extLst>
      <p:ext uri="{BB962C8B-B14F-4D97-AF65-F5344CB8AC3E}">
        <p14:creationId xmlns:p14="http://schemas.microsoft.com/office/powerpoint/2010/main" val="3072288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7AC46A-D910-4ABF-B5E1-1163F2AB5EA8}" type="datetimeFigureOut">
              <a:rPr lang="en-IN" smtClean="0"/>
              <a:pPr/>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4C3851-FE56-47B5-B31F-974CBC2A3F80}" type="slidenum">
              <a:rPr lang="en-IN" smtClean="0"/>
              <a:pPr/>
              <a:t>‹#›</a:t>
            </a:fld>
            <a:endParaRPr lang="en-IN"/>
          </a:p>
        </p:txBody>
      </p:sp>
    </p:spTree>
    <p:extLst>
      <p:ext uri="{BB962C8B-B14F-4D97-AF65-F5344CB8AC3E}">
        <p14:creationId xmlns:p14="http://schemas.microsoft.com/office/powerpoint/2010/main" val="2884258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7AC46A-D910-4ABF-B5E1-1163F2AB5EA8}" type="datetimeFigureOut">
              <a:rPr lang="en-IN" smtClean="0"/>
              <a:pPr/>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4C3851-FE56-47B5-B31F-974CBC2A3F80}" type="slidenum">
              <a:rPr lang="en-IN" smtClean="0"/>
              <a:pPr/>
              <a:t>‹#›</a:t>
            </a:fld>
            <a:endParaRPr lang="en-IN"/>
          </a:p>
        </p:txBody>
      </p:sp>
    </p:spTree>
    <p:extLst>
      <p:ext uri="{BB962C8B-B14F-4D97-AF65-F5344CB8AC3E}">
        <p14:creationId xmlns:p14="http://schemas.microsoft.com/office/powerpoint/2010/main" val="469395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67AC46A-D910-4ABF-B5E1-1163F2AB5EA8}" type="datetimeFigureOut">
              <a:rPr lang="en-IN" smtClean="0"/>
              <a:pPr/>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4C3851-FE56-47B5-B31F-974CBC2A3F80}" type="slidenum">
              <a:rPr lang="en-IN" smtClean="0"/>
              <a:pPr/>
              <a:t>‹#›</a:t>
            </a:fld>
            <a:endParaRPr lang="en-IN"/>
          </a:p>
        </p:txBody>
      </p:sp>
    </p:spTree>
    <p:extLst>
      <p:ext uri="{BB962C8B-B14F-4D97-AF65-F5344CB8AC3E}">
        <p14:creationId xmlns:p14="http://schemas.microsoft.com/office/powerpoint/2010/main" val="892351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67AC46A-D910-4ABF-B5E1-1163F2AB5EA8}" type="datetimeFigureOut">
              <a:rPr lang="en-IN" smtClean="0"/>
              <a:pPr/>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4C3851-FE56-47B5-B31F-974CBC2A3F80}" type="slidenum">
              <a:rPr lang="en-IN" smtClean="0"/>
              <a:pPr/>
              <a:t>‹#›</a:t>
            </a:fld>
            <a:endParaRPr lang="en-IN"/>
          </a:p>
        </p:txBody>
      </p:sp>
    </p:spTree>
    <p:extLst>
      <p:ext uri="{BB962C8B-B14F-4D97-AF65-F5344CB8AC3E}">
        <p14:creationId xmlns:p14="http://schemas.microsoft.com/office/powerpoint/2010/main" val="2671298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AC46A-D910-4ABF-B5E1-1163F2AB5EA8}" type="datetimeFigureOut">
              <a:rPr lang="en-IN" smtClean="0"/>
              <a:pPr/>
              <a:t>22-09-2025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4C3851-FE56-47B5-B31F-974CBC2A3F80}" type="slidenum">
              <a:rPr lang="en-IN" smtClean="0"/>
              <a:pPr/>
              <a:t>‹#›</a:t>
            </a:fld>
            <a:endParaRPr lang="en-IN"/>
          </a:p>
        </p:txBody>
      </p:sp>
    </p:spTree>
    <p:extLst>
      <p:ext uri="{BB962C8B-B14F-4D97-AF65-F5344CB8AC3E}">
        <p14:creationId xmlns:p14="http://schemas.microsoft.com/office/powerpoint/2010/main" val="29623943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NUL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Research Methodology</a:t>
            </a:r>
            <a:endParaRPr lang="en-IN" dirty="0"/>
          </a:p>
        </p:txBody>
      </p:sp>
      <p:sp>
        <p:nvSpPr>
          <p:cNvPr id="3" name="Subtitle 2"/>
          <p:cNvSpPr>
            <a:spLocks noGrp="1"/>
          </p:cNvSpPr>
          <p:nvPr>
            <p:ph type="subTitle" idx="1"/>
          </p:nvPr>
        </p:nvSpPr>
        <p:spPr>
          <a:xfrm>
            <a:off x="1638300" y="4244975"/>
            <a:ext cx="9144000" cy="1655762"/>
          </a:xfrm>
        </p:spPr>
        <p:txBody>
          <a:bodyPr/>
          <a:lstStyle/>
          <a:p>
            <a:r>
              <a:rPr lang="en-US" dirty="0" smtClean="0"/>
              <a:t>Priya K</a:t>
            </a:r>
            <a:endParaRPr lang="en-US" dirty="0"/>
          </a:p>
          <a:p>
            <a:r>
              <a:rPr lang="en-US" dirty="0"/>
              <a:t>Assistant Professor</a:t>
            </a:r>
          </a:p>
          <a:p>
            <a:r>
              <a:rPr lang="en-US" dirty="0" err="1"/>
              <a:t>Dept.of</a:t>
            </a:r>
            <a:r>
              <a:rPr lang="en-US" dirty="0"/>
              <a:t> CSE, RIT </a:t>
            </a:r>
            <a:endParaRPr lang="en-IN" dirty="0"/>
          </a:p>
        </p:txBody>
      </p:sp>
    </p:spTree>
    <p:extLst>
      <p:ext uri="{BB962C8B-B14F-4D97-AF65-F5344CB8AC3E}">
        <p14:creationId xmlns:p14="http://schemas.microsoft.com/office/powerpoint/2010/main" val="37651184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26CC1-D336-0454-8125-45C03681B09F}"/>
              </a:ext>
            </a:extLst>
          </p:cNvPr>
          <p:cNvSpPr>
            <a:spLocks noGrp="1"/>
          </p:cNvSpPr>
          <p:nvPr>
            <p:ph type="title"/>
          </p:nvPr>
        </p:nvSpPr>
        <p:spPr/>
        <p:txBody>
          <a:bodyPr/>
          <a:lstStyle/>
          <a:p>
            <a:pPr algn="ctr"/>
            <a:r>
              <a:rPr lang="en-IN" b="1" dirty="0"/>
              <a:t>Contents</a:t>
            </a:r>
          </a:p>
        </p:txBody>
      </p:sp>
      <p:sp>
        <p:nvSpPr>
          <p:cNvPr id="3" name="Content Placeholder 2">
            <a:extLst>
              <a:ext uri="{FF2B5EF4-FFF2-40B4-BE49-F238E27FC236}">
                <a16:creationId xmlns:a16="http://schemas.microsoft.com/office/drawing/2014/main" id="{845FCB49-5AF3-7222-EFE9-46E1E738C9A7}"/>
              </a:ext>
            </a:extLst>
          </p:cNvPr>
          <p:cNvSpPr>
            <a:spLocks noGrp="1"/>
          </p:cNvSpPr>
          <p:nvPr>
            <p:ph idx="1"/>
          </p:nvPr>
        </p:nvSpPr>
        <p:spPr/>
        <p:txBody>
          <a:bodyPr>
            <a:normAutofit/>
          </a:bodyPr>
          <a:lstStyle/>
          <a:p>
            <a:r>
              <a:rPr lang="en-IN" sz="4000" dirty="0">
                <a:effectLst/>
                <a:latin typeface="Times New Roman" panose="02020603050405020304" pitchFamily="18" charset="0"/>
                <a:ea typeface="Calibri" panose="020F0502020204030204" pitchFamily="34" charset="0"/>
              </a:rPr>
              <a:t>Meaning of Research, </a:t>
            </a:r>
          </a:p>
          <a:p>
            <a:r>
              <a:rPr lang="en-IN" sz="4000" dirty="0">
                <a:effectLst/>
                <a:latin typeface="Times New Roman" panose="02020603050405020304" pitchFamily="18" charset="0"/>
                <a:ea typeface="Calibri" panose="020F0502020204030204" pitchFamily="34" charset="0"/>
              </a:rPr>
              <a:t>Objectives of Research, </a:t>
            </a:r>
          </a:p>
          <a:p>
            <a:r>
              <a:rPr lang="en-IN" sz="4000" dirty="0">
                <a:effectLst/>
                <a:latin typeface="Times New Roman" panose="02020603050405020304" pitchFamily="18" charset="0"/>
                <a:ea typeface="Calibri" panose="020F0502020204030204" pitchFamily="34" charset="0"/>
              </a:rPr>
              <a:t>Types of Research, </a:t>
            </a:r>
          </a:p>
          <a:p>
            <a:r>
              <a:rPr lang="en-IN" sz="4000" dirty="0">
                <a:effectLst/>
                <a:latin typeface="Times New Roman" panose="02020603050405020304" pitchFamily="18" charset="0"/>
                <a:ea typeface="Calibri" panose="020F0502020204030204" pitchFamily="34" charset="0"/>
              </a:rPr>
              <a:t>Ethics in Research, </a:t>
            </a:r>
          </a:p>
          <a:p>
            <a:r>
              <a:rPr lang="en-IN" sz="4000" dirty="0">
                <a:effectLst/>
                <a:latin typeface="Times New Roman" panose="02020603050405020304" pitchFamily="18" charset="0"/>
                <a:ea typeface="Calibri" panose="020F0502020204030204" pitchFamily="34" charset="0"/>
              </a:rPr>
              <a:t>Types of Research Misconduct. </a:t>
            </a:r>
          </a:p>
          <a:p>
            <a:r>
              <a:rPr lang="en-IN" sz="4000" dirty="0">
                <a:effectLst/>
                <a:latin typeface="Times New Roman" panose="02020603050405020304" pitchFamily="18" charset="0"/>
                <a:ea typeface="Calibri" panose="020F0502020204030204" pitchFamily="34" charset="0"/>
              </a:rPr>
              <a:t>Literature Review and Technical Reading</a:t>
            </a:r>
            <a:endParaRPr lang="en-IN" sz="4000" dirty="0"/>
          </a:p>
        </p:txBody>
      </p:sp>
    </p:spTree>
    <p:extLst>
      <p:ext uri="{BB962C8B-B14F-4D97-AF65-F5344CB8AC3E}">
        <p14:creationId xmlns:p14="http://schemas.microsoft.com/office/powerpoint/2010/main" val="13042056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8"/>
            <a:ext cx="10515600" cy="1325563"/>
          </a:xfrm>
        </p:spPr>
        <p:txBody>
          <a:bodyPr/>
          <a:lstStyle/>
          <a:p>
            <a:pPr algn="ctr"/>
            <a:r>
              <a:rPr lang="en-IN" b="1" dirty="0"/>
              <a:t>MEANING OF RESEARCH</a:t>
            </a:r>
          </a:p>
        </p:txBody>
      </p:sp>
      <p:pic>
        <p:nvPicPr>
          <p:cNvPr id="1026" name="Picture 2" descr="Meaning of research according to various scholars/ Authors ~ TANZANIA  LEARNING RESOURCES">
            <a:extLst>
              <a:ext uri="{FF2B5EF4-FFF2-40B4-BE49-F238E27FC236}">
                <a16:creationId xmlns:a16="http://schemas.microsoft.com/office/drawing/2014/main" id="{E8DCFCB5-8709-9FF7-6E30-06616380673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0964" y="1827213"/>
            <a:ext cx="3938941" cy="29366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yundai Car Price, Images, Reviews and Specs | Autocar India">
            <a:extLst>
              <a:ext uri="{FF2B5EF4-FFF2-40B4-BE49-F238E27FC236}">
                <a16:creationId xmlns:a16="http://schemas.microsoft.com/office/drawing/2014/main" id="{8BCDD58B-39B1-8187-5006-5E62804F5C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3683" y="1135063"/>
            <a:ext cx="2628900"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ite Samsung Washing Machine">
            <a:extLst>
              <a:ext uri="{FF2B5EF4-FFF2-40B4-BE49-F238E27FC236}">
                <a16:creationId xmlns:a16="http://schemas.microsoft.com/office/drawing/2014/main" id="{DC842F85-DFA8-58C9-F093-972A23A0B0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6570" y="3979863"/>
            <a:ext cx="2143125" cy="214312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0BD80F96-C125-09EA-C308-9FB01D72C01D}"/>
              </a:ext>
            </a:extLst>
          </p:cNvPr>
          <p:cNvCxnSpPr>
            <a:endCxn id="1028" idx="1"/>
          </p:cNvCxnSpPr>
          <p:nvPr/>
        </p:nvCxnSpPr>
        <p:spPr>
          <a:xfrm flipV="1">
            <a:off x="5080000" y="2006601"/>
            <a:ext cx="3223683" cy="6237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4D938D4-1765-93B5-695B-03606005FCBD}"/>
              </a:ext>
            </a:extLst>
          </p:cNvPr>
          <p:cNvCxnSpPr>
            <a:cxnSpLocks/>
          </p:cNvCxnSpPr>
          <p:nvPr/>
        </p:nvCxnSpPr>
        <p:spPr>
          <a:xfrm>
            <a:off x="5029905" y="4027842"/>
            <a:ext cx="3273778" cy="102358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35585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8"/>
            <a:ext cx="10515600" cy="1325563"/>
          </a:xfrm>
        </p:spPr>
        <p:txBody>
          <a:bodyPr/>
          <a:lstStyle/>
          <a:p>
            <a:pPr algn="ctr"/>
            <a:r>
              <a:rPr lang="en-IN" b="1" dirty="0"/>
              <a:t>MEANING OF RESEARCH</a:t>
            </a:r>
          </a:p>
        </p:txBody>
      </p:sp>
      <p:sp>
        <p:nvSpPr>
          <p:cNvPr id="3" name="Content Placeholder 2"/>
          <p:cNvSpPr>
            <a:spLocks noGrp="1"/>
          </p:cNvSpPr>
          <p:nvPr>
            <p:ph idx="1"/>
          </p:nvPr>
        </p:nvSpPr>
        <p:spPr>
          <a:xfrm>
            <a:off x="838200" y="1542874"/>
            <a:ext cx="10515600" cy="4946297"/>
          </a:xfrm>
        </p:spPr>
        <p:txBody>
          <a:bodyPr>
            <a:noAutofit/>
          </a:bodyPr>
          <a:lstStyle/>
          <a:p>
            <a:pPr algn="just"/>
            <a:r>
              <a:rPr lang="en-US" sz="2400" dirty="0"/>
              <a:t>Research in common parlance refers to a </a:t>
            </a:r>
            <a:r>
              <a:rPr lang="en-US" sz="2400" dirty="0">
                <a:solidFill>
                  <a:srgbClr val="FF0000"/>
                </a:solidFill>
              </a:rPr>
              <a:t>search for knowledge.</a:t>
            </a:r>
          </a:p>
          <a:p>
            <a:pPr algn="just"/>
            <a:r>
              <a:rPr lang="en-US" sz="2400" dirty="0"/>
              <a:t>Once can also define research as a </a:t>
            </a:r>
            <a:r>
              <a:rPr lang="en-US" sz="2400" dirty="0">
                <a:solidFill>
                  <a:srgbClr val="FF0000"/>
                </a:solidFill>
              </a:rPr>
              <a:t>scientific and systematic search </a:t>
            </a:r>
            <a:r>
              <a:rPr lang="en-US" sz="2400" dirty="0"/>
              <a:t>for pertinent information on a specific topic.</a:t>
            </a:r>
          </a:p>
          <a:p>
            <a:pPr algn="just"/>
            <a:r>
              <a:rPr lang="en-US" sz="2400" dirty="0"/>
              <a:t>A careful investigation or inquiry especially through a </a:t>
            </a:r>
            <a:r>
              <a:rPr lang="en-US" sz="2400" dirty="0">
                <a:solidFill>
                  <a:srgbClr val="FF0000"/>
                </a:solidFill>
              </a:rPr>
              <a:t>search for new facts </a:t>
            </a:r>
            <a:r>
              <a:rPr lang="en-US" sz="2400" dirty="0"/>
              <a:t>in any branch of knowledge.</a:t>
            </a:r>
          </a:p>
          <a:p>
            <a:pPr marL="0" indent="0" algn="just">
              <a:buNone/>
            </a:pPr>
            <a:endParaRPr lang="en-US" sz="2400" dirty="0"/>
          </a:p>
          <a:p>
            <a:pPr marL="0" indent="0" algn="just">
              <a:buNone/>
            </a:pPr>
            <a:r>
              <a:rPr lang="en-US" sz="2400" dirty="0"/>
              <a:t>1 </a:t>
            </a:r>
            <a:r>
              <a:rPr lang="en-US" sz="2400" dirty="0">
                <a:solidFill>
                  <a:srgbClr val="00B0F0"/>
                </a:solidFill>
              </a:rPr>
              <a:t>Redman and </a:t>
            </a:r>
            <a:r>
              <a:rPr lang="en-US" sz="2400" dirty="0" err="1">
                <a:solidFill>
                  <a:srgbClr val="00B0F0"/>
                </a:solidFill>
              </a:rPr>
              <a:t>Mory</a:t>
            </a:r>
            <a:r>
              <a:rPr lang="en-US" sz="2400" dirty="0">
                <a:solidFill>
                  <a:srgbClr val="00B0F0"/>
                </a:solidFill>
              </a:rPr>
              <a:t> </a:t>
            </a:r>
            <a:r>
              <a:rPr lang="en-US" sz="2400" dirty="0"/>
              <a:t>define research as a “systematized effort to gain new </a:t>
            </a:r>
            <a:r>
              <a:rPr lang="en-US" sz="2400" dirty="0" smtClean="0"/>
              <a:t>knowledge in their work “romance of research”</a:t>
            </a:r>
            <a:endParaRPr lang="en-US" sz="2400" dirty="0"/>
          </a:p>
          <a:p>
            <a:pPr marL="0" indent="0" algn="just">
              <a:buNone/>
            </a:pPr>
            <a:endParaRPr lang="en-US" sz="2400" dirty="0"/>
          </a:p>
          <a:p>
            <a:pPr marL="0" indent="0" algn="just">
              <a:buNone/>
            </a:pPr>
            <a:r>
              <a:rPr lang="en-US" sz="2400" dirty="0"/>
              <a:t>2 Some people consider research as a movement, a movement from the </a:t>
            </a:r>
            <a:r>
              <a:rPr lang="en-US" sz="2400" dirty="0">
                <a:solidFill>
                  <a:srgbClr val="FF0000"/>
                </a:solidFill>
              </a:rPr>
              <a:t>known to the unknown. </a:t>
            </a:r>
            <a:r>
              <a:rPr lang="en-US" sz="2400" dirty="0"/>
              <a:t>It is actually a voyage of discovery. </a:t>
            </a:r>
          </a:p>
        </p:txBody>
      </p:sp>
    </p:spTree>
    <p:extLst>
      <p:ext uri="{BB962C8B-B14F-4D97-AF65-F5344CB8AC3E}">
        <p14:creationId xmlns:p14="http://schemas.microsoft.com/office/powerpoint/2010/main" val="18391875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8"/>
            <a:ext cx="10515600" cy="1325563"/>
          </a:xfrm>
        </p:spPr>
        <p:txBody>
          <a:bodyPr/>
          <a:lstStyle/>
          <a:p>
            <a:pPr algn="ctr"/>
            <a:r>
              <a:rPr lang="en-IN" b="1" dirty="0"/>
              <a:t>MEANING OF RESEARCH</a:t>
            </a:r>
          </a:p>
        </p:txBody>
      </p:sp>
      <p:sp>
        <p:nvSpPr>
          <p:cNvPr id="3" name="Content Placeholder 2"/>
          <p:cNvSpPr>
            <a:spLocks noGrp="1"/>
          </p:cNvSpPr>
          <p:nvPr>
            <p:ph idx="1"/>
          </p:nvPr>
        </p:nvSpPr>
        <p:spPr>
          <a:xfrm>
            <a:off x="668867" y="955851"/>
            <a:ext cx="10515600" cy="4946297"/>
          </a:xfrm>
        </p:spPr>
        <p:txBody>
          <a:bodyPr>
            <a:noAutofit/>
          </a:bodyPr>
          <a:lstStyle/>
          <a:p>
            <a:pPr algn="just"/>
            <a:r>
              <a:rPr lang="en-US" sz="2400" u="sng" dirty="0">
                <a:solidFill>
                  <a:srgbClr val="FF0000"/>
                </a:solidFill>
              </a:rPr>
              <a:t>Research is an academic activity</a:t>
            </a:r>
          </a:p>
          <a:p>
            <a:pPr algn="just"/>
            <a:r>
              <a:rPr lang="en-US" sz="2400" dirty="0">
                <a:solidFill>
                  <a:srgbClr val="00B0F0"/>
                </a:solidFill>
              </a:rPr>
              <a:t>Clifford Woody </a:t>
            </a:r>
            <a:r>
              <a:rPr lang="en-US" sz="2400" dirty="0" smtClean="0">
                <a:solidFill>
                  <a:srgbClr val="00B0F0"/>
                </a:solidFill>
              </a:rPr>
              <a:t>(</a:t>
            </a:r>
            <a:r>
              <a:rPr lang="en-US" sz="2400" dirty="0" smtClean="0"/>
              <a:t>American psychologists</a:t>
            </a:r>
            <a:r>
              <a:rPr lang="en-US" sz="2400" dirty="0" smtClean="0">
                <a:solidFill>
                  <a:srgbClr val="00B0F0"/>
                </a:solidFill>
              </a:rPr>
              <a:t>) </a:t>
            </a:r>
            <a:r>
              <a:rPr lang="en-US" sz="2400" dirty="0" smtClean="0"/>
              <a:t>research </a:t>
            </a:r>
            <a:r>
              <a:rPr lang="en-US" sz="2400" dirty="0"/>
              <a:t>comprises </a:t>
            </a:r>
          </a:p>
          <a:p>
            <a:pPr marL="801688" algn="just">
              <a:buFont typeface="Wingdings" panose="05000000000000000000" pitchFamily="2" charset="2"/>
              <a:buChar char="ü"/>
            </a:pPr>
            <a:r>
              <a:rPr lang="en-US" sz="2400" dirty="0"/>
              <a:t>Defining and redefining problems, </a:t>
            </a:r>
          </a:p>
          <a:p>
            <a:pPr marL="801688" algn="just">
              <a:buFont typeface="Wingdings" panose="05000000000000000000" pitchFamily="2" charset="2"/>
              <a:buChar char="ü"/>
            </a:pPr>
            <a:r>
              <a:rPr lang="en-US" sz="2400" dirty="0"/>
              <a:t>Formulating hypothesis or suggested solutions; </a:t>
            </a:r>
          </a:p>
          <a:p>
            <a:pPr marL="801688" algn="just">
              <a:buFont typeface="Wingdings" panose="05000000000000000000" pitchFamily="2" charset="2"/>
              <a:buChar char="ü"/>
            </a:pPr>
            <a:r>
              <a:rPr lang="en-US" sz="2400" dirty="0"/>
              <a:t>Collecting, organizing and evaluating data; </a:t>
            </a:r>
          </a:p>
          <a:p>
            <a:pPr marL="801688" algn="just">
              <a:buFont typeface="Wingdings" panose="05000000000000000000" pitchFamily="2" charset="2"/>
              <a:buChar char="ü"/>
            </a:pPr>
            <a:r>
              <a:rPr lang="en-US" sz="2400" dirty="0"/>
              <a:t>Making deductions and reaching conclusions; </a:t>
            </a:r>
          </a:p>
          <a:p>
            <a:pPr marL="801688" algn="just">
              <a:buFont typeface="Wingdings" panose="05000000000000000000" pitchFamily="2" charset="2"/>
              <a:buChar char="ü"/>
            </a:pPr>
            <a:r>
              <a:rPr lang="en-US" sz="2400" dirty="0"/>
              <a:t>and at last carefully testing the conclusions to determine whether they fit the formulating hypothesis. </a:t>
            </a:r>
          </a:p>
        </p:txBody>
      </p:sp>
    </p:spTree>
    <p:extLst>
      <p:ext uri="{BB962C8B-B14F-4D97-AF65-F5344CB8AC3E}">
        <p14:creationId xmlns:p14="http://schemas.microsoft.com/office/powerpoint/2010/main" val="15321906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8"/>
            <a:ext cx="10515600" cy="1325563"/>
          </a:xfrm>
        </p:spPr>
        <p:txBody>
          <a:bodyPr/>
          <a:lstStyle/>
          <a:p>
            <a:pPr algn="ctr"/>
            <a:r>
              <a:rPr lang="en-IN" b="1" dirty="0"/>
              <a:t>MEANING OF RESEARCH</a:t>
            </a:r>
          </a:p>
        </p:txBody>
      </p:sp>
      <p:sp>
        <p:nvSpPr>
          <p:cNvPr id="3" name="Content Placeholder 2"/>
          <p:cNvSpPr>
            <a:spLocks noGrp="1"/>
          </p:cNvSpPr>
          <p:nvPr>
            <p:ph idx="1"/>
          </p:nvPr>
        </p:nvSpPr>
        <p:spPr>
          <a:xfrm>
            <a:off x="668867" y="955851"/>
            <a:ext cx="10515600" cy="5433660"/>
          </a:xfrm>
        </p:spPr>
        <p:txBody>
          <a:bodyPr>
            <a:noAutofit/>
          </a:bodyPr>
          <a:lstStyle/>
          <a:p>
            <a:pPr algn="just"/>
            <a:r>
              <a:rPr lang="en-US" sz="2400" dirty="0">
                <a:solidFill>
                  <a:srgbClr val="00B0F0"/>
                </a:solidFill>
              </a:rPr>
              <a:t>D. </a:t>
            </a:r>
            <a:r>
              <a:rPr lang="en-US" sz="2400" dirty="0" err="1">
                <a:solidFill>
                  <a:srgbClr val="00B0F0"/>
                </a:solidFill>
              </a:rPr>
              <a:t>Slesinger</a:t>
            </a:r>
            <a:r>
              <a:rPr lang="en-US" sz="2400" dirty="0">
                <a:solidFill>
                  <a:srgbClr val="00B0F0"/>
                </a:solidFill>
              </a:rPr>
              <a:t> and M. Stephenson </a:t>
            </a:r>
            <a:r>
              <a:rPr lang="en-US" sz="2400" dirty="0"/>
              <a:t>in the </a:t>
            </a:r>
            <a:r>
              <a:rPr lang="en-US" sz="2400" dirty="0" err="1"/>
              <a:t>Encyclopaedia</a:t>
            </a:r>
            <a:r>
              <a:rPr lang="en-US" sz="2400" dirty="0"/>
              <a:t> of Social Sciences define research as </a:t>
            </a:r>
          </a:p>
          <a:p>
            <a:pPr marL="801688" indent="-260350" algn="just">
              <a:buFont typeface="Wingdings" panose="05000000000000000000" pitchFamily="2" charset="2"/>
              <a:buChar char="ü"/>
            </a:pPr>
            <a:r>
              <a:rPr lang="en-US" sz="2400" dirty="0"/>
              <a:t>The manipulation of things, concepts, or symbols for the purpose of generalizing to extend, </a:t>
            </a:r>
          </a:p>
          <a:p>
            <a:pPr marL="801688" indent="-260350" algn="just">
              <a:buFont typeface="Wingdings" panose="05000000000000000000" pitchFamily="2" charset="2"/>
              <a:buChar char="ü"/>
            </a:pPr>
            <a:r>
              <a:rPr lang="en-US" sz="2400" dirty="0"/>
              <a:t>Correct or verify knowledge, </a:t>
            </a:r>
          </a:p>
          <a:p>
            <a:pPr marL="801688" indent="-260350" algn="just">
              <a:buFont typeface="Wingdings" panose="05000000000000000000" pitchFamily="2" charset="2"/>
              <a:buChar char="ü"/>
            </a:pPr>
            <a:r>
              <a:rPr lang="en-US" sz="2400" dirty="0"/>
              <a:t>Whether that knowledge aids in the construction of theory or in the practice of an art.”</a:t>
            </a:r>
          </a:p>
          <a:p>
            <a:pPr algn="just"/>
            <a:r>
              <a:rPr lang="en-US" sz="2400" dirty="0"/>
              <a:t>Research is, thus, an </a:t>
            </a:r>
            <a:r>
              <a:rPr lang="en-US" sz="2400" dirty="0">
                <a:solidFill>
                  <a:srgbClr val="FF0000"/>
                </a:solidFill>
              </a:rPr>
              <a:t>original contribution </a:t>
            </a:r>
            <a:r>
              <a:rPr lang="en-US" sz="2400" dirty="0"/>
              <a:t>to the existing stock of knowledge making for its advancement. </a:t>
            </a:r>
          </a:p>
          <a:p>
            <a:pPr lvl="1" algn="just"/>
            <a:r>
              <a:rPr lang="en-US" sz="2200" dirty="0"/>
              <a:t>It is the pursuit of truth with the help of study, observation, comparison and experiment. </a:t>
            </a:r>
          </a:p>
        </p:txBody>
      </p:sp>
    </p:spTree>
    <p:extLst>
      <p:ext uri="{BB962C8B-B14F-4D97-AF65-F5344CB8AC3E}">
        <p14:creationId xmlns:p14="http://schemas.microsoft.com/office/powerpoint/2010/main" val="35534999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8"/>
            <a:ext cx="10515600" cy="1325563"/>
          </a:xfrm>
        </p:spPr>
        <p:txBody>
          <a:bodyPr/>
          <a:lstStyle/>
          <a:p>
            <a:pPr algn="ctr"/>
            <a:r>
              <a:rPr lang="en-IN" b="1" dirty="0"/>
              <a:t>OBJECTIVES OF RESEARCH</a:t>
            </a:r>
          </a:p>
        </p:txBody>
      </p:sp>
      <p:sp>
        <p:nvSpPr>
          <p:cNvPr id="3" name="Content Placeholder 2"/>
          <p:cNvSpPr>
            <a:spLocks noGrp="1"/>
          </p:cNvSpPr>
          <p:nvPr>
            <p:ph idx="1"/>
          </p:nvPr>
        </p:nvSpPr>
        <p:spPr>
          <a:xfrm>
            <a:off x="759178" y="1193977"/>
            <a:ext cx="10515600" cy="5433660"/>
          </a:xfrm>
        </p:spPr>
        <p:txBody>
          <a:bodyPr>
            <a:noAutofit/>
          </a:bodyPr>
          <a:lstStyle/>
          <a:p>
            <a:pPr algn="just"/>
            <a:r>
              <a:rPr lang="en-US" sz="2400" dirty="0"/>
              <a:t>The </a:t>
            </a:r>
            <a:r>
              <a:rPr lang="en-US" sz="2400" dirty="0">
                <a:solidFill>
                  <a:srgbClr val="FF0000"/>
                </a:solidFill>
              </a:rPr>
              <a:t>purpose of research </a:t>
            </a:r>
            <a:r>
              <a:rPr lang="en-US" sz="2400" dirty="0"/>
              <a:t>is to discover </a:t>
            </a:r>
            <a:r>
              <a:rPr lang="en-US" sz="2400" dirty="0">
                <a:solidFill>
                  <a:srgbClr val="00B0F0"/>
                </a:solidFill>
              </a:rPr>
              <a:t>answers to questions </a:t>
            </a:r>
            <a:r>
              <a:rPr lang="en-US" sz="2400" dirty="0"/>
              <a:t>through the application of scientific procedures. </a:t>
            </a:r>
          </a:p>
          <a:p>
            <a:pPr algn="just"/>
            <a:r>
              <a:rPr lang="en-US" sz="2400" dirty="0"/>
              <a:t>The </a:t>
            </a:r>
            <a:r>
              <a:rPr lang="en-US" sz="2400" dirty="0">
                <a:solidFill>
                  <a:srgbClr val="FF0000"/>
                </a:solidFill>
              </a:rPr>
              <a:t>main aim </a:t>
            </a:r>
            <a:r>
              <a:rPr lang="en-US" sz="2400" dirty="0"/>
              <a:t>of research is to </a:t>
            </a:r>
            <a:r>
              <a:rPr lang="en-US" sz="2400" dirty="0">
                <a:solidFill>
                  <a:srgbClr val="00B0F0"/>
                </a:solidFill>
              </a:rPr>
              <a:t>find out the truth </a:t>
            </a:r>
            <a:r>
              <a:rPr lang="en-US" sz="2400" dirty="0"/>
              <a:t>which is hidden and which has not been discovered as yet. </a:t>
            </a:r>
          </a:p>
          <a:p>
            <a:pPr algn="just"/>
            <a:r>
              <a:rPr lang="en-US" sz="2400" dirty="0"/>
              <a:t>Though each research study has its own specific purpose, we may think of research objectives as falling into a number of following broad groupings:</a:t>
            </a:r>
          </a:p>
          <a:p>
            <a:pPr marL="541338" indent="0" algn="just">
              <a:buNone/>
            </a:pPr>
            <a:r>
              <a:rPr lang="en-US" sz="2000" dirty="0"/>
              <a:t>1. To gain familiarity with a phenomenon or to achieve new insights into it (studies with this object in view are termed as exploratory or formative research studies); </a:t>
            </a:r>
          </a:p>
          <a:p>
            <a:pPr marL="541338" indent="0" algn="just">
              <a:buNone/>
            </a:pPr>
            <a:r>
              <a:rPr lang="en-US" sz="2000" dirty="0"/>
              <a:t>2. To portray accurately the characteristics of a particular individual, situation or a group (studies with this object in view are known as descriptive research studies); </a:t>
            </a:r>
          </a:p>
          <a:p>
            <a:pPr marL="541338" indent="0" algn="just">
              <a:buNone/>
            </a:pPr>
            <a:r>
              <a:rPr lang="en-US" sz="2000" dirty="0"/>
              <a:t>3. To determine the frequency with which something occurs or with which it is associated with something else (studies with this object in view are known as diagnostic research studies); </a:t>
            </a:r>
          </a:p>
          <a:p>
            <a:pPr marL="541338" indent="0" algn="just">
              <a:buNone/>
            </a:pPr>
            <a:r>
              <a:rPr lang="en-US" sz="2000" dirty="0"/>
              <a:t>4. To test a hypothesis of a causal relationship between variables (such studies are known as hypothesis-testing research studies)</a:t>
            </a:r>
          </a:p>
        </p:txBody>
      </p:sp>
    </p:spTree>
    <p:extLst>
      <p:ext uri="{BB962C8B-B14F-4D97-AF65-F5344CB8AC3E}">
        <p14:creationId xmlns:p14="http://schemas.microsoft.com/office/powerpoint/2010/main" val="1281086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8"/>
            <a:ext cx="10515600" cy="1325563"/>
          </a:xfrm>
        </p:spPr>
        <p:txBody>
          <a:bodyPr/>
          <a:lstStyle/>
          <a:p>
            <a:pPr algn="ctr"/>
            <a:r>
              <a:rPr lang="en-IN" dirty="0"/>
              <a:t>MOTIVATION IN RESEARCH</a:t>
            </a:r>
            <a:endParaRPr lang="en-IN" b="1" dirty="0"/>
          </a:p>
        </p:txBody>
      </p:sp>
      <p:sp>
        <p:nvSpPr>
          <p:cNvPr id="3" name="Content Placeholder 2"/>
          <p:cNvSpPr>
            <a:spLocks noGrp="1"/>
          </p:cNvSpPr>
          <p:nvPr>
            <p:ph idx="1"/>
          </p:nvPr>
        </p:nvSpPr>
        <p:spPr>
          <a:xfrm>
            <a:off x="759178" y="1193977"/>
            <a:ext cx="10515600" cy="5433660"/>
          </a:xfrm>
        </p:spPr>
        <p:txBody>
          <a:bodyPr>
            <a:noAutofit/>
          </a:bodyPr>
          <a:lstStyle/>
          <a:p>
            <a:pPr algn="just"/>
            <a:r>
              <a:rPr lang="en-US" sz="2400" dirty="0"/>
              <a:t>The possible motives for doing research may be either one or more of the following: </a:t>
            </a:r>
          </a:p>
          <a:p>
            <a:pPr marL="0" indent="0" algn="just">
              <a:buNone/>
            </a:pPr>
            <a:r>
              <a:rPr lang="en-US" sz="2400" dirty="0"/>
              <a:t>1. Desire to </a:t>
            </a:r>
            <a:r>
              <a:rPr lang="en-US" sz="2400" dirty="0">
                <a:solidFill>
                  <a:srgbClr val="FF0000"/>
                </a:solidFill>
              </a:rPr>
              <a:t>get a research degree </a:t>
            </a:r>
            <a:r>
              <a:rPr lang="en-US" sz="2400" dirty="0"/>
              <a:t>along with its consequential benefits; </a:t>
            </a:r>
          </a:p>
          <a:p>
            <a:pPr marL="0" indent="0" algn="just">
              <a:buNone/>
            </a:pPr>
            <a:r>
              <a:rPr lang="en-US" sz="2400" dirty="0"/>
              <a:t>2. Desire to face the challenge in </a:t>
            </a:r>
            <a:r>
              <a:rPr lang="en-US" sz="2400" dirty="0">
                <a:solidFill>
                  <a:srgbClr val="FF0000"/>
                </a:solidFill>
              </a:rPr>
              <a:t>solving the unsolved problems</a:t>
            </a:r>
            <a:r>
              <a:rPr lang="en-US" sz="2400" dirty="0"/>
              <a:t>, i.e., concern over practical problems initiates research; </a:t>
            </a:r>
          </a:p>
          <a:p>
            <a:pPr marL="0" indent="0" algn="just">
              <a:buNone/>
            </a:pPr>
            <a:r>
              <a:rPr lang="en-US" sz="2400" dirty="0"/>
              <a:t>3. Desire to get </a:t>
            </a:r>
            <a:r>
              <a:rPr lang="en-US" sz="2400" dirty="0">
                <a:solidFill>
                  <a:srgbClr val="FF0000"/>
                </a:solidFill>
              </a:rPr>
              <a:t>intellectual joy</a:t>
            </a:r>
            <a:r>
              <a:rPr lang="en-US" sz="2400" dirty="0"/>
              <a:t> of doing some creative work</a:t>
            </a:r>
          </a:p>
          <a:p>
            <a:pPr marL="0" indent="0" algn="just">
              <a:buNone/>
            </a:pPr>
            <a:r>
              <a:rPr lang="en-US" sz="2400" dirty="0"/>
              <a:t>4. Desire to be of </a:t>
            </a:r>
            <a:r>
              <a:rPr lang="en-US" sz="2400" dirty="0">
                <a:solidFill>
                  <a:srgbClr val="FF0000"/>
                </a:solidFill>
              </a:rPr>
              <a:t>service to society </a:t>
            </a:r>
          </a:p>
          <a:p>
            <a:pPr marL="0" indent="0" algn="just">
              <a:buNone/>
            </a:pPr>
            <a:r>
              <a:rPr lang="en-US" sz="2400" dirty="0"/>
              <a:t>5. Desire to get </a:t>
            </a:r>
            <a:r>
              <a:rPr lang="en-US" sz="2400" dirty="0">
                <a:solidFill>
                  <a:srgbClr val="FF0000"/>
                </a:solidFill>
              </a:rPr>
              <a:t>respectability</a:t>
            </a:r>
          </a:p>
        </p:txBody>
      </p:sp>
    </p:spTree>
    <p:extLst>
      <p:ext uri="{BB962C8B-B14F-4D97-AF65-F5344CB8AC3E}">
        <p14:creationId xmlns:p14="http://schemas.microsoft.com/office/powerpoint/2010/main" val="10890143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8"/>
            <a:ext cx="10515600" cy="1325563"/>
          </a:xfrm>
        </p:spPr>
        <p:txBody>
          <a:bodyPr/>
          <a:lstStyle/>
          <a:p>
            <a:pPr algn="ctr"/>
            <a:r>
              <a:rPr lang="en-IN" dirty="0"/>
              <a:t>TYPES OF RESEARCH</a:t>
            </a:r>
            <a:endParaRPr lang="en-IN" b="1" dirty="0"/>
          </a:p>
        </p:txBody>
      </p:sp>
      <p:sp>
        <p:nvSpPr>
          <p:cNvPr id="3" name="Content Placeholder 2"/>
          <p:cNvSpPr>
            <a:spLocks noGrp="1"/>
          </p:cNvSpPr>
          <p:nvPr>
            <p:ph idx="1"/>
          </p:nvPr>
        </p:nvSpPr>
        <p:spPr>
          <a:xfrm>
            <a:off x="759178" y="1193977"/>
            <a:ext cx="10515600" cy="5433660"/>
          </a:xfrm>
        </p:spPr>
        <p:txBody>
          <a:bodyPr>
            <a:noAutofit/>
          </a:bodyPr>
          <a:lstStyle/>
          <a:p>
            <a:pPr algn="just"/>
            <a:r>
              <a:rPr lang="en-US" sz="2400" dirty="0"/>
              <a:t>The basic types of research are as follows:</a:t>
            </a:r>
          </a:p>
          <a:p>
            <a:pPr marL="457200" indent="-457200" algn="just">
              <a:buFont typeface="+mj-lt"/>
              <a:buAutoNum type="arabicPeriod"/>
            </a:pPr>
            <a:r>
              <a:rPr lang="en-IN" sz="2400" dirty="0"/>
              <a:t>Descriptive vs. Analytical</a:t>
            </a:r>
          </a:p>
          <a:p>
            <a:pPr marL="457200" indent="-457200" algn="just">
              <a:buFont typeface="+mj-lt"/>
              <a:buAutoNum type="arabicPeriod"/>
            </a:pPr>
            <a:r>
              <a:rPr lang="en-IN" sz="2400" dirty="0"/>
              <a:t>Applied vs. Fundamental</a:t>
            </a:r>
          </a:p>
          <a:p>
            <a:pPr marL="457200" indent="-457200" algn="just">
              <a:buFont typeface="+mj-lt"/>
              <a:buAutoNum type="arabicPeriod"/>
            </a:pPr>
            <a:r>
              <a:rPr lang="en-IN" sz="2400" dirty="0"/>
              <a:t>Quantitative vs. Qualitative</a:t>
            </a:r>
          </a:p>
          <a:p>
            <a:pPr marL="457200" indent="-457200" algn="just">
              <a:buFont typeface="+mj-lt"/>
              <a:buAutoNum type="arabicPeriod"/>
            </a:pPr>
            <a:r>
              <a:rPr lang="en-IN" sz="2400" dirty="0"/>
              <a:t>Conceptual vs. Empirical</a:t>
            </a:r>
          </a:p>
          <a:p>
            <a:pPr marL="457200" indent="-457200" algn="just">
              <a:buFont typeface="+mj-lt"/>
              <a:buAutoNum type="arabicPeriod"/>
            </a:pPr>
            <a:r>
              <a:rPr lang="en-US" sz="2400" dirty="0"/>
              <a:t>Some Other Types of Research</a:t>
            </a:r>
          </a:p>
        </p:txBody>
      </p:sp>
    </p:spTree>
    <p:extLst>
      <p:ext uri="{BB962C8B-B14F-4D97-AF65-F5344CB8AC3E}">
        <p14:creationId xmlns:p14="http://schemas.microsoft.com/office/powerpoint/2010/main" val="39253805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8"/>
            <a:ext cx="10515600" cy="1325563"/>
          </a:xfrm>
        </p:spPr>
        <p:txBody>
          <a:bodyPr>
            <a:normAutofit fontScale="90000"/>
          </a:bodyPr>
          <a:lstStyle/>
          <a:p>
            <a:pPr algn="ctr"/>
            <a:r>
              <a:rPr lang="en-IN" dirty="0"/>
              <a:t>TYPES OF RESEARCH : </a:t>
            </a:r>
            <a:r>
              <a:rPr lang="en-IN" sz="4400" dirty="0"/>
              <a:t>Descriptive vs. Analytical</a:t>
            </a:r>
            <a:br>
              <a:rPr lang="en-IN" sz="4400" dirty="0"/>
            </a:br>
            <a:endParaRPr lang="en-IN" b="1" dirty="0"/>
          </a:p>
        </p:txBody>
      </p:sp>
      <p:pic>
        <p:nvPicPr>
          <p:cNvPr id="1026" name="Picture 2" descr="Descriptive and Analytical Research: What's the Difference? - Cogentica">
            <a:extLst>
              <a:ext uri="{FF2B5EF4-FFF2-40B4-BE49-F238E27FC236}">
                <a16:creationId xmlns:a16="http://schemas.microsoft.com/office/drawing/2014/main" id="{400D8A1E-07AF-FD9E-20BD-E2D0132466C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38488" y="1456268"/>
            <a:ext cx="8274755" cy="4052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25009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8"/>
            <a:ext cx="10515600" cy="1325563"/>
          </a:xfrm>
        </p:spPr>
        <p:txBody>
          <a:bodyPr>
            <a:normAutofit fontScale="90000"/>
          </a:bodyPr>
          <a:lstStyle/>
          <a:p>
            <a:pPr algn="ctr"/>
            <a:r>
              <a:rPr lang="en-IN" dirty="0"/>
              <a:t>TYPES OF RESEARCH : </a:t>
            </a:r>
            <a:r>
              <a:rPr lang="en-IN" sz="4400" dirty="0"/>
              <a:t>Descriptive vs. Analytical</a:t>
            </a:r>
            <a:br>
              <a:rPr lang="en-IN" sz="4400" dirty="0"/>
            </a:br>
            <a:endParaRPr lang="en-IN" b="1" dirty="0"/>
          </a:p>
        </p:txBody>
      </p:sp>
      <p:sp>
        <p:nvSpPr>
          <p:cNvPr id="3" name="Content Placeholder 2"/>
          <p:cNvSpPr>
            <a:spLocks noGrp="1"/>
          </p:cNvSpPr>
          <p:nvPr>
            <p:ph idx="1"/>
          </p:nvPr>
        </p:nvSpPr>
        <p:spPr>
          <a:xfrm>
            <a:off x="691444" y="877888"/>
            <a:ext cx="10515600" cy="5433660"/>
          </a:xfrm>
        </p:spPr>
        <p:txBody>
          <a:bodyPr>
            <a:noAutofit/>
          </a:bodyPr>
          <a:lstStyle/>
          <a:p>
            <a:pPr algn="just"/>
            <a:r>
              <a:rPr lang="en-US" sz="2400" dirty="0"/>
              <a:t>Descriptive research includes </a:t>
            </a:r>
            <a:r>
              <a:rPr lang="en-US" sz="2400" dirty="0">
                <a:solidFill>
                  <a:srgbClr val="FF0000"/>
                </a:solidFill>
              </a:rPr>
              <a:t>surveys</a:t>
            </a:r>
            <a:r>
              <a:rPr lang="en-US" sz="2400" dirty="0"/>
              <a:t> and fact-finding </a:t>
            </a:r>
            <a:r>
              <a:rPr lang="en-US" sz="2400" dirty="0">
                <a:solidFill>
                  <a:srgbClr val="FF0000"/>
                </a:solidFill>
              </a:rPr>
              <a:t>inquiries of different kinds.</a:t>
            </a:r>
          </a:p>
          <a:p>
            <a:pPr algn="just"/>
            <a:r>
              <a:rPr lang="en-US" sz="2400" dirty="0"/>
              <a:t> The major purpose of descriptive research is description of the state of affairs as </a:t>
            </a:r>
            <a:r>
              <a:rPr lang="en-US" sz="2400" dirty="0">
                <a:solidFill>
                  <a:srgbClr val="FF0000"/>
                </a:solidFill>
              </a:rPr>
              <a:t>it exists at present.</a:t>
            </a:r>
            <a:endParaRPr lang="en-US" sz="2400" dirty="0"/>
          </a:p>
          <a:p>
            <a:pPr algn="just"/>
            <a:r>
              <a:rPr lang="en-US" sz="2400" dirty="0"/>
              <a:t>The main characteristic of this method is that the researcher has </a:t>
            </a:r>
            <a:r>
              <a:rPr lang="en-US" sz="2400" dirty="0">
                <a:solidFill>
                  <a:srgbClr val="FF0000"/>
                </a:solidFill>
              </a:rPr>
              <a:t>no control over the variables</a:t>
            </a:r>
            <a:r>
              <a:rPr lang="en-US" sz="2400" dirty="0"/>
              <a:t>; he can only </a:t>
            </a:r>
            <a:r>
              <a:rPr lang="en-US" sz="2400" dirty="0">
                <a:solidFill>
                  <a:srgbClr val="00B0F0"/>
                </a:solidFill>
              </a:rPr>
              <a:t>report what has happened </a:t>
            </a:r>
            <a:r>
              <a:rPr lang="en-US" sz="2400" dirty="0"/>
              <a:t>or what is happening. </a:t>
            </a:r>
          </a:p>
          <a:p>
            <a:pPr algn="just"/>
            <a:r>
              <a:rPr lang="en-US" sz="2400" dirty="0"/>
              <a:t>Most </a:t>
            </a:r>
            <a:r>
              <a:rPr lang="en-US" sz="2400" dirty="0">
                <a:solidFill>
                  <a:srgbClr val="FF0000"/>
                </a:solidFill>
              </a:rPr>
              <a:t>ex post </a:t>
            </a:r>
            <a:r>
              <a:rPr lang="en-US" sz="2400" dirty="0" smtClean="0">
                <a:solidFill>
                  <a:srgbClr val="FF0000"/>
                </a:solidFill>
              </a:rPr>
              <a:t>facto(</a:t>
            </a:r>
            <a:r>
              <a:rPr lang="en-US" sz="2400" dirty="0" smtClean="0"/>
              <a:t>from a thing done afterward)</a:t>
            </a:r>
            <a:r>
              <a:rPr lang="en-US" sz="2400" dirty="0" smtClean="0">
                <a:solidFill>
                  <a:srgbClr val="FF0000"/>
                </a:solidFill>
              </a:rPr>
              <a:t> </a:t>
            </a:r>
            <a:r>
              <a:rPr lang="en-US" sz="2400" dirty="0">
                <a:solidFill>
                  <a:srgbClr val="FF0000"/>
                </a:solidFill>
              </a:rPr>
              <a:t>research projects </a:t>
            </a:r>
            <a:r>
              <a:rPr lang="en-US" sz="2400" dirty="0"/>
              <a:t>are used for descriptive studies in which the researcher seeks to measure such items as, </a:t>
            </a:r>
            <a:r>
              <a:rPr lang="en-US" sz="2400" b="1" dirty="0">
                <a:solidFill>
                  <a:srgbClr val="00B0F0"/>
                </a:solidFill>
              </a:rPr>
              <a:t>for example</a:t>
            </a:r>
            <a:r>
              <a:rPr lang="en-US" sz="2400" dirty="0"/>
              <a:t>, frequency of shopping, preferences of people, or similar data.</a:t>
            </a:r>
          </a:p>
          <a:p>
            <a:pPr algn="just"/>
            <a:r>
              <a:rPr lang="en-US" sz="2400" dirty="0"/>
              <a:t> Ex post facto studies also include attempts by researchers to </a:t>
            </a:r>
            <a:r>
              <a:rPr lang="en-US" sz="2400" dirty="0">
                <a:solidFill>
                  <a:srgbClr val="FF0000"/>
                </a:solidFill>
              </a:rPr>
              <a:t>discover causes </a:t>
            </a:r>
            <a:r>
              <a:rPr lang="en-US" sz="2400" dirty="0"/>
              <a:t>even when they cannot control the variables. </a:t>
            </a:r>
          </a:p>
          <a:p>
            <a:pPr algn="just"/>
            <a:r>
              <a:rPr lang="en-US" sz="2400" dirty="0"/>
              <a:t>The methods of research utilized in descriptive research are </a:t>
            </a:r>
            <a:r>
              <a:rPr lang="en-US" sz="2400" dirty="0">
                <a:solidFill>
                  <a:srgbClr val="FF0000"/>
                </a:solidFill>
              </a:rPr>
              <a:t>survey methods </a:t>
            </a:r>
            <a:r>
              <a:rPr lang="en-US" sz="2400" dirty="0"/>
              <a:t>of all kinds, including </a:t>
            </a:r>
            <a:r>
              <a:rPr lang="en-US" sz="2400" dirty="0">
                <a:solidFill>
                  <a:srgbClr val="00B0F0"/>
                </a:solidFill>
              </a:rPr>
              <a:t>comparative and correlational methods</a:t>
            </a:r>
            <a:r>
              <a:rPr lang="en-US" sz="2400" dirty="0"/>
              <a:t>. </a:t>
            </a:r>
          </a:p>
          <a:p>
            <a:pPr algn="just"/>
            <a:r>
              <a:rPr lang="en-US" sz="2400" b="1" dirty="0">
                <a:solidFill>
                  <a:srgbClr val="FF0000"/>
                </a:solidFill>
              </a:rPr>
              <a:t>In analytical research, </a:t>
            </a:r>
            <a:r>
              <a:rPr lang="en-US" sz="2400" dirty="0"/>
              <a:t>on the other hand, the researcher has to use facts or information already available and analyze these to make a </a:t>
            </a:r>
            <a:r>
              <a:rPr lang="en-US" sz="2400" dirty="0">
                <a:solidFill>
                  <a:srgbClr val="00B0F0"/>
                </a:solidFill>
              </a:rPr>
              <a:t>critical evaluation of the material.</a:t>
            </a:r>
          </a:p>
        </p:txBody>
      </p:sp>
    </p:spTree>
    <p:extLst>
      <p:ext uri="{BB962C8B-B14F-4D97-AF65-F5344CB8AC3E}">
        <p14:creationId xmlns:p14="http://schemas.microsoft.com/office/powerpoint/2010/main" val="8659520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244" y="-7408"/>
            <a:ext cx="10992556" cy="1325563"/>
          </a:xfrm>
        </p:spPr>
        <p:txBody>
          <a:bodyPr>
            <a:normAutofit/>
          </a:bodyPr>
          <a:lstStyle/>
          <a:p>
            <a:pPr algn="ctr"/>
            <a:r>
              <a:rPr lang="en-IN" dirty="0"/>
              <a:t>TYPES OF RESEARCH : Applied vs. Fundamental</a:t>
            </a:r>
            <a:endParaRPr lang="en-IN" b="1" dirty="0"/>
          </a:p>
        </p:txBody>
      </p:sp>
      <p:pic>
        <p:nvPicPr>
          <p:cNvPr id="2050" name="Picture 2" descr="Basic Research: What it is with examples | QuestionPro">
            <a:extLst>
              <a:ext uri="{FF2B5EF4-FFF2-40B4-BE49-F238E27FC236}">
                <a16:creationId xmlns:a16="http://schemas.microsoft.com/office/drawing/2014/main" id="{FCF18800-9A45-B9C6-C7F0-C8892A6058C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5999" y="1081088"/>
            <a:ext cx="5046133" cy="543401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pplied Research: Definition, Types &amp; Examples | QuestionPro">
            <a:extLst>
              <a:ext uri="{FF2B5EF4-FFF2-40B4-BE49-F238E27FC236}">
                <a16:creationId xmlns:a16="http://schemas.microsoft.com/office/drawing/2014/main" id="{B1882CE9-9526-1CAE-56F6-6A478B0F69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014" y="1318155"/>
            <a:ext cx="5222698" cy="5196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7569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244" y="-7408"/>
            <a:ext cx="10992556" cy="1325563"/>
          </a:xfrm>
        </p:spPr>
        <p:txBody>
          <a:bodyPr>
            <a:normAutofit/>
          </a:bodyPr>
          <a:lstStyle/>
          <a:p>
            <a:pPr algn="ctr"/>
            <a:r>
              <a:rPr lang="en-IN" dirty="0"/>
              <a:t>TYPES OF RESEARCH : Applied vs. Fundamental</a:t>
            </a:r>
            <a:endParaRPr lang="en-IN" b="1" dirty="0"/>
          </a:p>
        </p:txBody>
      </p:sp>
      <p:sp>
        <p:nvSpPr>
          <p:cNvPr id="3" name="Content Placeholder 2"/>
          <p:cNvSpPr>
            <a:spLocks noGrp="1"/>
          </p:cNvSpPr>
          <p:nvPr>
            <p:ph idx="1"/>
          </p:nvPr>
        </p:nvSpPr>
        <p:spPr>
          <a:xfrm>
            <a:off x="361244" y="1081088"/>
            <a:ext cx="10992556" cy="5433660"/>
          </a:xfrm>
        </p:spPr>
        <p:txBody>
          <a:bodyPr>
            <a:noAutofit/>
          </a:bodyPr>
          <a:lstStyle/>
          <a:p>
            <a:pPr algn="just"/>
            <a:r>
              <a:rPr lang="en-US" sz="2400" dirty="0">
                <a:solidFill>
                  <a:srgbClr val="FF0000"/>
                </a:solidFill>
              </a:rPr>
              <a:t>Applied research </a:t>
            </a:r>
            <a:r>
              <a:rPr lang="en-US" sz="2400" dirty="0"/>
              <a:t>aims at </a:t>
            </a:r>
            <a:r>
              <a:rPr lang="en-US" sz="2400" dirty="0">
                <a:solidFill>
                  <a:srgbClr val="00B0F0"/>
                </a:solidFill>
              </a:rPr>
              <a:t>finding a solution</a:t>
            </a:r>
            <a:r>
              <a:rPr lang="en-US" sz="2400" dirty="0"/>
              <a:t> for an immediate problem facing a society or an industrial/business organization, whereas </a:t>
            </a:r>
            <a:r>
              <a:rPr lang="en-US" sz="2400" dirty="0">
                <a:solidFill>
                  <a:srgbClr val="FF0000"/>
                </a:solidFill>
              </a:rPr>
              <a:t>fundamental research </a:t>
            </a:r>
            <a:r>
              <a:rPr lang="en-US" sz="2400" dirty="0"/>
              <a:t>is mainly concerned with generalizations and the </a:t>
            </a:r>
            <a:r>
              <a:rPr lang="en-US" sz="2400" dirty="0">
                <a:solidFill>
                  <a:srgbClr val="0070C0"/>
                </a:solidFill>
              </a:rPr>
              <a:t>formulation of a theory</a:t>
            </a:r>
            <a:r>
              <a:rPr lang="en-US" sz="2400" dirty="0"/>
              <a:t>. </a:t>
            </a:r>
          </a:p>
          <a:p>
            <a:pPr lvl="1" algn="just"/>
            <a:r>
              <a:rPr lang="en-US" sz="2000" b="1" dirty="0"/>
              <a:t>Example: </a:t>
            </a:r>
            <a:r>
              <a:rPr lang="en-US" sz="2000" dirty="0"/>
              <a:t>Research concerning some </a:t>
            </a:r>
            <a:r>
              <a:rPr lang="en-US" sz="2000" dirty="0">
                <a:solidFill>
                  <a:srgbClr val="FF0000"/>
                </a:solidFill>
              </a:rPr>
              <a:t>natural phenomenon </a:t>
            </a:r>
            <a:r>
              <a:rPr lang="en-US" sz="2000" dirty="0"/>
              <a:t>or relating to </a:t>
            </a:r>
            <a:r>
              <a:rPr lang="en-US" sz="2000" dirty="0">
                <a:solidFill>
                  <a:srgbClr val="FF0000"/>
                </a:solidFill>
              </a:rPr>
              <a:t>pure mathematics</a:t>
            </a:r>
            <a:r>
              <a:rPr lang="en-US" sz="2000" dirty="0"/>
              <a:t> are examples of </a:t>
            </a:r>
            <a:r>
              <a:rPr lang="en-US" sz="2000" dirty="0">
                <a:solidFill>
                  <a:srgbClr val="00B0F0"/>
                </a:solidFill>
              </a:rPr>
              <a:t>fundamental research. </a:t>
            </a:r>
          </a:p>
          <a:p>
            <a:pPr lvl="1" algn="just"/>
            <a:r>
              <a:rPr lang="en-US" sz="2000" b="1" dirty="0"/>
              <a:t>Example: </a:t>
            </a:r>
            <a:r>
              <a:rPr lang="en-US" sz="2000" dirty="0"/>
              <a:t>research studies, concerning </a:t>
            </a:r>
            <a:r>
              <a:rPr lang="en-US" sz="2000" dirty="0">
                <a:solidFill>
                  <a:srgbClr val="FF0000"/>
                </a:solidFill>
              </a:rPr>
              <a:t>human </a:t>
            </a:r>
            <a:r>
              <a:rPr lang="en-US" sz="2000" dirty="0" err="1">
                <a:solidFill>
                  <a:srgbClr val="FF0000"/>
                </a:solidFill>
              </a:rPr>
              <a:t>behaviour</a:t>
            </a:r>
            <a:r>
              <a:rPr lang="en-US" sz="2000" dirty="0">
                <a:solidFill>
                  <a:srgbClr val="FF0000"/>
                </a:solidFill>
              </a:rPr>
              <a:t> </a:t>
            </a:r>
            <a:r>
              <a:rPr lang="en-US" sz="2000" dirty="0"/>
              <a:t>carried on with a view to making </a:t>
            </a:r>
            <a:r>
              <a:rPr lang="en-US" sz="2000" dirty="0">
                <a:solidFill>
                  <a:srgbClr val="00B0F0"/>
                </a:solidFill>
              </a:rPr>
              <a:t>generalizations about human behavior</a:t>
            </a:r>
            <a:r>
              <a:rPr lang="en-US" sz="2000" dirty="0"/>
              <a:t>, are also examples of fundamental research, but research </a:t>
            </a:r>
            <a:r>
              <a:rPr lang="en-US" sz="2000" dirty="0">
                <a:solidFill>
                  <a:srgbClr val="FF0000"/>
                </a:solidFill>
              </a:rPr>
              <a:t>aimed at certain conclusions </a:t>
            </a:r>
            <a:r>
              <a:rPr lang="en-US" sz="2000" dirty="0"/>
              <a:t>(say, a solution) facing a concrete social or business problem is an example of </a:t>
            </a:r>
            <a:r>
              <a:rPr lang="en-US" sz="2000" dirty="0">
                <a:solidFill>
                  <a:srgbClr val="00B0F0"/>
                </a:solidFill>
              </a:rPr>
              <a:t>applied research. </a:t>
            </a:r>
          </a:p>
          <a:p>
            <a:pPr lvl="1" algn="just"/>
            <a:r>
              <a:rPr lang="en-US" sz="2000" b="1" dirty="0"/>
              <a:t>Example: </a:t>
            </a:r>
            <a:r>
              <a:rPr lang="en-US" sz="2000" dirty="0"/>
              <a:t>Research to </a:t>
            </a:r>
            <a:r>
              <a:rPr lang="en-US" sz="2000" dirty="0">
                <a:solidFill>
                  <a:srgbClr val="FF0000"/>
                </a:solidFill>
              </a:rPr>
              <a:t>identify social, economic or political trends </a:t>
            </a:r>
            <a:r>
              <a:rPr lang="en-US" sz="2000" dirty="0"/>
              <a:t>that may affect a particular institution or copy research marketing research or evaluation research are examples of </a:t>
            </a:r>
            <a:r>
              <a:rPr lang="en-US" sz="2000" dirty="0">
                <a:solidFill>
                  <a:srgbClr val="00B0F0"/>
                </a:solidFill>
              </a:rPr>
              <a:t>applied research. </a:t>
            </a:r>
          </a:p>
          <a:p>
            <a:pPr algn="just"/>
            <a:r>
              <a:rPr lang="en-US" sz="2400" dirty="0"/>
              <a:t>Thus, the central aim of </a:t>
            </a:r>
            <a:r>
              <a:rPr lang="en-US" sz="2400" dirty="0">
                <a:solidFill>
                  <a:srgbClr val="FF0000"/>
                </a:solidFill>
              </a:rPr>
              <a:t>applied research </a:t>
            </a:r>
            <a:r>
              <a:rPr lang="en-US" sz="2400" dirty="0"/>
              <a:t>is to </a:t>
            </a:r>
            <a:r>
              <a:rPr lang="en-US" sz="2400" b="1" dirty="0"/>
              <a:t>discover a solution </a:t>
            </a:r>
            <a:r>
              <a:rPr lang="en-US" sz="2400" dirty="0"/>
              <a:t>for some pressing practical problem, whereas </a:t>
            </a:r>
            <a:r>
              <a:rPr lang="en-US" sz="2400" dirty="0">
                <a:solidFill>
                  <a:srgbClr val="FF0000"/>
                </a:solidFill>
              </a:rPr>
              <a:t>basic research </a:t>
            </a:r>
            <a:r>
              <a:rPr lang="en-US" sz="2400" dirty="0"/>
              <a:t>is directed towards </a:t>
            </a:r>
            <a:r>
              <a:rPr lang="en-US" sz="2400" b="1" dirty="0"/>
              <a:t>finding information </a:t>
            </a:r>
            <a:r>
              <a:rPr lang="en-US" sz="2400" dirty="0"/>
              <a:t>that has a broad base of applications and thus, adds to the already existing organized body of scientific knowledge</a:t>
            </a:r>
          </a:p>
        </p:txBody>
      </p:sp>
    </p:spTree>
    <p:extLst>
      <p:ext uri="{BB962C8B-B14F-4D97-AF65-F5344CB8AC3E}">
        <p14:creationId xmlns:p14="http://schemas.microsoft.com/office/powerpoint/2010/main" val="36984700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8"/>
            <a:ext cx="10515600" cy="1325563"/>
          </a:xfrm>
        </p:spPr>
        <p:txBody>
          <a:bodyPr>
            <a:normAutofit/>
          </a:bodyPr>
          <a:lstStyle/>
          <a:p>
            <a:pPr algn="ctr"/>
            <a:r>
              <a:rPr lang="en-IN" dirty="0"/>
              <a:t>TYPES OF RESEARCH : Quantitative vs. Qualitative</a:t>
            </a:r>
            <a:endParaRPr lang="en-IN" b="1" dirty="0"/>
          </a:p>
        </p:txBody>
      </p:sp>
      <p:sp>
        <p:nvSpPr>
          <p:cNvPr id="3" name="Content Placeholder 2"/>
          <p:cNvSpPr>
            <a:spLocks noGrp="1"/>
          </p:cNvSpPr>
          <p:nvPr>
            <p:ph idx="1"/>
          </p:nvPr>
        </p:nvSpPr>
        <p:spPr>
          <a:xfrm>
            <a:off x="541867" y="2508789"/>
            <a:ext cx="10732911" cy="3738716"/>
          </a:xfrm>
        </p:spPr>
        <p:txBody>
          <a:bodyPr>
            <a:noAutofit/>
          </a:bodyPr>
          <a:lstStyle/>
          <a:p>
            <a:pPr algn="just"/>
            <a:endParaRPr lang="en-US" sz="2400" dirty="0"/>
          </a:p>
        </p:txBody>
      </p:sp>
      <p:pic>
        <p:nvPicPr>
          <p:cNvPr id="3074" name="Picture 2" descr="Qualitative vs Quantitative Research: Differences and Examples | QuestionPro">
            <a:extLst>
              <a:ext uri="{FF2B5EF4-FFF2-40B4-BE49-F238E27FC236}">
                <a16:creationId xmlns:a16="http://schemas.microsoft.com/office/drawing/2014/main" id="{A1189F35-00C8-3246-CB51-6913380D5A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245" y="1318155"/>
            <a:ext cx="11663010" cy="471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50356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8"/>
            <a:ext cx="10515600" cy="1325563"/>
          </a:xfrm>
        </p:spPr>
        <p:txBody>
          <a:bodyPr>
            <a:normAutofit/>
          </a:bodyPr>
          <a:lstStyle/>
          <a:p>
            <a:pPr algn="ctr"/>
            <a:r>
              <a:rPr lang="en-IN" dirty="0"/>
              <a:t>TYPES OF RESEARCH : Quantitative vs. Qualitative</a:t>
            </a:r>
            <a:endParaRPr lang="en-IN" b="1" dirty="0"/>
          </a:p>
        </p:txBody>
      </p:sp>
      <p:sp>
        <p:nvSpPr>
          <p:cNvPr id="3" name="Content Placeholder 2"/>
          <p:cNvSpPr>
            <a:spLocks noGrp="1"/>
          </p:cNvSpPr>
          <p:nvPr>
            <p:ph idx="1"/>
          </p:nvPr>
        </p:nvSpPr>
        <p:spPr>
          <a:xfrm>
            <a:off x="541867" y="1193977"/>
            <a:ext cx="10732911" cy="5433660"/>
          </a:xfrm>
        </p:spPr>
        <p:txBody>
          <a:bodyPr>
            <a:noAutofit/>
          </a:bodyPr>
          <a:lstStyle/>
          <a:p>
            <a:pPr algn="just"/>
            <a:r>
              <a:rPr lang="en-US" sz="2400" dirty="0">
                <a:solidFill>
                  <a:srgbClr val="FF0000"/>
                </a:solidFill>
              </a:rPr>
              <a:t>Quantitative research </a:t>
            </a:r>
            <a:r>
              <a:rPr lang="en-US" sz="2400" dirty="0"/>
              <a:t>is based on the </a:t>
            </a:r>
            <a:r>
              <a:rPr lang="en-US" sz="2400" dirty="0">
                <a:solidFill>
                  <a:srgbClr val="00B0F0"/>
                </a:solidFill>
              </a:rPr>
              <a:t>measurement of quantity or amount</a:t>
            </a:r>
            <a:r>
              <a:rPr lang="en-US" sz="2400" dirty="0"/>
              <a:t>. </a:t>
            </a:r>
          </a:p>
          <a:p>
            <a:pPr algn="just"/>
            <a:r>
              <a:rPr lang="en-US" sz="2400" dirty="0">
                <a:solidFill>
                  <a:srgbClr val="FF0000"/>
                </a:solidFill>
              </a:rPr>
              <a:t>Qualitative research</a:t>
            </a:r>
            <a:r>
              <a:rPr lang="en-US" sz="2400" dirty="0"/>
              <a:t>, on the other hand, is concerned with </a:t>
            </a:r>
            <a:r>
              <a:rPr lang="en-US" sz="2400" dirty="0">
                <a:solidFill>
                  <a:srgbClr val="00B0F0"/>
                </a:solidFill>
              </a:rPr>
              <a:t>qualitative phenomenon</a:t>
            </a:r>
            <a:r>
              <a:rPr lang="en-US" sz="2400" dirty="0"/>
              <a:t>, i.e., phenomena relating to or involving quality or kind. </a:t>
            </a:r>
          </a:p>
          <a:p>
            <a:pPr lvl="1" algn="just"/>
            <a:r>
              <a:rPr lang="en-US" sz="2000" dirty="0"/>
              <a:t>For instance, when we are interested in investigating the </a:t>
            </a:r>
            <a:r>
              <a:rPr lang="en-US" sz="2000" dirty="0">
                <a:solidFill>
                  <a:srgbClr val="FF0000"/>
                </a:solidFill>
              </a:rPr>
              <a:t>reasons for human behavior </a:t>
            </a:r>
            <a:r>
              <a:rPr lang="en-US" sz="2000" dirty="0"/>
              <a:t>(qualitative research)</a:t>
            </a:r>
          </a:p>
          <a:p>
            <a:pPr lvl="1" algn="just"/>
            <a:r>
              <a:rPr lang="en-US" sz="2000" dirty="0"/>
              <a:t>This type of research aims at discovering the </a:t>
            </a:r>
            <a:r>
              <a:rPr lang="en-US" sz="2000" dirty="0">
                <a:solidFill>
                  <a:srgbClr val="FF0000"/>
                </a:solidFill>
              </a:rPr>
              <a:t>underlying motives and desires</a:t>
            </a:r>
            <a:r>
              <a:rPr lang="en-US" sz="2000" dirty="0"/>
              <a:t>, using in-depth interviews for the purpose. </a:t>
            </a:r>
          </a:p>
          <a:p>
            <a:pPr algn="just"/>
            <a:r>
              <a:rPr lang="en-US" sz="2400" dirty="0"/>
              <a:t>Other techniques of such research are </a:t>
            </a:r>
            <a:r>
              <a:rPr lang="en-US" sz="2400" dirty="0">
                <a:solidFill>
                  <a:srgbClr val="00B050"/>
                </a:solidFill>
              </a:rPr>
              <a:t>word association tests, sentence completion tests, story completion tests, </a:t>
            </a:r>
            <a:r>
              <a:rPr lang="en-US" sz="2400" dirty="0"/>
              <a:t>and similar other projective techniques.</a:t>
            </a:r>
          </a:p>
          <a:p>
            <a:pPr algn="just"/>
            <a:r>
              <a:rPr lang="en-US" sz="2400" dirty="0"/>
              <a:t> </a:t>
            </a:r>
            <a:r>
              <a:rPr lang="en-US" sz="2400" dirty="0">
                <a:solidFill>
                  <a:srgbClr val="FF0000"/>
                </a:solidFill>
              </a:rPr>
              <a:t>Attitude or opinion research </a:t>
            </a:r>
            <a:r>
              <a:rPr lang="en-US" sz="2400" dirty="0"/>
              <a:t>i.e., research designed to find out how people feel or what they think about a </a:t>
            </a:r>
            <a:r>
              <a:rPr lang="en-US" sz="2400" dirty="0">
                <a:solidFill>
                  <a:srgbClr val="00B0F0"/>
                </a:solidFill>
              </a:rPr>
              <a:t>particular subject </a:t>
            </a:r>
            <a:r>
              <a:rPr lang="en-US" sz="2400" dirty="0"/>
              <a:t>or institution is also qualitative research.</a:t>
            </a:r>
          </a:p>
          <a:p>
            <a:pPr algn="just"/>
            <a:r>
              <a:rPr lang="en-US" sz="2400" dirty="0"/>
              <a:t>Through such research we can </a:t>
            </a:r>
            <a:r>
              <a:rPr lang="en-US" sz="2400" dirty="0" err="1"/>
              <a:t>analyse</a:t>
            </a:r>
            <a:r>
              <a:rPr lang="en-US" sz="2400" dirty="0"/>
              <a:t> the various factors which motivate people to </a:t>
            </a:r>
            <a:r>
              <a:rPr lang="en-US" sz="2400" dirty="0">
                <a:solidFill>
                  <a:srgbClr val="FF0000"/>
                </a:solidFill>
              </a:rPr>
              <a:t>behave in a particular manner </a:t>
            </a:r>
            <a:r>
              <a:rPr lang="en-US" sz="2400" dirty="0"/>
              <a:t>or which make people </a:t>
            </a:r>
            <a:r>
              <a:rPr lang="en-US" sz="2400" dirty="0">
                <a:solidFill>
                  <a:srgbClr val="FF0000"/>
                </a:solidFill>
              </a:rPr>
              <a:t>like or dislike </a:t>
            </a:r>
            <a:r>
              <a:rPr lang="en-US" sz="2400" dirty="0"/>
              <a:t>a particular thing. </a:t>
            </a:r>
          </a:p>
          <a:p>
            <a:pPr algn="just"/>
            <a:r>
              <a:rPr lang="en-US" sz="2400" dirty="0"/>
              <a:t>one should seek guidance from </a:t>
            </a:r>
            <a:r>
              <a:rPr lang="en-US" sz="2400" dirty="0">
                <a:solidFill>
                  <a:srgbClr val="FF0000"/>
                </a:solidFill>
              </a:rPr>
              <a:t>experimental psychologists.</a:t>
            </a:r>
          </a:p>
        </p:txBody>
      </p:sp>
    </p:spTree>
    <p:extLst>
      <p:ext uri="{BB962C8B-B14F-4D97-AF65-F5344CB8AC3E}">
        <p14:creationId xmlns:p14="http://schemas.microsoft.com/office/powerpoint/2010/main" val="34916711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0889" y="-7408"/>
            <a:ext cx="10732911" cy="1325563"/>
          </a:xfrm>
        </p:spPr>
        <p:txBody>
          <a:bodyPr>
            <a:normAutofit/>
          </a:bodyPr>
          <a:lstStyle/>
          <a:p>
            <a:pPr algn="ctr"/>
            <a:r>
              <a:rPr lang="en-IN" dirty="0"/>
              <a:t>TYPES OF RESEARCH : Conceptual vs. Empirical</a:t>
            </a:r>
            <a:endParaRPr lang="en-IN" b="1" dirty="0"/>
          </a:p>
        </p:txBody>
      </p:sp>
      <p:sp>
        <p:nvSpPr>
          <p:cNvPr id="3" name="Content Placeholder 2"/>
          <p:cNvSpPr>
            <a:spLocks noGrp="1"/>
          </p:cNvSpPr>
          <p:nvPr>
            <p:ph idx="1"/>
          </p:nvPr>
        </p:nvSpPr>
        <p:spPr>
          <a:xfrm>
            <a:off x="304800" y="1193977"/>
            <a:ext cx="10969978" cy="5433660"/>
          </a:xfrm>
        </p:spPr>
        <p:txBody>
          <a:bodyPr>
            <a:noAutofit/>
          </a:bodyPr>
          <a:lstStyle/>
          <a:p>
            <a:pPr algn="just"/>
            <a:r>
              <a:rPr lang="en-US" sz="2400" dirty="0">
                <a:solidFill>
                  <a:srgbClr val="FF0000"/>
                </a:solidFill>
              </a:rPr>
              <a:t>Conceptual research </a:t>
            </a:r>
            <a:r>
              <a:rPr lang="en-US" sz="2400" dirty="0"/>
              <a:t>is that related to some </a:t>
            </a:r>
            <a:r>
              <a:rPr lang="en-US" sz="2400" dirty="0">
                <a:solidFill>
                  <a:srgbClr val="00B0F0"/>
                </a:solidFill>
              </a:rPr>
              <a:t>abstract idea(s) or theory. </a:t>
            </a:r>
          </a:p>
          <a:p>
            <a:pPr lvl="1" algn="just"/>
            <a:r>
              <a:rPr lang="en-US" sz="2000" dirty="0"/>
              <a:t>It is generally used by </a:t>
            </a:r>
            <a:r>
              <a:rPr lang="en-US" sz="2000" dirty="0">
                <a:solidFill>
                  <a:srgbClr val="00B0F0"/>
                </a:solidFill>
              </a:rPr>
              <a:t>philosophers and thinkers </a:t>
            </a:r>
            <a:r>
              <a:rPr lang="en-US" sz="2000" dirty="0"/>
              <a:t>to develop </a:t>
            </a:r>
            <a:r>
              <a:rPr lang="en-US" sz="2000" dirty="0">
                <a:solidFill>
                  <a:srgbClr val="FF0000"/>
                </a:solidFill>
              </a:rPr>
              <a:t>new concepts </a:t>
            </a:r>
            <a:r>
              <a:rPr lang="en-US" sz="2000" dirty="0"/>
              <a:t>or to reinterpret existing ones. </a:t>
            </a:r>
          </a:p>
          <a:p>
            <a:pPr marL="457200" lvl="1" indent="0" algn="just">
              <a:buNone/>
            </a:pPr>
            <a:endParaRPr lang="en-US" sz="2000" dirty="0"/>
          </a:p>
          <a:p>
            <a:pPr algn="just"/>
            <a:r>
              <a:rPr lang="en-US" sz="2400" dirty="0">
                <a:solidFill>
                  <a:srgbClr val="FF0000"/>
                </a:solidFill>
              </a:rPr>
              <a:t>Empirical research </a:t>
            </a:r>
            <a:r>
              <a:rPr lang="en-US" sz="2400" dirty="0"/>
              <a:t>relies on </a:t>
            </a:r>
            <a:r>
              <a:rPr lang="en-US" sz="2400" dirty="0">
                <a:solidFill>
                  <a:srgbClr val="00B0F0"/>
                </a:solidFill>
              </a:rPr>
              <a:t>experience or observation alone, </a:t>
            </a:r>
            <a:r>
              <a:rPr lang="en-US" sz="2400" dirty="0"/>
              <a:t>often without due regard for system and theory. </a:t>
            </a:r>
          </a:p>
          <a:p>
            <a:pPr lvl="1" algn="just"/>
            <a:r>
              <a:rPr lang="en-US" sz="2000" dirty="0"/>
              <a:t>It is </a:t>
            </a:r>
            <a:r>
              <a:rPr lang="en-US" sz="2000" dirty="0">
                <a:solidFill>
                  <a:srgbClr val="FF0000"/>
                </a:solidFill>
              </a:rPr>
              <a:t>data-based research</a:t>
            </a:r>
            <a:r>
              <a:rPr lang="en-US" sz="2000" dirty="0"/>
              <a:t>, coming up with </a:t>
            </a:r>
            <a:r>
              <a:rPr lang="en-US" sz="2000" dirty="0">
                <a:solidFill>
                  <a:srgbClr val="00B0F0"/>
                </a:solidFill>
              </a:rPr>
              <a:t>conclusions </a:t>
            </a:r>
            <a:r>
              <a:rPr lang="en-US" sz="2000" dirty="0"/>
              <a:t>that are </a:t>
            </a:r>
            <a:r>
              <a:rPr lang="en-US" sz="2000" dirty="0">
                <a:solidFill>
                  <a:srgbClr val="00B0F0"/>
                </a:solidFill>
              </a:rPr>
              <a:t>capable of being verified by observation or experiment</a:t>
            </a:r>
            <a:r>
              <a:rPr lang="en-US" sz="2000" dirty="0"/>
              <a:t>. We can also call it as </a:t>
            </a:r>
            <a:r>
              <a:rPr lang="en-US" sz="2000" b="1" dirty="0">
                <a:solidFill>
                  <a:srgbClr val="00B050"/>
                </a:solidFill>
              </a:rPr>
              <a:t>experimental type of research.</a:t>
            </a:r>
          </a:p>
          <a:p>
            <a:pPr lvl="1" algn="just"/>
            <a:r>
              <a:rPr lang="en-US" sz="2000" dirty="0"/>
              <a:t>In such research, the researcher must </a:t>
            </a:r>
            <a:r>
              <a:rPr lang="en-US" sz="2000" b="1" dirty="0" smtClean="0"/>
              <a:t>first provide himself with a </a:t>
            </a:r>
            <a:r>
              <a:rPr lang="en-US" sz="2000" b="1" dirty="0" smtClean="0">
                <a:solidFill>
                  <a:srgbClr val="00B0F0"/>
                </a:solidFill>
              </a:rPr>
              <a:t>working hypothesis </a:t>
            </a:r>
            <a:r>
              <a:rPr lang="en-US" sz="2000" dirty="0" smtClean="0"/>
              <a:t>or </a:t>
            </a:r>
            <a:r>
              <a:rPr lang="en-US" sz="2000" dirty="0"/>
              <a:t>guess as to the probable results. </a:t>
            </a:r>
          </a:p>
          <a:p>
            <a:pPr lvl="1" algn="just"/>
            <a:r>
              <a:rPr lang="en-US" sz="2000" dirty="0"/>
              <a:t>He then works to </a:t>
            </a:r>
            <a:r>
              <a:rPr lang="en-US" sz="2000" dirty="0">
                <a:solidFill>
                  <a:srgbClr val="00B0F0"/>
                </a:solidFill>
              </a:rPr>
              <a:t>get enough facts </a:t>
            </a:r>
            <a:r>
              <a:rPr lang="en-US" sz="2000" dirty="0"/>
              <a:t>(data) to </a:t>
            </a:r>
            <a:r>
              <a:rPr lang="en-US" sz="2000" b="1" dirty="0">
                <a:solidFill>
                  <a:srgbClr val="FF0000"/>
                </a:solidFill>
              </a:rPr>
              <a:t>prove or disprove </a:t>
            </a:r>
            <a:r>
              <a:rPr lang="en-US" sz="2000" b="1" dirty="0"/>
              <a:t>his hypothesis.</a:t>
            </a:r>
          </a:p>
          <a:p>
            <a:pPr lvl="1" algn="just"/>
            <a:r>
              <a:rPr lang="en-US" sz="2000" dirty="0"/>
              <a:t>He then sets up experimental designs </a:t>
            </a:r>
          </a:p>
          <a:p>
            <a:pPr lvl="1" algn="just"/>
            <a:r>
              <a:rPr lang="en-US" sz="2000" dirty="0"/>
              <a:t>Such research is thus characterized by the experimenter’s control </a:t>
            </a:r>
            <a:r>
              <a:rPr lang="en-US" sz="2000" dirty="0">
                <a:solidFill>
                  <a:srgbClr val="FF0000"/>
                </a:solidFill>
              </a:rPr>
              <a:t>over the variables</a:t>
            </a:r>
          </a:p>
        </p:txBody>
      </p:sp>
    </p:spTree>
    <p:extLst>
      <p:ext uri="{BB962C8B-B14F-4D97-AF65-F5344CB8AC3E}">
        <p14:creationId xmlns:p14="http://schemas.microsoft.com/office/powerpoint/2010/main" val="9974746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8"/>
            <a:ext cx="10515600" cy="1325563"/>
          </a:xfrm>
        </p:spPr>
        <p:txBody>
          <a:bodyPr>
            <a:normAutofit/>
          </a:bodyPr>
          <a:lstStyle/>
          <a:p>
            <a:pPr algn="ctr"/>
            <a:r>
              <a:rPr lang="en-IN" dirty="0"/>
              <a:t>TYPES OF RESEARCH : </a:t>
            </a:r>
            <a:r>
              <a:rPr lang="en-US" dirty="0"/>
              <a:t>Some Other Types of Research</a:t>
            </a:r>
            <a:endParaRPr lang="en-IN" b="1" dirty="0"/>
          </a:p>
        </p:txBody>
      </p:sp>
      <p:sp>
        <p:nvSpPr>
          <p:cNvPr id="3" name="Content Placeholder 2"/>
          <p:cNvSpPr>
            <a:spLocks noGrp="1"/>
          </p:cNvSpPr>
          <p:nvPr>
            <p:ph idx="1"/>
          </p:nvPr>
        </p:nvSpPr>
        <p:spPr>
          <a:xfrm>
            <a:off x="553157" y="1424340"/>
            <a:ext cx="11017954" cy="5433660"/>
          </a:xfrm>
        </p:spPr>
        <p:txBody>
          <a:bodyPr>
            <a:noAutofit/>
          </a:bodyPr>
          <a:lstStyle/>
          <a:p>
            <a:pPr algn="just"/>
            <a:r>
              <a:rPr lang="en-US" sz="2400" dirty="0"/>
              <a:t>All </a:t>
            </a:r>
            <a:r>
              <a:rPr lang="en-US" sz="2400" dirty="0">
                <a:solidFill>
                  <a:srgbClr val="FF0000"/>
                </a:solidFill>
              </a:rPr>
              <a:t>other types of research </a:t>
            </a:r>
            <a:r>
              <a:rPr lang="en-US" sz="2400" dirty="0"/>
              <a:t>are variations of one or more of the above stated approaches, based on either the </a:t>
            </a:r>
          </a:p>
          <a:p>
            <a:pPr marL="722313" indent="260350" algn="just">
              <a:buFont typeface="Wingdings" panose="05000000000000000000" pitchFamily="2" charset="2"/>
              <a:buChar char="ü"/>
            </a:pPr>
            <a:r>
              <a:rPr lang="en-US" sz="2400" dirty="0">
                <a:solidFill>
                  <a:srgbClr val="00B0F0"/>
                </a:solidFill>
              </a:rPr>
              <a:t>purpose of research, </a:t>
            </a:r>
          </a:p>
          <a:p>
            <a:pPr marL="722313" indent="260350" algn="just">
              <a:buFont typeface="Wingdings" panose="05000000000000000000" pitchFamily="2" charset="2"/>
              <a:buChar char="ü"/>
            </a:pPr>
            <a:r>
              <a:rPr lang="en-US" sz="2400" dirty="0">
                <a:solidFill>
                  <a:srgbClr val="00B0F0"/>
                </a:solidFill>
              </a:rPr>
              <a:t>the time required to accomplish research, </a:t>
            </a:r>
          </a:p>
          <a:p>
            <a:pPr marL="722313" indent="260350" algn="just">
              <a:buFont typeface="Wingdings" panose="05000000000000000000" pitchFamily="2" charset="2"/>
              <a:buChar char="ü"/>
            </a:pPr>
            <a:r>
              <a:rPr lang="en-US" sz="2400" dirty="0">
                <a:solidFill>
                  <a:srgbClr val="00B0F0"/>
                </a:solidFill>
              </a:rPr>
              <a:t>the environment in which research is done, </a:t>
            </a:r>
          </a:p>
          <a:p>
            <a:pPr marL="722313" indent="260350" algn="just">
              <a:buFont typeface="Wingdings" panose="05000000000000000000" pitchFamily="2" charset="2"/>
              <a:buChar char="ü"/>
            </a:pPr>
            <a:r>
              <a:rPr lang="en-US" sz="2400" dirty="0">
                <a:solidFill>
                  <a:srgbClr val="00B0F0"/>
                </a:solidFill>
              </a:rPr>
              <a:t>or on the basis of some other similar factor. </a:t>
            </a:r>
          </a:p>
          <a:p>
            <a:pPr algn="just"/>
            <a:r>
              <a:rPr lang="en-US" sz="2400" dirty="0"/>
              <a:t> From the </a:t>
            </a:r>
            <a:r>
              <a:rPr lang="en-US" sz="2400" dirty="0">
                <a:solidFill>
                  <a:srgbClr val="FF0000"/>
                </a:solidFill>
              </a:rPr>
              <a:t>point of view of time</a:t>
            </a:r>
            <a:r>
              <a:rPr lang="en-US" sz="2400" dirty="0"/>
              <a:t>, we can think of research either as one-time research or longitudinal research. </a:t>
            </a:r>
          </a:p>
          <a:p>
            <a:pPr algn="just"/>
            <a:r>
              <a:rPr lang="en-US" sz="2400" dirty="0"/>
              <a:t>Research can be </a:t>
            </a:r>
            <a:r>
              <a:rPr lang="en-US" sz="2400" dirty="0">
                <a:solidFill>
                  <a:srgbClr val="FF0000"/>
                </a:solidFill>
              </a:rPr>
              <a:t>field-setting research </a:t>
            </a:r>
            <a:r>
              <a:rPr lang="en-US" sz="2400" dirty="0"/>
              <a:t>or </a:t>
            </a:r>
            <a:r>
              <a:rPr lang="en-US" sz="2400" dirty="0">
                <a:solidFill>
                  <a:srgbClr val="FF0000"/>
                </a:solidFill>
              </a:rPr>
              <a:t>laboratory research </a:t>
            </a:r>
            <a:r>
              <a:rPr lang="en-US" sz="2400" dirty="0"/>
              <a:t>or </a:t>
            </a:r>
            <a:r>
              <a:rPr lang="en-US" sz="2400" dirty="0">
                <a:solidFill>
                  <a:srgbClr val="FF0000"/>
                </a:solidFill>
              </a:rPr>
              <a:t>simulation research</a:t>
            </a:r>
            <a:r>
              <a:rPr lang="en-US" sz="2400" dirty="0"/>
              <a:t>, depending upon the environment in which it is to be carried out. </a:t>
            </a:r>
          </a:p>
          <a:p>
            <a:pPr algn="just"/>
            <a:r>
              <a:rPr lang="en-US" sz="2400" dirty="0"/>
              <a:t>Research can also be understood as </a:t>
            </a:r>
            <a:r>
              <a:rPr lang="en-US" sz="2400" dirty="0">
                <a:solidFill>
                  <a:srgbClr val="FF0000"/>
                </a:solidFill>
              </a:rPr>
              <a:t>clinical or diagnostic research</a:t>
            </a:r>
            <a:r>
              <a:rPr lang="en-US" sz="2400" dirty="0"/>
              <a:t>. </a:t>
            </a:r>
          </a:p>
          <a:p>
            <a:pPr lvl="1" algn="just"/>
            <a:r>
              <a:rPr lang="en-US" sz="2000" dirty="0"/>
              <a:t>Such research follows case-study methods. Such studies usually go deep into the causes of things or events that interest us, using very small samples and very deep probing data gathering devices. </a:t>
            </a:r>
          </a:p>
        </p:txBody>
      </p:sp>
    </p:spTree>
    <p:extLst>
      <p:ext uri="{BB962C8B-B14F-4D97-AF65-F5344CB8AC3E}">
        <p14:creationId xmlns:p14="http://schemas.microsoft.com/office/powerpoint/2010/main" val="22534886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8"/>
            <a:ext cx="10515600" cy="1325563"/>
          </a:xfrm>
        </p:spPr>
        <p:txBody>
          <a:bodyPr>
            <a:normAutofit/>
          </a:bodyPr>
          <a:lstStyle/>
          <a:p>
            <a:pPr algn="ctr"/>
            <a:r>
              <a:rPr lang="en-IN" dirty="0"/>
              <a:t>TYPES OF RESEARCH : </a:t>
            </a:r>
            <a:r>
              <a:rPr lang="en-US" dirty="0"/>
              <a:t>Some Other Types of Research</a:t>
            </a:r>
            <a:endParaRPr lang="en-IN" b="1" dirty="0"/>
          </a:p>
        </p:txBody>
      </p:sp>
      <p:sp>
        <p:nvSpPr>
          <p:cNvPr id="3" name="Content Placeholder 2"/>
          <p:cNvSpPr>
            <a:spLocks noGrp="1"/>
          </p:cNvSpPr>
          <p:nvPr>
            <p:ph idx="1"/>
          </p:nvPr>
        </p:nvSpPr>
        <p:spPr>
          <a:xfrm>
            <a:off x="259644" y="1193977"/>
            <a:ext cx="11015134" cy="5433660"/>
          </a:xfrm>
        </p:spPr>
        <p:txBody>
          <a:bodyPr>
            <a:noAutofit/>
          </a:bodyPr>
          <a:lstStyle/>
          <a:p>
            <a:pPr algn="just"/>
            <a:r>
              <a:rPr lang="en-US" sz="2400" dirty="0"/>
              <a:t>The research </a:t>
            </a:r>
            <a:r>
              <a:rPr lang="en-US" sz="2400" dirty="0">
                <a:solidFill>
                  <a:srgbClr val="FF0000"/>
                </a:solidFill>
              </a:rPr>
              <a:t>may be exploratory </a:t>
            </a:r>
            <a:r>
              <a:rPr lang="en-US" sz="2400" dirty="0"/>
              <a:t>or it may be formalized. </a:t>
            </a:r>
          </a:p>
          <a:p>
            <a:pPr algn="just"/>
            <a:r>
              <a:rPr lang="en-US" sz="2400" dirty="0"/>
              <a:t>The objective of </a:t>
            </a:r>
            <a:r>
              <a:rPr lang="en-US" sz="2400" dirty="0">
                <a:solidFill>
                  <a:srgbClr val="FF0000"/>
                </a:solidFill>
              </a:rPr>
              <a:t>exploratory research is the </a:t>
            </a:r>
            <a:r>
              <a:rPr lang="en-US" sz="2400" dirty="0">
                <a:solidFill>
                  <a:srgbClr val="00B0F0"/>
                </a:solidFill>
              </a:rPr>
              <a:t>development of hypotheses </a:t>
            </a:r>
            <a:r>
              <a:rPr lang="en-US" sz="2400" dirty="0"/>
              <a:t>rather than their testing, whereas </a:t>
            </a:r>
            <a:r>
              <a:rPr lang="en-US" sz="2400" dirty="0">
                <a:solidFill>
                  <a:srgbClr val="FF0000"/>
                </a:solidFill>
              </a:rPr>
              <a:t>formalized research </a:t>
            </a:r>
            <a:r>
              <a:rPr lang="en-US" sz="2400" dirty="0"/>
              <a:t>studies are those with substantial structure and with specific </a:t>
            </a:r>
            <a:r>
              <a:rPr lang="en-US" sz="2400" dirty="0">
                <a:solidFill>
                  <a:srgbClr val="00B0F0"/>
                </a:solidFill>
              </a:rPr>
              <a:t>hypotheses to be tested</a:t>
            </a:r>
            <a:r>
              <a:rPr lang="en-US" sz="2400" dirty="0"/>
              <a:t>. </a:t>
            </a:r>
          </a:p>
          <a:p>
            <a:pPr algn="just"/>
            <a:r>
              <a:rPr lang="en-US" sz="2400" dirty="0">
                <a:solidFill>
                  <a:srgbClr val="FF0000"/>
                </a:solidFill>
              </a:rPr>
              <a:t>Historical research </a:t>
            </a:r>
            <a:r>
              <a:rPr lang="en-US" sz="2400" dirty="0"/>
              <a:t>is that which utilizes historical sources like documents, remains, etc. to study events or ideas of the past, including the philosophy of persons and groups at any remote point in time. </a:t>
            </a:r>
          </a:p>
          <a:p>
            <a:pPr algn="just"/>
            <a:r>
              <a:rPr lang="en-US" sz="2400" dirty="0"/>
              <a:t>Research can also be classified as</a:t>
            </a:r>
            <a:r>
              <a:rPr lang="en-US" sz="2400" dirty="0">
                <a:solidFill>
                  <a:srgbClr val="FF0000"/>
                </a:solidFill>
              </a:rPr>
              <a:t> conclusion-oriented </a:t>
            </a:r>
            <a:r>
              <a:rPr lang="en-US" sz="2400" dirty="0"/>
              <a:t>and </a:t>
            </a:r>
            <a:r>
              <a:rPr lang="en-US" sz="2400" dirty="0">
                <a:solidFill>
                  <a:srgbClr val="FF0000"/>
                </a:solidFill>
              </a:rPr>
              <a:t>decision-oriented. </a:t>
            </a:r>
          </a:p>
          <a:p>
            <a:pPr lvl="1" algn="just"/>
            <a:r>
              <a:rPr lang="en-US" sz="2000" dirty="0"/>
              <a:t>While doing </a:t>
            </a:r>
            <a:r>
              <a:rPr lang="en-US" sz="2000" dirty="0">
                <a:solidFill>
                  <a:srgbClr val="FF0000"/>
                </a:solidFill>
              </a:rPr>
              <a:t>conclusion-oriented research, </a:t>
            </a:r>
            <a:r>
              <a:rPr lang="en-US" sz="2000" dirty="0"/>
              <a:t>a researcher is free to pick up a problem, redesign the enquiry as he proceeds and is prepared to conceptualize as he wishes. </a:t>
            </a:r>
          </a:p>
          <a:p>
            <a:pPr lvl="1" algn="just"/>
            <a:r>
              <a:rPr lang="en-US" sz="2000" dirty="0">
                <a:solidFill>
                  <a:srgbClr val="FF0000"/>
                </a:solidFill>
              </a:rPr>
              <a:t>Decision-oriented research </a:t>
            </a:r>
            <a:r>
              <a:rPr lang="en-US" sz="2000" dirty="0"/>
              <a:t>is always for the need of a decision maker and the researcher in this case is not free to embark upon research according to his own inclination. </a:t>
            </a:r>
          </a:p>
        </p:txBody>
      </p:sp>
    </p:spTree>
    <p:extLst>
      <p:ext uri="{BB962C8B-B14F-4D97-AF65-F5344CB8AC3E}">
        <p14:creationId xmlns:p14="http://schemas.microsoft.com/office/powerpoint/2010/main" val="86913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62608"/>
            <a:ext cx="10972800" cy="755029"/>
          </a:xfrm>
        </p:spPr>
        <p:txBody>
          <a:bodyPr>
            <a:normAutofit/>
          </a:bodyPr>
          <a:lstStyle/>
          <a:p>
            <a:r>
              <a:rPr lang="en-US" b="1" dirty="0">
                <a:solidFill>
                  <a:srgbClr val="6600FF"/>
                </a:solidFill>
              </a:rPr>
              <a:t>Ethics in Research</a:t>
            </a:r>
            <a:endParaRPr lang="en-IN" b="1" dirty="0">
              <a:solidFill>
                <a:srgbClr val="6600FF"/>
              </a:solidFill>
            </a:endParaRPr>
          </a:p>
        </p:txBody>
      </p:sp>
      <p:sp>
        <p:nvSpPr>
          <p:cNvPr id="3" name="Content Placeholder 2"/>
          <p:cNvSpPr>
            <a:spLocks noGrp="1"/>
          </p:cNvSpPr>
          <p:nvPr>
            <p:ph type="body" idx="1"/>
          </p:nvPr>
        </p:nvSpPr>
        <p:spPr>
          <a:xfrm>
            <a:off x="609600" y="1600201"/>
            <a:ext cx="10972800" cy="3337559"/>
          </a:xfrm>
        </p:spPr>
        <p:txBody>
          <a:bodyPr>
            <a:normAutofit fontScale="62500" lnSpcReduction="20000"/>
          </a:bodyPr>
          <a:lstStyle/>
          <a:p>
            <a:pPr lvl="1" algn="just">
              <a:lnSpc>
                <a:spcPct val="110000"/>
              </a:lnSpc>
            </a:pPr>
            <a:r>
              <a:rPr lang="en-US" sz="3400" b="1" cap="none" dirty="0">
                <a:latin typeface="Bell MT" panose="02020503060305020303" pitchFamily="18" charset="0"/>
                <a:ea typeface="Verdana" panose="020B0604030504040204" pitchFamily="34" charset="0"/>
              </a:rPr>
              <a:t>P</a:t>
            </a:r>
            <a:r>
              <a:rPr lang="en-US" sz="3400" b="1" cap="none" dirty="0" smtClean="0">
                <a:latin typeface="Bell MT" panose="02020503060305020303" pitchFamily="18" charset="0"/>
                <a:ea typeface="Verdana" panose="020B0604030504040204" pitchFamily="34" charset="0"/>
              </a:rPr>
              <a:t>rovides </a:t>
            </a:r>
            <a:r>
              <a:rPr lang="en-US" sz="3400" b="1" cap="none" dirty="0">
                <a:latin typeface="Bell MT" panose="02020503060305020303" pitchFamily="18" charset="0"/>
                <a:ea typeface="Verdana" panose="020B0604030504040204" pitchFamily="34" charset="0"/>
              </a:rPr>
              <a:t>guidelines for the responsible conduct of research.</a:t>
            </a:r>
          </a:p>
          <a:p>
            <a:pPr lvl="1" algn="just">
              <a:lnSpc>
                <a:spcPct val="110000"/>
              </a:lnSpc>
            </a:pPr>
            <a:r>
              <a:rPr lang="en-IN" sz="3400" b="1" cap="none" dirty="0">
                <a:latin typeface="Bell MT" panose="02020503060305020303" pitchFamily="18" charset="0"/>
                <a:ea typeface="Verdana" panose="020B0604030504040204" pitchFamily="34" charset="0"/>
              </a:rPr>
              <a:t>S</a:t>
            </a:r>
            <a:r>
              <a:rPr lang="en-IN" sz="3400" b="1" cap="none" dirty="0" smtClean="0">
                <a:latin typeface="Bell MT" panose="02020503060305020303" pitchFamily="18" charset="0"/>
                <a:ea typeface="Verdana" panose="020B0604030504040204" pitchFamily="34" charset="0"/>
              </a:rPr>
              <a:t>ome </a:t>
            </a:r>
            <a:r>
              <a:rPr lang="en-IN" sz="3400" b="1" cap="none" dirty="0">
                <a:latin typeface="Bell MT" panose="02020503060305020303" pitchFamily="18" charset="0"/>
                <a:ea typeface="Verdana" panose="020B0604030504040204" pitchFamily="34" charset="0"/>
              </a:rPr>
              <a:t>ethical </a:t>
            </a:r>
            <a:r>
              <a:rPr lang="en-IN" sz="3400" b="1" cap="none" dirty="0" smtClean="0">
                <a:latin typeface="Bell MT" panose="02020503060305020303" pitchFamily="18" charset="0"/>
                <a:ea typeface="Verdana" panose="020B0604030504040204" pitchFamily="34" charset="0"/>
              </a:rPr>
              <a:t>principles</a:t>
            </a:r>
            <a:r>
              <a:rPr lang="en-IN" sz="3400" b="1" cap="none" dirty="0">
                <a:latin typeface="Bell MT" panose="02020503060305020303" pitchFamily="18" charset="0"/>
                <a:ea typeface="Verdana" panose="020B0604030504040204" pitchFamily="34" charset="0"/>
              </a:rPr>
              <a:t> </a:t>
            </a:r>
            <a:r>
              <a:rPr lang="en-IN" sz="3400" b="1" cap="none" dirty="0" smtClean="0">
                <a:latin typeface="Bell MT" panose="02020503060305020303" pitchFamily="18" charset="0"/>
                <a:ea typeface="Verdana" panose="020B0604030504040204" pitchFamily="34" charset="0"/>
              </a:rPr>
              <a:t>are </a:t>
            </a:r>
            <a:endParaRPr lang="en-IN" sz="3400" b="1" cap="none" dirty="0">
              <a:latin typeface="Bell MT" panose="02020503060305020303" pitchFamily="18" charset="0"/>
              <a:ea typeface="Verdana" panose="020B0604030504040204" pitchFamily="34" charset="0"/>
            </a:endParaRPr>
          </a:p>
          <a:p>
            <a:pPr lvl="2" algn="just">
              <a:lnSpc>
                <a:spcPct val="110000"/>
              </a:lnSpc>
            </a:pPr>
            <a:r>
              <a:rPr lang="en-IN" sz="2900" b="1" cap="none" dirty="0">
                <a:latin typeface="Bell MT" panose="02020503060305020303" pitchFamily="18" charset="0"/>
                <a:ea typeface="Verdana" panose="020B0604030504040204" pitchFamily="34" charset="0"/>
              </a:rPr>
              <a:t>Honesty</a:t>
            </a:r>
          </a:p>
          <a:p>
            <a:pPr lvl="2" algn="just">
              <a:lnSpc>
                <a:spcPct val="110000"/>
              </a:lnSpc>
            </a:pPr>
            <a:r>
              <a:rPr lang="en-IN" sz="2900" b="1" cap="none" dirty="0">
                <a:latin typeface="Bell MT" panose="02020503060305020303" pitchFamily="18" charset="0"/>
                <a:ea typeface="Verdana" panose="020B0604030504040204" pitchFamily="34" charset="0"/>
              </a:rPr>
              <a:t>Objectivity</a:t>
            </a:r>
          </a:p>
          <a:p>
            <a:pPr lvl="2" algn="just">
              <a:lnSpc>
                <a:spcPct val="110000"/>
              </a:lnSpc>
            </a:pPr>
            <a:r>
              <a:rPr lang="en-IN" sz="2900" b="1" cap="none" dirty="0" smtClean="0">
                <a:latin typeface="Bell MT" panose="02020503060305020303" pitchFamily="18" charset="0"/>
                <a:ea typeface="Verdana" panose="020B0604030504040204" pitchFamily="34" charset="0"/>
              </a:rPr>
              <a:t>Integrity</a:t>
            </a:r>
          </a:p>
          <a:p>
            <a:pPr lvl="2" algn="just">
              <a:lnSpc>
                <a:spcPct val="110000"/>
              </a:lnSpc>
            </a:pPr>
            <a:r>
              <a:rPr lang="en-IN" sz="2900" b="1" cap="none" dirty="0" smtClean="0">
                <a:latin typeface="Bell MT" panose="02020503060305020303" pitchFamily="18" charset="0"/>
                <a:ea typeface="Verdana" panose="020B0604030504040204" pitchFamily="34" charset="0"/>
              </a:rPr>
              <a:t>Carefulness</a:t>
            </a:r>
          </a:p>
          <a:p>
            <a:pPr lvl="2" algn="just">
              <a:lnSpc>
                <a:spcPct val="110000"/>
              </a:lnSpc>
            </a:pPr>
            <a:r>
              <a:rPr lang="en-IN" sz="2900" b="1" cap="none" dirty="0" smtClean="0">
                <a:latin typeface="Bell MT" panose="02020503060305020303" pitchFamily="18" charset="0"/>
                <a:ea typeface="Verdana" panose="020B0604030504040204" pitchFamily="34" charset="0"/>
              </a:rPr>
              <a:t>Openness</a:t>
            </a:r>
          </a:p>
          <a:p>
            <a:pPr lvl="2" algn="just">
              <a:lnSpc>
                <a:spcPct val="110000"/>
              </a:lnSpc>
            </a:pPr>
            <a:r>
              <a:rPr lang="en-IN" sz="2900" b="1" cap="none" dirty="0">
                <a:latin typeface="Bell MT" panose="02020503060305020303" pitchFamily="18" charset="0"/>
                <a:ea typeface="Verdana" panose="020B0604030504040204" pitchFamily="34" charset="0"/>
              </a:rPr>
              <a:t>Respect for Intellectual </a:t>
            </a:r>
            <a:r>
              <a:rPr lang="en-IN" sz="2900" b="1" cap="none" dirty="0" smtClean="0">
                <a:latin typeface="Bell MT" panose="02020503060305020303" pitchFamily="18" charset="0"/>
                <a:ea typeface="Verdana" panose="020B0604030504040204" pitchFamily="34" charset="0"/>
              </a:rPr>
              <a:t>Property</a:t>
            </a:r>
          </a:p>
          <a:p>
            <a:pPr lvl="2" algn="just">
              <a:lnSpc>
                <a:spcPct val="110000"/>
              </a:lnSpc>
            </a:pPr>
            <a:r>
              <a:rPr lang="en-IN" sz="2900" b="1" cap="none" dirty="0">
                <a:latin typeface="Bell MT" panose="02020503060305020303" pitchFamily="18" charset="0"/>
                <a:ea typeface="Verdana" panose="020B0604030504040204" pitchFamily="34" charset="0"/>
              </a:rPr>
              <a:t>Confidentiality</a:t>
            </a:r>
          </a:p>
          <a:p>
            <a:pPr marL="3657600" lvl="8" indent="0">
              <a:buNone/>
            </a:pPr>
            <a:r>
              <a:rPr lang="en-US" b="1" dirty="0" smtClean="0"/>
              <a:t>		</a:t>
            </a:r>
            <a:endParaRPr lang="en-IN" b="1" dirty="0"/>
          </a:p>
        </p:txBody>
      </p:sp>
    </p:spTree>
    <p:extLst>
      <p:ext uri="{BB962C8B-B14F-4D97-AF65-F5344CB8AC3E}">
        <p14:creationId xmlns:p14="http://schemas.microsoft.com/office/powerpoint/2010/main" val="27170632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389" y="777543"/>
            <a:ext cx="9250642" cy="1294173"/>
          </a:xfrm>
        </p:spPr>
        <p:txBody>
          <a:bodyPr/>
          <a:lstStyle/>
          <a:p>
            <a:r>
              <a:rPr lang="en-IN" sz="4000" b="1" dirty="0">
                <a:solidFill>
                  <a:srgbClr val="6600FF"/>
                </a:solidFill>
              </a:rPr>
              <a:t>What are research misconducts?</a:t>
            </a:r>
            <a:r>
              <a:rPr lang="en-IN" b="1" dirty="0">
                <a:latin typeface="Bell MT" panose="02020503060305020303" pitchFamily="18" charset="0"/>
              </a:rPr>
              <a:t/>
            </a:r>
            <a:br>
              <a:rPr lang="en-IN" b="1" dirty="0">
                <a:latin typeface="Bell MT" panose="02020503060305020303" pitchFamily="18" charset="0"/>
              </a:rPr>
            </a:br>
            <a:endParaRPr lang="en-IN" dirty="0"/>
          </a:p>
        </p:txBody>
      </p:sp>
      <p:sp>
        <p:nvSpPr>
          <p:cNvPr id="3" name="Content Placeholder 2"/>
          <p:cNvSpPr>
            <a:spLocks noGrp="1"/>
          </p:cNvSpPr>
          <p:nvPr>
            <p:ph sz="quarter" idx="4294967295"/>
          </p:nvPr>
        </p:nvSpPr>
        <p:spPr>
          <a:xfrm>
            <a:off x="494950" y="1686187"/>
            <a:ext cx="8103766" cy="4689446"/>
          </a:xfrm>
        </p:spPr>
        <p:txBody>
          <a:bodyPr>
            <a:normAutofit/>
          </a:bodyPr>
          <a:lstStyle/>
          <a:p>
            <a:pPr algn="just">
              <a:lnSpc>
                <a:spcPct val="110000"/>
              </a:lnSpc>
            </a:pPr>
            <a:r>
              <a:rPr lang="en-IN" sz="2800" cap="none" dirty="0">
                <a:latin typeface="Bell MT" panose="02020503060305020303" pitchFamily="18" charset="0"/>
                <a:ea typeface="Verdana" panose="020B0604030504040204" pitchFamily="34" charset="0"/>
              </a:rPr>
              <a:t>Research Misconduct can be characterised as actions or questionable research practices that fall short of the standards of ethics, research and scholarship required to ensure that the integrity of research is upheld. It can cause harm to people and the environment, wastes resources, undermines the research record and damages the credibility of research</a:t>
            </a:r>
            <a:r>
              <a:rPr lang="en-IN" dirty="0"/>
              <a:t>.</a:t>
            </a:r>
          </a:p>
          <a:p>
            <a:pPr algn="just">
              <a:lnSpc>
                <a:spcPct val="110000"/>
              </a:lnSpc>
            </a:pPr>
            <a:endParaRPr lang="en-IN" sz="2400" cap="none" dirty="0" smtClean="0">
              <a:latin typeface="Bell MT" panose="02020503060305020303" pitchFamily="18" charset="0"/>
              <a:ea typeface="Verdana" panose="020B0604030504040204" pitchFamily="34" charset="0"/>
            </a:endParaRPr>
          </a:p>
        </p:txBody>
      </p:sp>
      <p:pic>
        <p:nvPicPr>
          <p:cNvPr id="1026" name="Picture 2" descr="http://lgimages.s3.amazonaws.com/data/imagemanager/78051/plagiariz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89538" y="2516450"/>
            <a:ext cx="2972986" cy="1627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52963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192" y="458314"/>
            <a:ext cx="10972800" cy="635760"/>
          </a:xfrm>
        </p:spPr>
        <p:txBody>
          <a:bodyPr>
            <a:normAutofit fontScale="90000"/>
          </a:bodyPr>
          <a:lstStyle/>
          <a:p>
            <a:r>
              <a:rPr lang="en-IN" sz="4000" b="1" dirty="0">
                <a:solidFill>
                  <a:srgbClr val="6600FF"/>
                </a:solidFill>
              </a:rPr>
              <a:t>TYPES OF RESEARCH Misconduct</a:t>
            </a:r>
          </a:p>
        </p:txBody>
      </p:sp>
      <p:sp>
        <p:nvSpPr>
          <p:cNvPr id="3" name="Content Placeholder 2"/>
          <p:cNvSpPr>
            <a:spLocks noGrp="1"/>
          </p:cNvSpPr>
          <p:nvPr>
            <p:ph type="body" idx="1"/>
          </p:nvPr>
        </p:nvSpPr>
        <p:spPr>
          <a:xfrm>
            <a:off x="168811" y="1044673"/>
            <a:ext cx="11690253" cy="5482736"/>
          </a:xfrm>
        </p:spPr>
        <p:txBody>
          <a:bodyPr/>
          <a:lstStyle/>
          <a:p>
            <a:pPr algn="just">
              <a:lnSpc>
                <a:spcPct val="110000"/>
              </a:lnSpc>
            </a:pPr>
            <a:r>
              <a:rPr lang="en-IN" sz="2800" b="1" cap="none" dirty="0">
                <a:solidFill>
                  <a:srgbClr val="C00000"/>
                </a:solidFill>
                <a:latin typeface="Bell MT" panose="02020503060305020303" pitchFamily="18" charset="0"/>
                <a:ea typeface="Verdana" panose="020B0604030504040204" pitchFamily="34" charset="0"/>
              </a:rPr>
              <a:t>Fabrication</a:t>
            </a:r>
            <a:r>
              <a:rPr lang="en-IN" sz="2800" cap="none" dirty="0">
                <a:latin typeface="Bell MT" panose="02020503060305020303" pitchFamily="18" charset="0"/>
                <a:ea typeface="Verdana" panose="020B0604030504040204" pitchFamily="34" charset="0"/>
              </a:rPr>
              <a:t> - making up data or results and recording or reporting them</a:t>
            </a:r>
            <a:r>
              <a:rPr lang="en-IN" sz="2800" cap="none" dirty="0" smtClean="0">
                <a:latin typeface="Bell MT" panose="02020503060305020303" pitchFamily="18" charset="0"/>
                <a:ea typeface="Verdana" panose="020B0604030504040204" pitchFamily="34" charset="0"/>
              </a:rPr>
              <a:t>.(</a:t>
            </a:r>
            <a:r>
              <a:rPr lang="en-US" sz="2800" dirty="0" smtClean="0"/>
              <a:t>Reporting experiments, observations, or procedures that were never conducted.)</a:t>
            </a:r>
            <a:endParaRPr lang="en-IN" sz="2800" cap="none" dirty="0">
              <a:latin typeface="Bell MT" panose="02020503060305020303" pitchFamily="18" charset="0"/>
              <a:ea typeface="Verdana" panose="020B0604030504040204" pitchFamily="34" charset="0"/>
            </a:endParaRPr>
          </a:p>
          <a:p>
            <a:pPr algn="just">
              <a:lnSpc>
                <a:spcPct val="110000"/>
              </a:lnSpc>
            </a:pPr>
            <a:r>
              <a:rPr lang="en-IN" sz="2800" b="1" dirty="0">
                <a:solidFill>
                  <a:srgbClr val="C00000"/>
                </a:solidFill>
                <a:latin typeface="Bell MT" panose="02020503060305020303" pitchFamily="18" charset="0"/>
                <a:ea typeface="Verdana" panose="020B0604030504040204" pitchFamily="34" charset="0"/>
              </a:rPr>
              <a:t>Falsification</a:t>
            </a:r>
            <a:r>
              <a:rPr lang="en-IN" sz="2800" cap="none" dirty="0">
                <a:latin typeface="Bell MT" panose="02020503060305020303" pitchFamily="18" charset="0"/>
                <a:ea typeface="Verdana" panose="020B0604030504040204" pitchFamily="34" charset="0"/>
              </a:rPr>
              <a:t> - manipulating research materials, or changing or omitting data or results such that the research is not accurately represented in the research record</a:t>
            </a:r>
            <a:r>
              <a:rPr lang="en-IN" sz="2800" cap="none" dirty="0" smtClean="0">
                <a:latin typeface="Bell MT" panose="02020503060305020303" pitchFamily="18" charset="0"/>
                <a:ea typeface="Verdana" panose="020B0604030504040204" pitchFamily="34" charset="0"/>
              </a:rPr>
              <a:t>.(</a:t>
            </a:r>
            <a:r>
              <a:rPr lang="en-US" sz="2800" dirty="0" smtClean="0"/>
              <a:t>Changing values in a dataset to improve the appearance of results.</a:t>
            </a:r>
            <a:r>
              <a:rPr lang="en-IN" sz="2800" cap="none" dirty="0" smtClean="0">
                <a:latin typeface="Bell MT" panose="02020503060305020303" pitchFamily="18" charset="0"/>
                <a:ea typeface="Verdana" panose="020B0604030504040204" pitchFamily="34" charset="0"/>
              </a:rPr>
              <a:t>)</a:t>
            </a:r>
            <a:endParaRPr lang="en-IN" sz="2800" cap="none" dirty="0">
              <a:latin typeface="Bell MT" panose="02020503060305020303" pitchFamily="18" charset="0"/>
              <a:ea typeface="Verdana" panose="020B0604030504040204" pitchFamily="34" charset="0"/>
            </a:endParaRPr>
          </a:p>
          <a:p>
            <a:r>
              <a:rPr lang="en-IN" sz="2800" b="1" dirty="0">
                <a:solidFill>
                  <a:srgbClr val="C00000"/>
                </a:solidFill>
                <a:latin typeface="Bell MT" panose="02020503060305020303" pitchFamily="18" charset="0"/>
                <a:ea typeface="Verdana" panose="020B0604030504040204" pitchFamily="34" charset="0"/>
              </a:rPr>
              <a:t>Plagiarism</a:t>
            </a:r>
            <a:r>
              <a:rPr lang="en-IN" sz="2800" cap="none" dirty="0">
                <a:latin typeface="Bell MT" panose="02020503060305020303" pitchFamily="18" charset="0"/>
                <a:ea typeface="Verdana" panose="020B0604030504040204" pitchFamily="34" charset="0"/>
              </a:rPr>
              <a:t> - the appropriation of another person's ideas, processes, results, or words without giving appropriate credit</a:t>
            </a:r>
            <a:r>
              <a:rPr lang="en-IN" sz="2800" cap="none" dirty="0" smtClean="0">
                <a:latin typeface="Bell MT" panose="02020503060305020303" pitchFamily="18" charset="0"/>
                <a:ea typeface="Verdana" panose="020B0604030504040204" pitchFamily="34" charset="0"/>
              </a:rPr>
              <a:t>.(</a:t>
            </a:r>
            <a:r>
              <a:rPr lang="en-US" sz="2800" dirty="0" smtClean="0"/>
              <a:t>Presenting someone else's work as one's own.</a:t>
            </a:r>
          </a:p>
          <a:p>
            <a:r>
              <a:rPr lang="en-US" sz="2800" dirty="0" smtClean="0"/>
              <a:t>Example: Copying text from a published article without citation.</a:t>
            </a:r>
          </a:p>
          <a:p>
            <a:pPr algn="just">
              <a:lnSpc>
                <a:spcPct val="110000"/>
              </a:lnSpc>
            </a:pPr>
            <a:r>
              <a:rPr lang="en-IN" sz="2800" cap="none" dirty="0" smtClean="0">
                <a:latin typeface="Bell MT" panose="02020503060305020303" pitchFamily="18" charset="0"/>
                <a:ea typeface="Verdana" panose="020B0604030504040204" pitchFamily="34" charset="0"/>
              </a:rPr>
              <a:t>)</a:t>
            </a:r>
            <a:endParaRPr lang="en-IN" sz="2800" cap="none" dirty="0">
              <a:latin typeface="Bell MT" panose="02020503060305020303" pitchFamily="18" charset="0"/>
              <a:ea typeface="Verdana" panose="020B0604030504040204" pitchFamily="34" charset="0"/>
            </a:endParaRPr>
          </a:p>
          <a:p>
            <a:endParaRPr lang="en-IN" dirty="0"/>
          </a:p>
        </p:txBody>
      </p:sp>
    </p:spTree>
    <p:extLst>
      <p:ext uri="{BB962C8B-B14F-4D97-AF65-F5344CB8AC3E}">
        <p14:creationId xmlns:p14="http://schemas.microsoft.com/office/powerpoint/2010/main" val="38246271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solidFill>
                  <a:srgbClr val="6600FF"/>
                </a:solidFill>
              </a:rPr>
              <a:t>Types of Plagiarism</a:t>
            </a:r>
            <a:endParaRPr lang="en-IN" b="1" dirty="0">
              <a:solidFill>
                <a:srgbClr val="6600FF"/>
              </a:solidFill>
            </a:endParaRPr>
          </a:p>
        </p:txBody>
      </p:sp>
      <p:pic>
        <p:nvPicPr>
          <p:cNvPr id="7" name="Picture 2" descr="The Common Types of Plagiarism | CustomEssayMeiste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418" y="1206248"/>
            <a:ext cx="8133924" cy="49554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467557" y="2332969"/>
            <a:ext cx="2264897" cy="2031325"/>
          </a:xfrm>
          <a:prstGeom prst="rect">
            <a:avLst/>
          </a:prstGeom>
        </p:spPr>
        <p:txBody>
          <a:bodyPr wrap="square">
            <a:spAutoFit/>
          </a:bodyPr>
          <a:lstStyle/>
          <a:p>
            <a:r>
              <a:rPr lang="en-US" b="1" dirty="0" smtClean="0"/>
              <a:t>Example of Misattribution</a:t>
            </a:r>
          </a:p>
          <a:p>
            <a:r>
              <a:rPr lang="en-US" b="1" dirty="0" smtClean="0"/>
              <a:t>Incorrect:</a:t>
            </a:r>
            <a:r>
              <a:rPr lang="en-US" dirty="0" smtClean="0"/>
              <a:t> “According to Smith (2020), water pollution is mainly caused by plastic waste.”</a:t>
            </a:r>
            <a:br>
              <a:rPr lang="en-US" dirty="0" smtClean="0"/>
            </a:br>
            <a:r>
              <a:rPr lang="en-US" i="1" dirty="0" smtClean="0"/>
              <a:t>(But this idea was actually from Johnson, 2019, not Smith.)</a:t>
            </a:r>
            <a:endParaRPr lang="en-US" dirty="0"/>
          </a:p>
        </p:txBody>
      </p:sp>
    </p:spTree>
    <p:extLst>
      <p:ext uri="{BB962C8B-B14F-4D97-AF65-F5344CB8AC3E}">
        <p14:creationId xmlns:p14="http://schemas.microsoft.com/office/powerpoint/2010/main" val="3494021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1322" y="1325217"/>
            <a:ext cx="8229601" cy="1656521"/>
          </a:xfrm>
        </p:spPr>
        <p:txBody>
          <a:bodyPr>
            <a:normAutofit/>
          </a:bodyPr>
          <a:lstStyle/>
          <a:p>
            <a:r>
              <a:rPr lang="en-US" b="1" dirty="0">
                <a:solidFill>
                  <a:srgbClr val="7030A0"/>
                </a:solidFill>
                <a:latin typeface="Bernard MT Condensed" panose="02050806060905020404" pitchFamily="18" charset="0"/>
              </a:rPr>
              <a:t>Literature Review and Technical Reading</a:t>
            </a:r>
            <a:endParaRPr lang="en-IN" b="1" dirty="0">
              <a:solidFill>
                <a:srgbClr val="7030A0"/>
              </a:solidFill>
              <a:latin typeface="Bernard MT Condensed" panose="02050806060905020404" pitchFamily="18" charset="0"/>
            </a:endParaRPr>
          </a:p>
        </p:txBody>
      </p:sp>
    </p:spTree>
    <p:extLst>
      <p:ext uri="{BB962C8B-B14F-4D97-AF65-F5344CB8AC3E}">
        <p14:creationId xmlns:p14="http://schemas.microsoft.com/office/powerpoint/2010/main" val="10615191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981200" y="0"/>
            <a:ext cx="7024688" cy="1143000"/>
          </a:xfrm>
        </p:spPr>
        <p:txBody>
          <a:bodyPr/>
          <a:lstStyle/>
          <a:p>
            <a:r>
              <a:rPr lang="en-US" altLang="en-US" b="1"/>
              <a:t>Literature search</a:t>
            </a:r>
          </a:p>
        </p:txBody>
      </p:sp>
      <p:sp>
        <p:nvSpPr>
          <p:cNvPr id="16387" name="Content Placeholder 2"/>
          <p:cNvSpPr>
            <a:spLocks noGrp="1"/>
          </p:cNvSpPr>
          <p:nvPr>
            <p:ph idx="1"/>
          </p:nvPr>
        </p:nvSpPr>
        <p:spPr>
          <a:xfrm>
            <a:off x="2286000" y="1447800"/>
            <a:ext cx="7620000" cy="4267200"/>
          </a:xfrm>
        </p:spPr>
        <p:txBody>
          <a:bodyPr/>
          <a:lstStyle/>
          <a:p>
            <a:r>
              <a:rPr lang="en-US" altLang="en-US" b="1">
                <a:solidFill>
                  <a:srgbClr val="002060"/>
                </a:solidFill>
              </a:rPr>
              <a:t>Check to see if your idea is original</a:t>
            </a:r>
          </a:p>
          <a:p>
            <a:r>
              <a:rPr lang="en-US" altLang="en-US" b="1">
                <a:solidFill>
                  <a:srgbClr val="002060"/>
                </a:solidFill>
              </a:rPr>
              <a:t>Get articles</a:t>
            </a:r>
          </a:p>
          <a:p>
            <a:r>
              <a:rPr lang="en-US" altLang="en-US" b="1">
                <a:solidFill>
                  <a:srgbClr val="002060"/>
                </a:solidFill>
              </a:rPr>
              <a:t>Read articles and their references</a:t>
            </a:r>
          </a:p>
          <a:p>
            <a:r>
              <a:rPr lang="en-US" altLang="en-US" b="1">
                <a:solidFill>
                  <a:srgbClr val="002060"/>
                </a:solidFill>
              </a:rPr>
              <a:t>Most of these will be vital when writing up reports</a:t>
            </a:r>
          </a:p>
          <a:p>
            <a:r>
              <a:rPr lang="en-US" altLang="en-US" b="1">
                <a:solidFill>
                  <a:srgbClr val="002060"/>
                </a:solidFill>
              </a:rPr>
              <a:t>Find gap areas</a:t>
            </a:r>
          </a:p>
          <a:p>
            <a:r>
              <a:rPr lang="en-US" altLang="en-US" b="1">
                <a:solidFill>
                  <a:srgbClr val="002060"/>
                </a:solidFill>
              </a:rPr>
              <a:t>Find obsolete measurements and results</a:t>
            </a:r>
          </a:p>
          <a:p>
            <a:r>
              <a:rPr lang="en-US" altLang="en-US" b="1">
                <a:solidFill>
                  <a:srgbClr val="002060"/>
                </a:solidFill>
              </a:rPr>
              <a:t>Define objectives of the study</a:t>
            </a:r>
          </a:p>
          <a:p>
            <a:endParaRPr lang="en-US" altLang="en-US" b="1">
              <a:solidFill>
                <a:srgbClr val="002060"/>
              </a:solidFill>
            </a:endParaRPr>
          </a:p>
        </p:txBody>
      </p:sp>
      <p:sp>
        <p:nvSpPr>
          <p:cNvPr id="4" name="Date Placeholder 3"/>
          <p:cNvSpPr>
            <a:spLocks noGrp="1"/>
          </p:cNvSpPr>
          <p:nvPr>
            <p:ph type="dt" sz="quarter" idx="10"/>
          </p:nvPr>
        </p:nvSpPr>
        <p:spPr/>
        <p:txBody>
          <a:bodyPr/>
          <a:lstStyle/>
          <a:p>
            <a:pPr>
              <a:defRPr/>
            </a:pPr>
            <a:fld id="{4013D451-A32F-45DC-94D7-190916C26889}" type="datetime3">
              <a:rPr lang="en-US" smtClean="0"/>
              <a:pPr>
                <a:defRPr/>
              </a:pPr>
              <a:t>22 September 2025</a:t>
            </a:fld>
            <a:endParaRPr lang="en-US"/>
          </a:p>
        </p:txBody>
      </p:sp>
      <p:sp>
        <p:nvSpPr>
          <p:cNvPr id="5" name="Footer Placeholder 4"/>
          <p:cNvSpPr>
            <a:spLocks noGrp="1"/>
          </p:cNvSpPr>
          <p:nvPr>
            <p:ph type="ftr" sz="quarter" idx="11"/>
          </p:nvPr>
        </p:nvSpPr>
        <p:spPr/>
        <p:txBody>
          <a:bodyPr/>
          <a:lstStyle/>
          <a:p>
            <a:pPr>
              <a:defRPr/>
            </a:pPr>
            <a:endParaRPr lang="en-US" dirty="0"/>
          </a:p>
        </p:txBody>
      </p:sp>
      <p:sp>
        <p:nvSpPr>
          <p:cNvPr id="163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spcBef>
                <a:spcPct val="0"/>
              </a:spcBef>
              <a:buClrTx/>
              <a:buSzTx/>
              <a:buFontTx/>
              <a:buNone/>
            </a:pPr>
            <a:fld id="{51F7353C-301B-4301-9413-7DD97F9CD832}" type="slidenum">
              <a:rPr lang="en-US" altLang="en-US" sz="1200">
                <a:solidFill>
                  <a:srgbClr val="FEFEFE"/>
                </a:solidFill>
              </a:rPr>
              <a:pPr>
                <a:spcBef>
                  <a:spcPct val="0"/>
                </a:spcBef>
                <a:buClrTx/>
                <a:buSzTx/>
                <a:buFontTx/>
                <a:buNone/>
              </a:pPr>
              <a:t>24</a:t>
            </a:fld>
            <a:endParaRPr lang="en-US" altLang="en-US" sz="1200">
              <a:solidFill>
                <a:srgbClr val="FEFEFE"/>
              </a:solidFill>
            </a:endParaRPr>
          </a:p>
        </p:txBody>
      </p:sp>
    </p:spTree>
    <p:extLst>
      <p:ext uri="{BB962C8B-B14F-4D97-AF65-F5344CB8AC3E}">
        <p14:creationId xmlns:p14="http://schemas.microsoft.com/office/powerpoint/2010/main" val="1235495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1905000" y="304800"/>
            <a:ext cx="8001000" cy="1143000"/>
          </a:xfrm>
        </p:spPr>
        <p:txBody>
          <a:bodyPr/>
          <a:lstStyle/>
          <a:p>
            <a:r>
              <a:rPr lang="en-US" altLang="en-US" b="1"/>
              <a:t>Steps involved in a research</a:t>
            </a:r>
          </a:p>
        </p:txBody>
      </p:sp>
      <p:sp>
        <p:nvSpPr>
          <p:cNvPr id="17411" name="Content Placeholder 2"/>
          <p:cNvSpPr>
            <a:spLocks noGrp="1"/>
          </p:cNvSpPr>
          <p:nvPr>
            <p:ph idx="1"/>
          </p:nvPr>
        </p:nvSpPr>
        <p:spPr>
          <a:xfrm>
            <a:off x="2438401" y="1676401"/>
            <a:ext cx="7339013" cy="4384675"/>
          </a:xfrm>
        </p:spPr>
        <p:txBody>
          <a:bodyPr>
            <a:normAutofit lnSpcReduction="10000"/>
          </a:bodyPr>
          <a:lstStyle/>
          <a:p>
            <a:r>
              <a:rPr lang="en-US" altLang="en-US" b="1">
                <a:solidFill>
                  <a:srgbClr val="002060"/>
                </a:solidFill>
              </a:rPr>
              <a:t>Choose a subject</a:t>
            </a:r>
          </a:p>
          <a:p>
            <a:r>
              <a:rPr lang="en-US" altLang="en-US" b="1">
                <a:solidFill>
                  <a:srgbClr val="002060"/>
                </a:solidFill>
              </a:rPr>
              <a:t>Literature survey</a:t>
            </a:r>
          </a:p>
          <a:p>
            <a:r>
              <a:rPr lang="en-US" altLang="en-US" b="1">
                <a:solidFill>
                  <a:srgbClr val="002060"/>
                </a:solidFill>
              </a:rPr>
              <a:t>Defining and formulation of specific objectives</a:t>
            </a:r>
          </a:p>
          <a:p>
            <a:r>
              <a:rPr lang="en-US" altLang="en-US" b="1">
                <a:solidFill>
                  <a:srgbClr val="002060"/>
                </a:solidFill>
              </a:rPr>
              <a:t>Prepare Synopsis</a:t>
            </a:r>
          </a:p>
          <a:p>
            <a:r>
              <a:rPr lang="en-US" altLang="en-US" b="1">
                <a:solidFill>
                  <a:srgbClr val="002060"/>
                </a:solidFill>
              </a:rPr>
              <a:t>Procuring of suitable apparatus/materials</a:t>
            </a:r>
          </a:p>
          <a:p>
            <a:r>
              <a:rPr lang="en-US" altLang="en-US" b="1">
                <a:solidFill>
                  <a:srgbClr val="002060"/>
                </a:solidFill>
              </a:rPr>
              <a:t>Design of experimental set up</a:t>
            </a:r>
          </a:p>
          <a:p>
            <a:r>
              <a:rPr lang="en-US" altLang="en-US" b="1">
                <a:solidFill>
                  <a:srgbClr val="002060"/>
                </a:solidFill>
              </a:rPr>
              <a:t>Preliminary experiments</a:t>
            </a:r>
          </a:p>
          <a:p>
            <a:r>
              <a:rPr lang="en-US" altLang="en-US" b="1">
                <a:solidFill>
                  <a:srgbClr val="002060"/>
                </a:solidFill>
              </a:rPr>
              <a:t>Execution of the project </a:t>
            </a:r>
          </a:p>
          <a:p>
            <a:r>
              <a:rPr lang="en-US" altLang="en-US" b="1">
                <a:solidFill>
                  <a:srgbClr val="002060"/>
                </a:solidFill>
              </a:rPr>
              <a:t>Accurate measurements/data collection</a:t>
            </a:r>
          </a:p>
          <a:p>
            <a:endParaRPr lang="en-US" altLang="en-US"/>
          </a:p>
          <a:p>
            <a:endParaRPr lang="en-US" altLang="en-US"/>
          </a:p>
          <a:p>
            <a:endParaRPr lang="en-US" altLang="en-US"/>
          </a:p>
          <a:p>
            <a:endParaRPr lang="en-US" altLang="en-US"/>
          </a:p>
          <a:p>
            <a:endParaRPr lang="en-US" altLang="en-US"/>
          </a:p>
          <a:p>
            <a:endParaRPr lang="en-US" altLang="en-US"/>
          </a:p>
        </p:txBody>
      </p:sp>
      <p:sp>
        <p:nvSpPr>
          <p:cNvPr id="4" name="Date Placeholder 3"/>
          <p:cNvSpPr>
            <a:spLocks noGrp="1"/>
          </p:cNvSpPr>
          <p:nvPr>
            <p:ph type="dt" sz="quarter" idx="10"/>
          </p:nvPr>
        </p:nvSpPr>
        <p:spPr/>
        <p:txBody>
          <a:bodyPr/>
          <a:lstStyle/>
          <a:p>
            <a:pPr>
              <a:defRPr/>
            </a:pPr>
            <a:fld id="{4013D451-A32F-45DC-94D7-190916C26889}" type="datetime3">
              <a:rPr lang="en-US" smtClean="0"/>
              <a:pPr>
                <a:defRPr/>
              </a:pPr>
              <a:t>22 September 2025</a:t>
            </a:fld>
            <a:endParaRPr lang="en-US"/>
          </a:p>
        </p:txBody>
      </p:sp>
      <p:sp>
        <p:nvSpPr>
          <p:cNvPr id="5" name="Footer Placeholder 4"/>
          <p:cNvSpPr>
            <a:spLocks noGrp="1"/>
          </p:cNvSpPr>
          <p:nvPr>
            <p:ph type="ftr" sz="quarter" idx="11"/>
          </p:nvPr>
        </p:nvSpPr>
        <p:spPr/>
        <p:txBody>
          <a:bodyPr/>
          <a:lstStyle/>
          <a:p>
            <a:pPr>
              <a:defRPr/>
            </a:pPr>
            <a:endParaRPr lang="en-US" dirty="0"/>
          </a:p>
        </p:txBody>
      </p:sp>
      <p:sp>
        <p:nvSpPr>
          <p:cNvPr id="174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spcBef>
                <a:spcPct val="0"/>
              </a:spcBef>
              <a:buClrTx/>
              <a:buSzTx/>
              <a:buFontTx/>
              <a:buNone/>
            </a:pPr>
            <a:fld id="{70B34AF1-BB18-4721-8E10-D25E6648E66A}" type="slidenum">
              <a:rPr lang="en-US" altLang="en-US" sz="1200">
                <a:solidFill>
                  <a:srgbClr val="FEFEFE"/>
                </a:solidFill>
              </a:rPr>
              <a:pPr>
                <a:spcBef>
                  <a:spcPct val="0"/>
                </a:spcBef>
                <a:buClrTx/>
                <a:buSzTx/>
                <a:buFontTx/>
                <a:buNone/>
              </a:pPr>
              <a:t>25</a:t>
            </a:fld>
            <a:endParaRPr lang="en-US" altLang="en-US" sz="1200">
              <a:solidFill>
                <a:srgbClr val="FEFEFE"/>
              </a:solidFill>
            </a:endParaRPr>
          </a:p>
        </p:txBody>
      </p:sp>
    </p:spTree>
    <p:extLst>
      <p:ext uri="{BB962C8B-B14F-4D97-AF65-F5344CB8AC3E}">
        <p14:creationId xmlns:p14="http://schemas.microsoft.com/office/powerpoint/2010/main" val="1453517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981200" y="381000"/>
            <a:ext cx="7924800" cy="1143000"/>
          </a:xfrm>
        </p:spPr>
        <p:txBody>
          <a:bodyPr/>
          <a:lstStyle/>
          <a:p>
            <a:r>
              <a:rPr lang="en-US" altLang="en-US" b="1"/>
              <a:t>Steps involved in a research…</a:t>
            </a:r>
            <a:endParaRPr lang="en-US" altLang="en-US"/>
          </a:p>
        </p:txBody>
      </p:sp>
      <p:sp>
        <p:nvSpPr>
          <p:cNvPr id="18435" name="Content Placeholder 2"/>
          <p:cNvSpPr>
            <a:spLocks noGrp="1"/>
          </p:cNvSpPr>
          <p:nvPr>
            <p:ph idx="1"/>
          </p:nvPr>
        </p:nvSpPr>
        <p:spPr>
          <a:xfrm>
            <a:off x="2209800" y="1600201"/>
            <a:ext cx="7620000" cy="4232275"/>
          </a:xfrm>
        </p:spPr>
        <p:txBody>
          <a:bodyPr/>
          <a:lstStyle/>
          <a:p>
            <a:endParaRPr lang="en-US" altLang="en-US" b="1">
              <a:solidFill>
                <a:srgbClr val="002060"/>
              </a:solidFill>
            </a:endParaRPr>
          </a:p>
          <a:p>
            <a:r>
              <a:rPr lang="en-US" altLang="en-US" b="1">
                <a:solidFill>
                  <a:srgbClr val="002060"/>
                </a:solidFill>
              </a:rPr>
              <a:t>Data analysis and error compounding</a:t>
            </a:r>
          </a:p>
          <a:p>
            <a:r>
              <a:rPr lang="en-US" altLang="en-US" b="1">
                <a:solidFill>
                  <a:srgbClr val="002060"/>
                </a:solidFill>
              </a:rPr>
              <a:t>Hypothesis testing and verification</a:t>
            </a:r>
          </a:p>
          <a:p>
            <a:r>
              <a:rPr lang="en-US" altLang="en-US" b="1">
                <a:solidFill>
                  <a:srgbClr val="002060"/>
                </a:solidFill>
              </a:rPr>
              <a:t>Results and discussion</a:t>
            </a:r>
          </a:p>
          <a:p>
            <a:r>
              <a:rPr lang="en-US" altLang="en-US" b="1">
                <a:solidFill>
                  <a:srgbClr val="002060"/>
                </a:solidFill>
              </a:rPr>
              <a:t>Generalization, interpretation and drawing conclusions</a:t>
            </a:r>
          </a:p>
          <a:p>
            <a:r>
              <a:rPr lang="en-US" altLang="en-US" b="1">
                <a:solidFill>
                  <a:srgbClr val="002060"/>
                </a:solidFill>
              </a:rPr>
              <a:t>Preparation of the project report or writing thesis</a:t>
            </a:r>
          </a:p>
          <a:p>
            <a:endParaRPr lang="en-US" altLang="en-US"/>
          </a:p>
        </p:txBody>
      </p:sp>
      <p:sp>
        <p:nvSpPr>
          <p:cNvPr id="4" name="Date Placeholder 3"/>
          <p:cNvSpPr>
            <a:spLocks noGrp="1"/>
          </p:cNvSpPr>
          <p:nvPr>
            <p:ph type="dt" sz="quarter" idx="10"/>
          </p:nvPr>
        </p:nvSpPr>
        <p:spPr/>
        <p:txBody>
          <a:bodyPr/>
          <a:lstStyle/>
          <a:p>
            <a:pPr>
              <a:defRPr/>
            </a:pPr>
            <a:fld id="{4013D451-A32F-45DC-94D7-190916C26889}" type="datetime3">
              <a:rPr lang="en-US" smtClean="0"/>
              <a:pPr>
                <a:defRPr/>
              </a:pPr>
              <a:t>22 September 2025</a:t>
            </a:fld>
            <a:endParaRPr lang="en-US"/>
          </a:p>
        </p:txBody>
      </p:sp>
      <p:sp>
        <p:nvSpPr>
          <p:cNvPr id="5" name="Footer Placeholder 4"/>
          <p:cNvSpPr>
            <a:spLocks noGrp="1"/>
          </p:cNvSpPr>
          <p:nvPr>
            <p:ph type="ftr" sz="quarter" idx="11"/>
          </p:nvPr>
        </p:nvSpPr>
        <p:spPr/>
        <p:txBody>
          <a:bodyPr/>
          <a:lstStyle/>
          <a:p>
            <a:pPr>
              <a:defRPr/>
            </a:pPr>
            <a:endParaRPr lang="en-US" dirty="0"/>
          </a:p>
        </p:txBody>
      </p:sp>
      <p:sp>
        <p:nvSpPr>
          <p:cNvPr id="184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spcBef>
                <a:spcPct val="0"/>
              </a:spcBef>
              <a:buClrTx/>
              <a:buSzTx/>
              <a:buFontTx/>
              <a:buNone/>
            </a:pPr>
            <a:fld id="{07F7FF4F-0E7B-4174-B377-0CD16710BB37}" type="slidenum">
              <a:rPr lang="en-US" altLang="en-US" sz="1200">
                <a:solidFill>
                  <a:srgbClr val="FEFEFE"/>
                </a:solidFill>
              </a:rPr>
              <a:pPr>
                <a:spcBef>
                  <a:spcPct val="0"/>
                </a:spcBef>
                <a:buClrTx/>
                <a:buSzTx/>
                <a:buFontTx/>
                <a:buNone/>
              </a:pPr>
              <a:t>26</a:t>
            </a:fld>
            <a:endParaRPr lang="en-US" altLang="en-US" sz="1200">
              <a:solidFill>
                <a:srgbClr val="FEFEFE"/>
              </a:solidFill>
            </a:endParaRPr>
          </a:p>
        </p:txBody>
      </p:sp>
    </p:spTree>
    <p:extLst>
      <p:ext uri="{BB962C8B-B14F-4D97-AF65-F5344CB8AC3E}">
        <p14:creationId xmlns:p14="http://schemas.microsoft.com/office/powerpoint/2010/main" val="1067482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spcBef>
                <a:spcPct val="0"/>
              </a:spcBef>
              <a:buClrTx/>
              <a:buSzTx/>
              <a:buFontTx/>
              <a:buNone/>
            </a:pPr>
            <a:fld id="{E00BEAFA-98EE-40F0-965A-264BE3DDF67C}" type="slidenum">
              <a:rPr lang="en-US" altLang="en-US" sz="1200">
                <a:solidFill>
                  <a:srgbClr val="FEFEFE"/>
                </a:solidFill>
              </a:rPr>
              <a:pPr>
                <a:spcBef>
                  <a:spcPct val="0"/>
                </a:spcBef>
                <a:buClrTx/>
                <a:buSzTx/>
                <a:buFontTx/>
                <a:buNone/>
              </a:pPr>
              <a:t>27</a:t>
            </a:fld>
            <a:endParaRPr lang="en-US" altLang="en-US" sz="1200">
              <a:solidFill>
                <a:srgbClr val="FEFEFE"/>
              </a:solidFill>
            </a:endParaRPr>
          </a:p>
        </p:txBody>
      </p:sp>
      <p:grpSp>
        <p:nvGrpSpPr>
          <p:cNvPr id="19459" name="Group 10"/>
          <p:cNvGrpSpPr>
            <a:grpSpLocks/>
          </p:cNvGrpSpPr>
          <p:nvPr/>
        </p:nvGrpSpPr>
        <p:grpSpPr bwMode="auto">
          <a:xfrm>
            <a:off x="2133600" y="1447800"/>
            <a:ext cx="7391400" cy="4464050"/>
            <a:chOff x="663202" y="533400"/>
            <a:chExt cx="7860456" cy="5822950"/>
          </a:xfrm>
        </p:grpSpPr>
        <p:pic>
          <p:nvPicPr>
            <p:cNvPr id="19461" name="Picture 4" descr="EvensenResMethFig2.2.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3202" y="533400"/>
              <a:ext cx="7860456" cy="5822950"/>
            </a:xfrm>
            <a:prstGeom prst="rect">
              <a:avLst/>
            </a:prstGeom>
            <a:solidFill>
              <a:srgbClr val="009644"/>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4343400" y="1524000"/>
              <a:ext cx="334469" cy="521907"/>
            </a:xfrm>
            <a:prstGeom prst="rect">
              <a:avLst/>
            </a:prstGeom>
            <a:solidFill>
              <a:srgbClr val="00823B"/>
            </a:solidFill>
            <a:ln>
              <a:noFill/>
            </a:ln>
            <a:effectLst>
              <a:glow rad="101600">
                <a:schemeClr val="accent3">
                  <a:satMod val="175000"/>
                  <a:alpha val="40000"/>
                </a:schemeClr>
              </a:glow>
              <a:softEdge rad="12700"/>
            </a:effectLst>
            <a:scene3d>
              <a:camera prst="orthographicFront">
                <a:rot lat="0" lon="0" rev="0"/>
              </a:camera>
              <a:lightRig rig="chilly" dir="t">
                <a:rot lat="0" lon="0" rev="18480000"/>
              </a:lightRig>
            </a:scene3d>
            <a:sp3d prstMaterial="clear">
              <a:bevelT h="63500"/>
            </a:sp3d>
          </p:spPr>
          <p:txBody>
            <a:bodyPr wrap="none">
              <a:spAutoFit/>
            </a:bodyPr>
            <a:lstStyle/>
            <a:p>
              <a:pPr>
                <a:defRPr/>
              </a:pPr>
              <a:r>
                <a:rPr lang="en-US" sz="2000" b="1" dirty="0">
                  <a:cs typeface="Arial" charset="0"/>
                </a:rPr>
                <a:t>1</a:t>
              </a:r>
            </a:p>
          </p:txBody>
        </p:sp>
        <p:sp>
          <p:nvSpPr>
            <p:cNvPr id="7" name="TextBox 6"/>
            <p:cNvSpPr txBox="1"/>
            <p:nvPr/>
          </p:nvSpPr>
          <p:spPr>
            <a:xfrm>
              <a:off x="6934201" y="3124200"/>
              <a:ext cx="334469" cy="521907"/>
            </a:xfrm>
            <a:prstGeom prst="rect">
              <a:avLst/>
            </a:prstGeom>
            <a:solidFill>
              <a:srgbClr val="00823B"/>
            </a:solidFill>
            <a:ln>
              <a:noFill/>
            </a:ln>
            <a:effectLst>
              <a:glow rad="101600">
                <a:schemeClr val="accent3">
                  <a:satMod val="175000"/>
                  <a:alpha val="40000"/>
                </a:schemeClr>
              </a:glow>
              <a:softEdge rad="12700"/>
            </a:effectLst>
            <a:scene3d>
              <a:camera prst="orthographicFront">
                <a:rot lat="0" lon="0" rev="0"/>
              </a:camera>
              <a:lightRig rig="chilly" dir="t">
                <a:rot lat="0" lon="0" rev="18480000"/>
              </a:lightRig>
            </a:scene3d>
            <a:sp3d prstMaterial="clear">
              <a:bevelT h="63500"/>
            </a:sp3d>
          </p:spPr>
          <p:txBody>
            <a:bodyPr wrap="none">
              <a:spAutoFit/>
            </a:bodyPr>
            <a:lstStyle/>
            <a:p>
              <a:pPr>
                <a:defRPr/>
              </a:pPr>
              <a:r>
                <a:rPr lang="en-US" sz="2000" b="1" dirty="0">
                  <a:cs typeface="Arial" charset="0"/>
                </a:rPr>
                <a:t>2</a:t>
              </a:r>
            </a:p>
          </p:txBody>
        </p:sp>
        <p:sp>
          <p:nvSpPr>
            <p:cNvPr id="8" name="TextBox 7"/>
            <p:cNvSpPr txBox="1"/>
            <p:nvPr/>
          </p:nvSpPr>
          <p:spPr>
            <a:xfrm>
              <a:off x="5867400" y="5105400"/>
              <a:ext cx="334469" cy="521907"/>
            </a:xfrm>
            <a:prstGeom prst="rect">
              <a:avLst/>
            </a:prstGeom>
            <a:solidFill>
              <a:srgbClr val="00823B"/>
            </a:solidFill>
            <a:ln>
              <a:noFill/>
            </a:ln>
            <a:effectLst>
              <a:glow rad="101600">
                <a:schemeClr val="accent3">
                  <a:satMod val="175000"/>
                  <a:alpha val="40000"/>
                </a:schemeClr>
              </a:glow>
              <a:softEdge rad="12700"/>
            </a:effectLst>
            <a:scene3d>
              <a:camera prst="orthographicFront">
                <a:rot lat="0" lon="0" rev="0"/>
              </a:camera>
              <a:lightRig rig="chilly" dir="t">
                <a:rot lat="0" lon="0" rev="18480000"/>
              </a:lightRig>
            </a:scene3d>
            <a:sp3d prstMaterial="clear">
              <a:bevelT h="63500"/>
            </a:sp3d>
          </p:spPr>
          <p:txBody>
            <a:bodyPr wrap="none">
              <a:spAutoFit/>
            </a:bodyPr>
            <a:lstStyle/>
            <a:p>
              <a:pPr>
                <a:defRPr/>
              </a:pPr>
              <a:r>
                <a:rPr lang="en-US" sz="2000" b="1" dirty="0">
                  <a:cs typeface="Arial" charset="0"/>
                </a:rPr>
                <a:t>3</a:t>
              </a:r>
            </a:p>
          </p:txBody>
        </p:sp>
        <p:sp>
          <p:nvSpPr>
            <p:cNvPr id="9" name="TextBox 8"/>
            <p:cNvSpPr txBox="1"/>
            <p:nvPr/>
          </p:nvSpPr>
          <p:spPr>
            <a:xfrm>
              <a:off x="3114490" y="5105400"/>
              <a:ext cx="334469" cy="521907"/>
            </a:xfrm>
            <a:prstGeom prst="rect">
              <a:avLst/>
            </a:prstGeom>
            <a:solidFill>
              <a:srgbClr val="00823B"/>
            </a:solidFill>
            <a:ln>
              <a:noFill/>
            </a:ln>
            <a:effectLst>
              <a:glow rad="101600">
                <a:schemeClr val="accent3">
                  <a:satMod val="175000"/>
                  <a:alpha val="40000"/>
                </a:schemeClr>
              </a:glow>
              <a:softEdge rad="12700"/>
            </a:effectLst>
            <a:scene3d>
              <a:camera prst="orthographicFront">
                <a:rot lat="0" lon="0" rev="0"/>
              </a:camera>
              <a:lightRig rig="chilly" dir="t">
                <a:rot lat="0" lon="0" rev="18480000"/>
              </a:lightRig>
            </a:scene3d>
            <a:sp3d prstMaterial="clear">
              <a:bevelT h="63500"/>
            </a:sp3d>
          </p:spPr>
          <p:txBody>
            <a:bodyPr wrap="none">
              <a:spAutoFit/>
            </a:bodyPr>
            <a:lstStyle/>
            <a:p>
              <a:pPr>
                <a:defRPr/>
              </a:pPr>
              <a:r>
                <a:rPr lang="en-US" sz="2000" b="1" dirty="0">
                  <a:cs typeface="Arial" charset="0"/>
                </a:rPr>
                <a:t>4</a:t>
              </a:r>
            </a:p>
          </p:txBody>
        </p:sp>
        <p:sp>
          <p:nvSpPr>
            <p:cNvPr id="10" name="TextBox 9"/>
            <p:cNvSpPr txBox="1"/>
            <p:nvPr/>
          </p:nvSpPr>
          <p:spPr>
            <a:xfrm>
              <a:off x="1447800" y="3276600"/>
              <a:ext cx="334469" cy="521907"/>
            </a:xfrm>
            <a:prstGeom prst="rect">
              <a:avLst/>
            </a:prstGeom>
            <a:solidFill>
              <a:srgbClr val="00823B"/>
            </a:solidFill>
            <a:ln>
              <a:noFill/>
            </a:ln>
            <a:effectLst>
              <a:glow rad="101600">
                <a:schemeClr val="accent3">
                  <a:satMod val="175000"/>
                  <a:alpha val="40000"/>
                </a:schemeClr>
              </a:glow>
              <a:softEdge rad="12700"/>
            </a:effectLst>
            <a:scene3d>
              <a:camera prst="orthographicFront">
                <a:rot lat="0" lon="0" rev="0"/>
              </a:camera>
              <a:lightRig rig="chilly" dir="t">
                <a:rot lat="0" lon="0" rev="18480000"/>
              </a:lightRig>
            </a:scene3d>
            <a:sp3d prstMaterial="clear">
              <a:bevelT h="63500"/>
            </a:sp3d>
          </p:spPr>
          <p:txBody>
            <a:bodyPr wrap="none">
              <a:spAutoFit/>
            </a:bodyPr>
            <a:lstStyle/>
            <a:p>
              <a:pPr>
                <a:defRPr/>
              </a:pPr>
              <a:r>
                <a:rPr lang="en-US" sz="2000" b="1" dirty="0">
                  <a:cs typeface="Arial" charset="0"/>
                </a:rPr>
                <a:t>5</a:t>
              </a:r>
            </a:p>
          </p:txBody>
        </p:sp>
      </p:grpSp>
      <p:sp>
        <p:nvSpPr>
          <p:cNvPr id="12" name="Title 1"/>
          <p:cNvSpPr txBox="1">
            <a:spLocks/>
          </p:cNvSpPr>
          <p:nvPr/>
        </p:nvSpPr>
        <p:spPr>
          <a:xfrm>
            <a:off x="1301750" y="582613"/>
            <a:ext cx="8229600" cy="654050"/>
          </a:xfrm>
          <a:prstGeom prst="rect">
            <a:avLst/>
          </a:prstGeom>
        </p:spPr>
        <p:txBody>
          <a:bodyPr/>
          <a:lstStyle/>
          <a:p>
            <a:pPr algn="ctr">
              <a:defRPr/>
            </a:pPr>
            <a:r>
              <a:rPr lang="en-US" sz="3600" b="1" dirty="0">
                <a:solidFill>
                  <a:srgbClr val="002060"/>
                </a:solidFill>
                <a:latin typeface="+mj-lt"/>
                <a:ea typeface="+mj-ea"/>
                <a:cs typeface="+mj-cs"/>
              </a:rPr>
              <a:t>The Process of Research</a:t>
            </a:r>
          </a:p>
        </p:txBody>
      </p:sp>
    </p:spTree>
    <p:extLst>
      <p:ext uri="{BB962C8B-B14F-4D97-AF65-F5344CB8AC3E}">
        <p14:creationId xmlns:p14="http://schemas.microsoft.com/office/powerpoint/2010/main" val="38373253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462</TotalTime>
  <Words>1867</Words>
  <Application>Microsoft Office PowerPoint</Application>
  <PresentationFormat>Widescreen</PresentationFormat>
  <Paragraphs>176</Paragraphs>
  <Slides>27</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Bell MT</vt:lpstr>
      <vt:lpstr>Bernard MT Condensed</vt:lpstr>
      <vt:lpstr>Calibri</vt:lpstr>
      <vt:lpstr>Calibri Light</vt:lpstr>
      <vt:lpstr>Century Gothic</vt:lpstr>
      <vt:lpstr>Times New Roman</vt:lpstr>
      <vt:lpstr>Verdana</vt:lpstr>
      <vt:lpstr>Wingdings</vt:lpstr>
      <vt:lpstr>Office Theme</vt:lpstr>
      <vt:lpstr>Research Methodology</vt:lpstr>
      <vt:lpstr>Contents</vt:lpstr>
      <vt:lpstr>MEANING OF RESEARCH</vt:lpstr>
      <vt:lpstr>MEANING OF RESEARCH</vt:lpstr>
      <vt:lpstr>MEANING OF RESEARCH</vt:lpstr>
      <vt:lpstr>MEANING OF RESEARCH</vt:lpstr>
      <vt:lpstr>OBJECTIVES OF RESEARCH</vt:lpstr>
      <vt:lpstr>MOTIVATION IN RESEARCH</vt:lpstr>
      <vt:lpstr>TYPES OF RESEARCH</vt:lpstr>
      <vt:lpstr>TYPES OF RESEARCH : Descriptive vs. Analytical </vt:lpstr>
      <vt:lpstr>TYPES OF RESEARCH : Descriptive vs. Analytical </vt:lpstr>
      <vt:lpstr>TYPES OF RESEARCH : Applied vs. Fundamental</vt:lpstr>
      <vt:lpstr>TYPES OF RESEARCH : Applied vs. Fundamental</vt:lpstr>
      <vt:lpstr>TYPES OF RESEARCH : Quantitative vs. Qualitative</vt:lpstr>
      <vt:lpstr>TYPES OF RESEARCH : Quantitative vs. Qualitative</vt:lpstr>
      <vt:lpstr>TYPES OF RESEARCH : Conceptual vs. Empirical</vt:lpstr>
      <vt:lpstr>TYPES OF RESEARCH : Some Other Types of Research</vt:lpstr>
      <vt:lpstr>TYPES OF RESEARCH : Some Other Types of Research</vt:lpstr>
      <vt:lpstr>Ethics in Research</vt:lpstr>
      <vt:lpstr>What are research misconducts? </vt:lpstr>
      <vt:lpstr>TYPES OF RESEARCH Misconduct</vt:lpstr>
      <vt:lpstr>Types of Plagiarism</vt:lpstr>
      <vt:lpstr>Literature Review and Technical Reading</vt:lpstr>
      <vt:lpstr>Literature search</vt:lpstr>
      <vt:lpstr>Steps involved in a research</vt:lpstr>
      <vt:lpstr>Steps involved in a research…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Methodology</dc:title>
  <dc:creator>Admin</dc:creator>
  <cp:lastModifiedBy>ADMIN</cp:lastModifiedBy>
  <cp:revision>22</cp:revision>
  <dcterms:created xsi:type="dcterms:W3CDTF">2023-10-03T08:57:04Z</dcterms:created>
  <dcterms:modified xsi:type="dcterms:W3CDTF">2025-09-22T05:03:11Z</dcterms:modified>
</cp:coreProperties>
</file>