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300" r:id="rId3"/>
    <p:sldId id="301" r:id="rId4"/>
    <p:sldId id="302" r:id="rId5"/>
    <p:sldId id="257" r:id="rId6"/>
    <p:sldId id="303" r:id="rId7"/>
    <p:sldId id="304" r:id="rId8"/>
    <p:sldId id="305" r:id="rId9"/>
    <p:sldId id="306" r:id="rId10"/>
    <p:sldId id="312" r:id="rId11"/>
    <p:sldId id="308" r:id="rId12"/>
    <p:sldId id="307" r:id="rId13"/>
    <p:sldId id="313" r:id="rId14"/>
    <p:sldId id="309" r:id="rId15"/>
    <p:sldId id="314" r:id="rId16"/>
    <p:sldId id="310" r:id="rId17"/>
    <p:sldId id="311" r:id="rId18"/>
    <p:sldId id="315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4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43F4B-44FD-43A5-8413-696A2105957E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A299D-3896-4E2E-9ED0-B741A9257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956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5A10CFF-EFE4-4C69-A4C0-E704BD976F67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5158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AE0193-1D8A-4C5F-811D-DA1B104A87C1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29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1064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AC46A-D910-4ABF-B5E1-1163F2AB5EA8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3851-FE56-47B5-B31F-974CBC2A3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218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AC46A-D910-4ABF-B5E1-1163F2AB5EA8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3851-FE56-47B5-B31F-974CBC2A3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17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AC46A-D910-4ABF-B5E1-1163F2AB5EA8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3851-FE56-47B5-B31F-974CBC2A3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889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AC46A-D910-4ABF-B5E1-1163F2AB5EA8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3851-FE56-47B5-B31F-974CBC2A3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49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AC46A-D910-4ABF-B5E1-1163F2AB5EA8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3851-FE56-47B5-B31F-974CBC2A3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91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AC46A-D910-4ABF-B5E1-1163F2AB5EA8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3851-FE56-47B5-B31F-974CBC2A3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549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AC46A-D910-4ABF-B5E1-1163F2AB5EA8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3851-FE56-47B5-B31F-974CBC2A3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288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AC46A-D910-4ABF-B5E1-1163F2AB5EA8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3851-FE56-47B5-B31F-974CBC2A3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25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AC46A-D910-4ABF-B5E1-1163F2AB5EA8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3851-FE56-47B5-B31F-974CBC2A3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395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AC46A-D910-4ABF-B5E1-1163F2AB5EA8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3851-FE56-47B5-B31F-974CBC2A3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351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AC46A-D910-4ABF-B5E1-1163F2AB5EA8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C3851-FE56-47B5-B31F-974CBC2A3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298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AC46A-D910-4ABF-B5E1-1163F2AB5EA8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C3851-FE56-47B5-B31F-974CBC2A3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394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Research Methodology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4244975"/>
            <a:ext cx="9144000" cy="1655762"/>
          </a:xfrm>
        </p:spPr>
        <p:txBody>
          <a:bodyPr/>
          <a:lstStyle/>
          <a:p>
            <a:r>
              <a:rPr lang="en-US" dirty="0" err="1"/>
              <a:t>Akshata</a:t>
            </a:r>
            <a:r>
              <a:rPr lang="en-US" dirty="0"/>
              <a:t> S. </a:t>
            </a:r>
            <a:r>
              <a:rPr lang="en-US" dirty="0" err="1"/>
              <a:t>Bhayyar</a:t>
            </a:r>
            <a:endParaRPr lang="en-US" dirty="0"/>
          </a:p>
          <a:p>
            <a:r>
              <a:rPr lang="en-US" dirty="0"/>
              <a:t>Assistant Professor</a:t>
            </a:r>
          </a:p>
          <a:p>
            <a:r>
              <a:rPr lang="en-US" dirty="0" err="1"/>
              <a:t>Dept.of</a:t>
            </a:r>
            <a:r>
              <a:rPr lang="en-US" dirty="0"/>
              <a:t> CSE, RIT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5118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26CC1-D336-0454-8125-45C03681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FCB49-5AF3-7222-EFE9-46E1E738C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Meaning of Research, </a:t>
            </a:r>
          </a:p>
          <a:p>
            <a:r>
              <a:rPr lang="en-IN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Objectives of Research, </a:t>
            </a:r>
          </a:p>
          <a:p>
            <a:r>
              <a:rPr lang="en-IN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Types of Research, </a:t>
            </a:r>
          </a:p>
          <a:p>
            <a:r>
              <a:rPr lang="en-IN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Ethics in Research, </a:t>
            </a:r>
          </a:p>
          <a:p>
            <a:r>
              <a:rPr lang="en-IN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Types of Research Misconduct. </a:t>
            </a:r>
          </a:p>
          <a:p>
            <a:r>
              <a:rPr lang="en-IN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Literature Review and Technical Reading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304205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08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MEANING OF RESEARCH</a:t>
            </a:r>
          </a:p>
        </p:txBody>
      </p:sp>
      <p:pic>
        <p:nvPicPr>
          <p:cNvPr id="1026" name="Picture 2" descr="Meaning of research according to various scholars/ Authors ~ TANZANIA  LEARNING RESOURCES">
            <a:extLst>
              <a:ext uri="{FF2B5EF4-FFF2-40B4-BE49-F238E27FC236}">
                <a16:creationId xmlns:a16="http://schemas.microsoft.com/office/drawing/2014/main" id="{E8DCFCB5-8709-9FF7-6E30-0661638067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964" y="1827213"/>
            <a:ext cx="3938941" cy="2936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yundai Car Price, Images, Reviews and Specs | Autocar India">
            <a:extLst>
              <a:ext uri="{FF2B5EF4-FFF2-40B4-BE49-F238E27FC236}">
                <a16:creationId xmlns:a16="http://schemas.microsoft.com/office/drawing/2014/main" id="{8BCDD58B-39B1-8187-5006-5E62804F5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683" y="1135063"/>
            <a:ext cx="2628900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ite Samsung Washing Machine">
            <a:extLst>
              <a:ext uri="{FF2B5EF4-FFF2-40B4-BE49-F238E27FC236}">
                <a16:creationId xmlns:a16="http://schemas.microsoft.com/office/drawing/2014/main" id="{DC842F85-DFA8-58C9-F093-972A23A0B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570" y="397986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D80F96-C125-09EA-C308-9FB01D72C01D}"/>
              </a:ext>
            </a:extLst>
          </p:cNvPr>
          <p:cNvCxnSpPr>
            <a:endCxn id="1028" idx="1"/>
          </p:cNvCxnSpPr>
          <p:nvPr/>
        </p:nvCxnSpPr>
        <p:spPr>
          <a:xfrm flipV="1">
            <a:off x="5080000" y="2006601"/>
            <a:ext cx="3223683" cy="62371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4D938D4-1765-93B5-695B-03606005FCBD}"/>
              </a:ext>
            </a:extLst>
          </p:cNvPr>
          <p:cNvCxnSpPr>
            <a:cxnSpLocks/>
          </p:cNvCxnSpPr>
          <p:nvPr/>
        </p:nvCxnSpPr>
        <p:spPr>
          <a:xfrm>
            <a:off x="5029905" y="4027842"/>
            <a:ext cx="3273778" cy="10235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558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08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MEANING OF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2874"/>
            <a:ext cx="10515600" cy="4946297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Research in common parlance refers to a </a:t>
            </a:r>
            <a:r>
              <a:rPr lang="en-US" sz="2400" dirty="0">
                <a:solidFill>
                  <a:srgbClr val="FF0000"/>
                </a:solidFill>
              </a:rPr>
              <a:t>search for knowledge.</a:t>
            </a:r>
          </a:p>
          <a:p>
            <a:pPr algn="just"/>
            <a:r>
              <a:rPr lang="en-US" sz="2400" dirty="0"/>
              <a:t>Once can also define research as a </a:t>
            </a:r>
            <a:r>
              <a:rPr lang="en-US" sz="2400" dirty="0">
                <a:solidFill>
                  <a:srgbClr val="FF0000"/>
                </a:solidFill>
              </a:rPr>
              <a:t>scientific and systematic search </a:t>
            </a:r>
            <a:r>
              <a:rPr lang="en-US" sz="2400" dirty="0"/>
              <a:t>for pertinent information on a specific topic.</a:t>
            </a:r>
          </a:p>
          <a:p>
            <a:pPr algn="just"/>
            <a:r>
              <a:rPr lang="en-US" sz="2400" dirty="0"/>
              <a:t>A careful investigation or inquiry especially through a </a:t>
            </a:r>
            <a:r>
              <a:rPr lang="en-US" sz="2400" dirty="0">
                <a:solidFill>
                  <a:srgbClr val="FF0000"/>
                </a:solidFill>
              </a:rPr>
              <a:t>search for new facts </a:t>
            </a:r>
            <a:r>
              <a:rPr lang="en-US" sz="2400" dirty="0"/>
              <a:t>in any branch of knowledge.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1 </a:t>
            </a:r>
            <a:r>
              <a:rPr lang="en-US" sz="2400" dirty="0">
                <a:solidFill>
                  <a:srgbClr val="00B0F0"/>
                </a:solidFill>
              </a:rPr>
              <a:t>Redman and </a:t>
            </a:r>
            <a:r>
              <a:rPr lang="en-US" sz="2400" dirty="0" err="1">
                <a:solidFill>
                  <a:srgbClr val="00B0F0"/>
                </a:solidFill>
              </a:rPr>
              <a:t>Mory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/>
              <a:t>define research as a “systematized effort to gain new knowledge.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2 Some people consider research as a movement, a movement from the </a:t>
            </a:r>
            <a:r>
              <a:rPr lang="en-US" sz="2400" dirty="0">
                <a:solidFill>
                  <a:srgbClr val="FF0000"/>
                </a:solidFill>
              </a:rPr>
              <a:t>known to the unknown. </a:t>
            </a:r>
            <a:r>
              <a:rPr lang="en-US" sz="2400" dirty="0"/>
              <a:t>It is actually a voyage of discovery. </a:t>
            </a:r>
          </a:p>
        </p:txBody>
      </p:sp>
    </p:spTree>
    <p:extLst>
      <p:ext uri="{BB962C8B-B14F-4D97-AF65-F5344CB8AC3E}">
        <p14:creationId xmlns:p14="http://schemas.microsoft.com/office/powerpoint/2010/main" val="1839187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08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MEANING OF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867" y="955851"/>
            <a:ext cx="10515600" cy="4946297"/>
          </a:xfrm>
        </p:spPr>
        <p:txBody>
          <a:bodyPr>
            <a:noAutofit/>
          </a:bodyPr>
          <a:lstStyle/>
          <a:p>
            <a:pPr algn="just"/>
            <a:r>
              <a:rPr lang="en-US" sz="2400" u="sng" dirty="0">
                <a:solidFill>
                  <a:srgbClr val="FF0000"/>
                </a:solidFill>
              </a:rPr>
              <a:t>Research is an academic activity</a:t>
            </a:r>
          </a:p>
          <a:p>
            <a:pPr algn="just"/>
            <a:r>
              <a:rPr lang="en-US" sz="2400" dirty="0">
                <a:solidFill>
                  <a:srgbClr val="00B0F0"/>
                </a:solidFill>
              </a:rPr>
              <a:t>Clifford Woody </a:t>
            </a:r>
            <a:r>
              <a:rPr lang="en-US" sz="2400" dirty="0"/>
              <a:t>research comprises </a:t>
            </a:r>
          </a:p>
          <a:p>
            <a:pPr marL="801688" algn="just">
              <a:buFont typeface="Wingdings" panose="05000000000000000000" pitchFamily="2" charset="2"/>
              <a:buChar char="ü"/>
            </a:pPr>
            <a:r>
              <a:rPr lang="en-US" sz="2400" dirty="0"/>
              <a:t>Defining and redefining problems, </a:t>
            </a:r>
          </a:p>
          <a:p>
            <a:pPr marL="801688" algn="just">
              <a:buFont typeface="Wingdings" panose="05000000000000000000" pitchFamily="2" charset="2"/>
              <a:buChar char="ü"/>
            </a:pPr>
            <a:r>
              <a:rPr lang="en-US" sz="2400" dirty="0"/>
              <a:t>Formulating hypothesis or suggested solutions; </a:t>
            </a:r>
          </a:p>
          <a:p>
            <a:pPr marL="801688" algn="just">
              <a:buFont typeface="Wingdings" panose="05000000000000000000" pitchFamily="2" charset="2"/>
              <a:buChar char="ü"/>
            </a:pPr>
            <a:r>
              <a:rPr lang="en-US" sz="2400" dirty="0"/>
              <a:t>Collecting, organizing and evaluating data; </a:t>
            </a:r>
          </a:p>
          <a:p>
            <a:pPr marL="801688" algn="just">
              <a:buFont typeface="Wingdings" panose="05000000000000000000" pitchFamily="2" charset="2"/>
              <a:buChar char="ü"/>
            </a:pPr>
            <a:r>
              <a:rPr lang="en-US" sz="2400" dirty="0"/>
              <a:t>Making deductions and reaching conclusions; </a:t>
            </a:r>
          </a:p>
          <a:p>
            <a:pPr marL="801688" algn="just">
              <a:buFont typeface="Wingdings" panose="05000000000000000000" pitchFamily="2" charset="2"/>
              <a:buChar char="ü"/>
            </a:pPr>
            <a:r>
              <a:rPr lang="en-US" sz="2400" dirty="0"/>
              <a:t>and at last carefully testing the conclusions to determine whether they fit the formulating hypothesis. </a:t>
            </a:r>
          </a:p>
        </p:txBody>
      </p:sp>
    </p:spTree>
    <p:extLst>
      <p:ext uri="{BB962C8B-B14F-4D97-AF65-F5344CB8AC3E}">
        <p14:creationId xmlns:p14="http://schemas.microsoft.com/office/powerpoint/2010/main" val="1532190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08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MEANING OF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867" y="955851"/>
            <a:ext cx="10515600" cy="543366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B0F0"/>
                </a:solidFill>
              </a:rPr>
              <a:t>D. </a:t>
            </a:r>
            <a:r>
              <a:rPr lang="en-US" sz="2400" dirty="0" err="1">
                <a:solidFill>
                  <a:srgbClr val="00B0F0"/>
                </a:solidFill>
              </a:rPr>
              <a:t>Slesinger</a:t>
            </a:r>
            <a:r>
              <a:rPr lang="en-US" sz="2400" dirty="0">
                <a:solidFill>
                  <a:srgbClr val="00B0F0"/>
                </a:solidFill>
              </a:rPr>
              <a:t> and M. Stephenson </a:t>
            </a:r>
            <a:r>
              <a:rPr lang="en-US" sz="2400" dirty="0"/>
              <a:t>in the </a:t>
            </a:r>
            <a:r>
              <a:rPr lang="en-US" sz="2400" dirty="0" err="1"/>
              <a:t>Encyclopaedia</a:t>
            </a:r>
            <a:r>
              <a:rPr lang="en-US" sz="2400" dirty="0"/>
              <a:t> of Social Sciences define research as </a:t>
            </a:r>
          </a:p>
          <a:p>
            <a:pPr marL="801688" indent="-260350" algn="just">
              <a:buFont typeface="Wingdings" panose="05000000000000000000" pitchFamily="2" charset="2"/>
              <a:buChar char="ü"/>
            </a:pPr>
            <a:r>
              <a:rPr lang="en-US" sz="2400" dirty="0"/>
              <a:t>The manipulation of things, concepts, or symbols for the purpose of generalizing to extend, </a:t>
            </a:r>
          </a:p>
          <a:p>
            <a:pPr marL="801688" indent="-260350" algn="just">
              <a:buFont typeface="Wingdings" panose="05000000000000000000" pitchFamily="2" charset="2"/>
              <a:buChar char="ü"/>
            </a:pPr>
            <a:r>
              <a:rPr lang="en-US" sz="2400" dirty="0"/>
              <a:t>Correct or verify knowledge, </a:t>
            </a:r>
          </a:p>
          <a:p>
            <a:pPr marL="801688" indent="-260350" algn="just">
              <a:buFont typeface="Wingdings" panose="05000000000000000000" pitchFamily="2" charset="2"/>
              <a:buChar char="ü"/>
            </a:pPr>
            <a:r>
              <a:rPr lang="en-US" sz="2400" dirty="0"/>
              <a:t>Whether that knowledge aids in the construction of theory or in the practice of an art.”</a:t>
            </a:r>
          </a:p>
          <a:p>
            <a:pPr algn="just"/>
            <a:r>
              <a:rPr lang="en-US" sz="2400" dirty="0"/>
              <a:t>Research is, thus, an </a:t>
            </a:r>
            <a:r>
              <a:rPr lang="en-US" sz="2400" dirty="0">
                <a:solidFill>
                  <a:srgbClr val="FF0000"/>
                </a:solidFill>
              </a:rPr>
              <a:t>original contribution </a:t>
            </a:r>
            <a:r>
              <a:rPr lang="en-US" sz="2400" dirty="0"/>
              <a:t>to the existing stock of knowledge making for its advancement. </a:t>
            </a:r>
          </a:p>
          <a:p>
            <a:pPr lvl="1" algn="just"/>
            <a:r>
              <a:rPr lang="en-US" sz="2200" dirty="0"/>
              <a:t>It is the pursuit of truth with the help of study, observation, comparison and experiment. </a:t>
            </a:r>
          </a:p>
        </p:txBody>
      </p:sp>
    </p:spTree>
    <p:extLst>
      <p:ext uri="{BB962C8B-B14F-4D97-AF65-F5344CB8AC3E}">
        <p14:creationId xmlns:p14="http://schemas.microsoft.com/office/powerpoint/2010/main" val="3553499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08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OBJECTIVES OF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178" y="1193977"/>
            <a:ext cx="10515600" cy="543366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purpose of research </a:t>
            </a:r>
            <a:r>
              <a:rPr lang="en-US" sz="2400" dirty="0"/>
              <a:t>is to discover </a:t>
            </a:r>
            <a:r>
              <a:rPr lang="en-US" sz="2400" dirty="0">
                <a:solidFill>
                  <a:srgbClr val="00B0F0"/>
                </a:solidFill>
              </a:rPr>
              <a:t>answers to questions </a:t>
            </a:r>
            <a:r>
              <a:rPr lang="en-US" sz="2400" dirty="0"/>
              <a:t>through the application of scientific procedures. </a:t>
            </a:r>
          </a:p>
          <a:p>
            <a:pPr algn="just"/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main aim </a:t>
            </a:r>
            <a:r>
              <a:rPr lang="en-US" sz="2400" dirty="0"/>
              <a:t>of research is to </a:t>
            </a:r>
            <a:r>
              <a:rPr lang="en-US" sz="2400" dirty="0">
                <a:solidFill>
                  <a:srgbClr val="00B0F0"/>
                </a:solidFill>
              </a:rPr>
              <a:t>find out the truth </a:t>
            </a:r>
            <a:r>
              <a:rPr lang="en-US" sz="2400" dirty="0"/>
              <a:t>which is hidden and which has not been discovered as yet. </a:t>
            </a:r>
          </a:p>
          <a:p>
            <a:pPr algn="just"/>
            <a:r>
              <a:rPr lang="en-US" sz="2400" dirty="0"/>
              <a:t>Though each research study has its own specific purpose, we may think of research objectives as falling into a number of following broad groupings:</a:t>
            </a:r>
          </a:p>
          <a:p>
            <a:pPr marL="541338" indent="0" algn="just">
              <a:buNone/>
            </a:pPr>
            <a:r>
              <a:rPr lang="en-US" sz="2000" dirty="0"/>
              <a:t>1. To gain familiarity with a phenomenon or to achieve new insights into it (studies with this object in view are termed as exploratory or formative research studies); </a:t>
            </a:r>
          </a:p>
          <a:p>
            <a:pPr marL="541338" indent="0" algn="just">
              <a:buNone/>
            </a:pPr>
            <a:r>
              <a:rPr lang="en-US" sz="2000" dirty="0"/>
              <a:t>2. To portray accurately the characteristics of a particular individual, situation or a group (studies with this object in view are known as descriptive research studies); </a:t>
            </a:r>
          </a:p>
          <a:p>
            <a:pPr marL="541338" indent="0" algn="just">
              <a:buNone/>
            </a:pPr>
            <a:r>
              <a:rPr lang="en-US" sz="2000" dirty="0"/>
              <a:t>3. To determine the frequency with which something occurs or with which it is associated with something else (studies with this object in view are known as diagnostic research studies); </a:t>
            </a:r>
          </a:p>
          <a:p>
            <a:pPr marL="541338" indent="0" algn="just">
              <a:buNone/>
            </a:pPr>
            <a:r>
              <a:rPr lang="en-US" sz="2000" dirty="0"/>
              <a:t>4. To test a hypothesis of a causal relationship between variables (such studies are known as hypothesis-testing research studies)</a:t>
            </a:r>
          </a:p>
        </p:txBody>
      </p:sp>
    </p:spTree>
    <p:extLst>
      <p:ext uri="{BB962C8B-B14F-4D97-AF65-F5344CB8AC3E}">
        <p14:creationId xmlns:p14="http://schemas.microsoft.com/office/powerpoint/2010/main" val="128108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08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MOTIVATION IN RESEARCH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178" y="1193977"/>
            <a:ext cx="10515600" cy="543366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The possible motives for doing research may be either one or more of the following: </a:t>
            </a:r>
          </a:p>
          <a:p>
            <a:pPr marL="0" indent="0" algn="just">
              <a:buNone/>
            </a:pPr>
            <a:r>
              <a:rPr lang="en-US" sz="2400" dirty="0"/>
              <a:t>1. Desire to </a:t>
            </a:r>
            <a:r>
              <a:rPr lang="en-US" sz="2400" dirty="0">
                <a:solidFill>
                  <a:srgbClr val="FF0000"/>
                </a:solidFill>
              </a:rPr>
              <a:t>get a research degree </a:t>
            </a:r>
            <a:r>
              <a:rPr lang="en-US" sz="2400" dirty="0"/>
              <a:t>along with its consequential benefits; </a:t>
            </a:r>
          </a:p>
          <a:p>
            <a:pPr marL="0" indent="0" algn="just">
              <a:buNone/>
            </a:pPr>
            <a:r>
              <a:rPr lang="en-US" sz="2400" dirty="0"/>
              <a:t>2. Desire to face the challenge in </a:t>
            </a:r>
            <a:r>
              <a:rPr lang="en-US" sz="2400" dirty="0">
                <a:solidFill>
                  <a:srgbClr val="FF0000"/>
                </a:solidFill>
              </a:rPr>
              <a:t>solving the unsolved problems</a:t>
            </a:r>
            <a:r>
              <a:rPr lang="en-US" sz="2400" dirty="0"/>
              <a:t>, i.e., concern over practical problems initiates research; </a:t>
            </a:r>
          </a:p>
          <a:p>
            <a:pPr marL="0" indent="0" algn="just">
              <a:buNone/>
            </a:pPr>
            <a:r>
              <a:rPr lang="en-US" sz="2400" dirty="0"/>
              <a:t>3. Desire to get </a:t>
            </a:r>
            <a:r>
              <a:rPr lang="en-US" sz="2400" dirty="0">
                <a:solidFill>
                  <a:srgbClr val="FF0000"/>
                </a:solidFill>
              </a:rPr>
              <a:t>intellectual joy</a:t>
            </a:r>
            <a:r>
              <a:rPr lang="en-US" sz="2400" dirty="0"/>
              <a:t> of doing some creative work</a:t>
            </a:r>
          </a:p>
          <a:p>
            <a:pPr marL="0" indent="0" algn="just">
              <a:buNone/>
            </a:pPr>
            <a:r>
              <a:rPr lang="en-US" sz="2400" dirty="0"/>
              <a:t>4. Desire to be of </a:t>
            </a:r>
            <a:r>
              <a:rPr lang="en-US" sz="2400" dirty="0">
                <a:solidFill>
                  <a:srgbClr val="FF0000"/>
                </a:solidFill>
              </a:rPr>
              <a:t>service to society </a:t>
            </a:r>
          </a:p>
          <a:p>
            <a:pPr marL="0" indent="0" algn="just">
              <a:buNone/>
            </a:pPr>
            <a:r>
              <a:rPr lang="en-US" sz="2400" dirty="0"/>
              <a:t>5. Desire to get </a:t>
            </a:r>
            <a:r>
              <a:rPr lang="en-US" sz="2400" dirty="0">
                <a:solidFill>
                  <a:srgbClr val="FF0000"/>
                </a:solidFill>
              </a:rPr>
              <a:t>respectability</a:t>
            </a:r>
          </a:p>
        </p:txBody>
      </p:sp>
    </p:spTree>
    <p:extLst>
      <p:ext uri="{BB962C8B-B14F-4D97-AF65-F5344CB8AC3E}">
        <p14:creationId xmlns:p14="http://schemas.microsoft.com/office/powerpoint/2010/main" val="1089014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08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TYPES OF RESEARCH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178" y="1193977"/>
            <a:ext cx="10515600" cy="543366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The basic types of research are as follows: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/>
              <a:t>Descriptive vs. Analytical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/>
              <a:t>Applied vs. Fundamental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/>
              <a:t>Quantitative vs. Qualitative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/>
              <a:t>Conceptual vs. Empirical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Some Other Types of Research</a:t>
            </a:r>
          </a:p>
        </p:txBody>
      </p:sp>
    </p:spTree>
    <p:extLst>
      <p:ext uri="{BB962C8B-B14F-4D97-AF65-F5344CB8AC3E}">
        <p14:creationId xmlns:p14="http://schemas.microsoft.com/office/powerpoint/2010/main" val="3925380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0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TYPES OF RESEARCH : </a:t>
            </a:r>
            <a:r>
              <a:rPr lang="en-IN" sz="4400" dirty="0"/>
              <a:t>Descriptive vs. Analytical</a:t>
            </a:r>
            <a:br>
              <a:rPr lang="en-IN" sz="4400" dirty="0"/>
            </a:br>
            <a:endParaRPr lang="en-IN" b="1" dirty="0"/>
          </a:p>
        </p:txBody>
      </p:sp>
      <p:pic>
        <p:nvPicPr>
          <p:cNvPr id="1026" name="Picture 2" descr="Descriptive and Analytical Research: What's the Difference? - Cogentica">
            <a:extLst>
              <a:ext uri="{FF2B5EF4-FFF2-40B4-BE49-F238E27FC236}">
                <a16:creationId xmlns:a16="http://schemas.microsoft.com/office/drawing/2014/main" id="{400D8A1E-07AF-FD9E-20BD-E2D0132466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488" y="1456268"/>
            <a:ext cx="8274755" cy="405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2500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0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TYPES OF RESEARCH : </a:t>
            </a:r>
            <a:r>
              <a:rPr lang="en-IN" sz="4400" dirty="0"/>
              <a:t>Descriptive vs. Analytical</a:t>
            </a:r>
            <a:br>
              <a:rPr lang="en-IN" sz="4400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444" y="877888"/>
            <a:ext cx="10515600" cy="543366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Descriptive research includes </a:t>
            </a:r>
            <a:r>
              <a:rPr lang="en-US" sz="2400" dirty="0">
                <a:solidFill>
                  <a:srgbClr val="FF0000"/>
                </a:solidFill>
              </a:rPr>
              <a:t>surveys</a:t>
            </a:r>
            <a:r>
              <a:rPr lang="en-US" sz="2400" dirty="0"/>
              <a:t> and fact-finding </a:t>
            </a:r>
            <a:r>
              <a:rPr lang="en-US" sz="2400" dirty="0">
                <a:solidFill>
                  <a:srgbClr val="FF0000"/>
                </a:solidFill>
              </a:rPr>
              <a:t>inquiries of different kinds.</a:t>
            </a:r>
          </a:p>
          <a:p>
            <a:pPr algn="just"/>
            <a:r>
              <a:rPr lang="en-US" sz="2400" dirty="0"/>
              <a:t> The major purpose of descriptive research is description of the state of affairs as </a:t>
            </a:r>
            <a:r>
              <a:rPr lang="en-US" sz="2400" dirty="0">
                <a:solidFill>
                  <a:srgbClr val="FF0000"/>
                </a:solidFill>
              </a:rPr>
              <a:t>it exists at present.</a:t>
            </a:r>
            <a:endParaRPr lang="en-US" sz="2400" dirty="0"/>
          </a:p>
          <a:p>
            <a:pPr algn="just"/>
            <a:r>
              <a:rPr lang="en-US" sz="2400" dirty="0"/>
              <a:t>The main characteristic of this method is that the researcher has </a:t>
            </a:r>
            <a:r>
              <a:rPr lang="en-US" sz="2400" dirty="0">
                <a:solidFill>
                  <a:srgbClr val="FF0000"/>
                </a:solidFill>
              </a:rPr>
              <a:t>no control over the variables</a:t>
            </a:r>
            <a:r>
              <a:rPr lang="en-US" sz="2400" dirty="0"/>
              <a:t>; he can only </a:t>
            </a:r>
            <a:r>
              <a:rPr lang="en-US" sz="2400" dirty="0">
                <a:solidFill>
                  <a:srgbClr val="00B0F0"/>
                </a:solidFill>
              </a:rPr>
              <a:t>report what has happened </a:t>
            </a:r>
            <a:r>
              <a:rPr lang="en-US" sz="2400" dirty="0"/>
              <a:t>or what is happening. </a:t>
            </a:r>
          </a:p>
          <a:p>
            <a:pPr algn="just"/>
            <a:r>
              <a:rPr lang="en-US" sz="2400" dirty="0"/>
              <a:t>Most </a:t>
            </a:r>
            <a:r>
              <a:rPr lang="en-US" sz="2400" dirty="0">
                <a:solidFill>
                  <a:srgbClr val="FF0000"/>
                </a:solidFill>
              </a:rPr>
              <a:t>ex post facto research projects </a:t>
            </a:r>
            <a:r>
              <a:rPr lang="en-US" sz="2400" dirty="0"/>
              <a:t>are used for descriptive studies in which the researcher seeks to measure such items as, </a:t>
            </a:r>
            <a:r>
              <a:rPr lang="en-US" sz="2400" b="1" dirty="0">
                <a:solidFill>
                  <a:srgbClr val="00B0F0"/>
                </a:solidFill>
              </a:rPr>
              <a:t>for example</a:t>
            </a:r>
            <a:r>
              <a:rPr lang="en-US" sz="2400" dirty="0"/>
              <a:t>, frequency of shopping, preferences of people, or similar data.</a:t>
            </a:r>
          </a:p>
          <a:p>
            <a:pPr algn="just"/>
            <a:r>
              <a:rPr lang="en-US" sz="2400" dirty="0"/>
              <a:t> Ex post facto studies also include attempts by researchers to </a:t>
            </a:r>
            <a:r>
              <a:rPr lang="en-US" sz="2400" dirty="0">
                <a:solidFill>
                  <a:srgbClr val="FF0000"/>
                </a:solidFill>
              </a:rPr>
              <a:t>discover causes </a:t>
            </a:r>
            <a:r>
              <a:rPr lang="en-US" sz="2400" dirty="0"/>
              <a:t>even when they cannot control the variables. </a:t>
            </a:r>
          </a:p>
          <a:p>
            <a:pPr algn="just"/>
            <a:r>
              <a:rPr lang="en-US" sz="2400" dirty="0"/>
              <a:t>The methods of research utilized in descriptive research are </a:t>
            </a:r>
            <a:r>
              <a:rPr lang="en-US" sz="2400" dirty="0">
                <a:solidFill>
                  <a:srgbClr val="FF0000"/>
                </a:solidFill>
              </a:rPr>
              <a:t>survey methods </a:t>
            </a:r>
            <a:r>
              <a:rPr lang="en-US" sz="2400" dirty="0"/>
              <a:t>of all kinds, including </a:t>
            </a:r>
            <a:r>
              <a:rPr lang="en-US" sz="2400" dirty="0">
                <a:solidFill>
                  <a:srgbClr val="00B0F0"/>
                </a:solidFill>
              </a:rPr>
              <a:t>comparative and correlational methods</a:t>
            </a:r>
            <a:r>
              <a:rPr lang="en-US" sz="2400" dirty="0"/>
              <a:t>. 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</a:rPr>
              <a:t>In analytical research, </a:t>
            </a:r>
            <a:r>
              <a:rPr lang="en-US" sz="2400" dirty="0"/>
              <a:t>on the other hand, the researcher has to use facts or information already available and analyze these to make a </a:t>
            </a:r>
            <a:r>
              <a:rPr lang="en-US" sz="2400" dirty="0">
                <a:solidFill>
                  <a:srgbClr val="00B0F0"/>
                </a:solidFill>
              </a:rPr>
              <a:t>critical evaluation of the material.</a:t>
            </a:r>
          </a:p>
        </p:txBody>
      </p:sp>
    </p:spTree>
    <p:extLst>
      <p:ext uri="{BB962C8B-B14F-4D97-AF65-F5344CB8AC3E}">
        <p14:creationId xmlns:p14="http://schemas.microsoft.com/office/powerpoint/2010/main" val="865952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244" y="-7408"/>
            <a:ext cx="10992556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TYPES OF RESEARCH : Applied vs. Fundamental</a:t>
            </a:r>
            <a:endParaRPr lang="en-IN" b="1" dirty="0"/>
          </a:p>
        </p:txBody>
      </p:sp>
      <p:pic>
        <p:nvPicPr>
          <p:cNvPr id="2050" name="Picture 2" descr="Basic Research: What it is with examples | QuestionPro">
            <a:extLst>
              <a:ext uri="{FF2B5EF4-FFF2-40B4-BE49-F238E27FC236}">
                <a16:creationId xmlns:a16="http://schemas.microsoft.com/office/drawing/2014/main" id="{FCF18800-9A45-B9C6-C7F0-C8892A6058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081088"/>
            <a:ext cx="5046133" cy="543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pplied Research: Definition, Types &amp; Examples | QuestionPro">
            <a:extLst>
              <a:ext uri="{FF2B5EF4-FFF2-40B4-BE49-F238E27FC236}">
                <a16:creationId xmlns:a16="http://schemas.microsoft.com/office/drawing/2014/main" id="{B1882CE9-9526-1CAE-56F6-6A478B0F6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14" y="1318155"/>
            <a:ext cx="5222698" cy="519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756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244" y="-7408"/>
            <a:ext cx="10992556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TYPES OF RESEARCH : Applied vs. Fundamental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244" y="1081088"/>
            <a:ext cx="10992556" cy="543366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Applied research </a:t>
            </a:r>
            <a:r>
              <a:rPr lang="en-US" sz="2400" dirty="0"/>
              <a:t>aims at </a:t>
            </a:r>
            <a:r>
              <a:rPr lang="en-US" sz="2400" dirty="0">
                <a:solidFill>
                  <a:srgbClr val="00B0F0"/>
                </a:solidFill>
              </a:rPr>
              <a:t>finding a solution</a:t>
            </a:r>
            <a:r>
              <a:rPr lang="en-US" sz="2400" dirty="0"/>
              <a:t> for an immediate problem facing a society or an industrial/business organization, whereas </a:t>
            </a:r>
            <a:r>
              <a:rPr lang="en-US" sz="2400" dirty="0">
                <a:solidFill>
                  <a:srgbClr val="FF0000"/>
                </a:solidFill>
              </a:rPr>
              <a:t>fundamental research </a:t>
            </a:r>
            <a:r>
              <a:rPr lang="en-US" sz="2400" dirty="0"/>
              <a:t>is mainly concerned with generalizations and the </a:t>
            </a:r>
            <a:r>
              <a:rPr lang="en-US" sz="2400" dirty="0">
                <a:solidFill>
                  <a:srgbClr val="0070C0"/>
                </a:solidFill>
              </a:rPr>
              <a:t>formulation of a theory</a:t>
            </a:r>
            <a:r>
              <a:rPr lang="en-US" sz="2400" dirty="0"/>
              <a:t>. </a:t>
            </a:r>
          </a:p>
          <a:p>
            <a:pPr lvl="1" algn="just"/>
            <a:r>
              <a:rPr lang="en-US" sz="2000" b="1" dirty="0"/>
              <a:t>Example: </a:t>
            </a:r>
            <a:r>
              <a:rPr lang="en-US" sz="2000" dirty="0"/>
              <a:t>Research concerning some </a:t>
            </a:r>
            <a:r>
              <a:rPr lang="en-US" sz="2000" dirty="0">
                <a:solidFill>
                  <a:srgbClr val="FF0000"/>
                </a:solidFill>
              </a:rPr>
              <a:t>natural phenomenon </a:t>
            </a:r>
            <a:r>
              <a:rPr lang="en-US" sz="2000" dirty="0"/>
              <a:t>or relating to </a:t>
            </a:r>
            <a:r>
              <a:rPr lang="en-US" sz="2000" dirty="0">
                <a:solidFill>
                  <a:srgbClr val="FF0000"/>
                </a:solidFill>
              </a:rPr>
              <a:t>pure mathematics</a:t>
            </a:r>
            <a:r>
              <a:rPr lang="en-US" sz="2000" dirty="0"/>
              <a:t> are examples of </a:t>
            </a:r>
            <a:r>
              <a:rPr lang="en-US" sz="2000" dirty="0">
                <a:solidFill>
                  <a:srgbClr val="00B0F0"/>
                </a:solidFill>
              </a:rPr>
              <a:t>fundamental research. </a:t>
            </a:r>
          </a:p>
          <a:p>
            <a:pPr lvl="1" algn="just"/>
            <a:r>
              <a:rPr lang="en-US" sz="2000" b="1" dirty="0"/>
              <a:t>Example: </a:t>
            </a:r>
            <a:r>
              <a:rPr lang="en-US" sz="2000" dirty="0"/>
              <a:t>research studies, concerning </a:t>
            </a:r>
            <a:r>
              <a:rPr lang="en-US" sz="2000" dirty="0">
                <a:solidFill>
                  <a:srgbClr val="FF0000"/>
                </a:solidFill>
              </a:rPr>
              <a:t>human </a:t>
            </a:r>
            <a:r>
              <a:rPr lang="en-US" sz="2000" dirty="0" err="1">
                <a:solidFill>
                  <a:srgbClr val="FF0000"/>
                </a:solidFill>
              </a:rPr>
              <a:t>behaviour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carried on with a view to making </a:t>
            </a:r>
            <a:r>
              <a:rPr lang="en-US" sz="2000" dirty="0">
                <a:solidFill>
                  <a:srgbClr val="00B0F0"/>
                </a:solidFill>
              </a:rPr>
              <a:t>generalizations about human behavior</a:t>
            </a:r>
            <a:r>
              <a:rPr lang="en-US" sz="2000" dirty="0"/>
              <a:t>, are also examples of fundamental research, but research </a:t>
            </a:r>
            <a:r>
              <a:rPr lang="en-US" sz="2000" dirty="0">
                <a:solidFill>
                  <a:srgbClr val="FF0000"/>
                </a:solidFill>
              </a:rPr>
              <a:t>aimed at certain conclusions </a:t>
            </a:r>
            <a:r>
              <a:rPr lang="en-US" sz="2000" dirty="0"/>
              <a:t>(say, a solution) facing a concrete social or business problem is an example of </a:t>
            </a:r>
            <a:r>
              <a:rPr lang="en-US" sz="2000" dirty="0">
                <a:solidFill>
                  <a:srgbClr val="00B0F0"/>
                </a:solidFill>
              </a:rPr>
              <a:t>applied research. </a:t>
            </a:r>
          </a:p>
          <a:p>
            <a:pPr lvl="1" algn="just"/>
            <a:r>
              <a:rPr lang="en-US" sz="2000" b="1" dirty="0"/>
              <a:t>Example: </a:t>
            </a:r>
            <a:r>
              <a:rPr lang="en-US" sz="2000" dirty="0"/>
              <a:t>Research to </a:t>
            </a:r>
            <a:r>
              <a:rPr lang="en-US" sz="2000" dirty="0">
                <a:solidFill>
                  <a:srgbClr val="FF0000"/>
                </a:solidFill>
              </a:rPr>
              <a:t>identify social, economic or political trends </a:t>
            </a:r>
            <a:r>
              <a:rPr lang="en-US" sz="2000" dirty="0"/>
              <a:t>that may affect a particular institution or copy research marketing research or evaluation research are examples of </a:t>
            </a:r>
            <a:r>
              <a:rPr lang="en-US" sz="2000" dirty="0">
                <a:solidFill>
                  <a:srgbClr val="00B0F0"/>
                </a:solidFill>
              </a:rPr>
              <a:t>applied research. </a:t>
            </a:r>
          </a:p>
          <a:p>
            <a:pPr algn="just"/>
            <a:r>
              <a:rPr lang="en-US" sz="2400" dirty="0"/>
              <a:t>Thus, the central aim of </a:t>
            </a:r>
            <a:r>
              <a:rPr lang="en-US" sz="2400" dirty="0">
                <a:solidFill>
                  <a:srgbClr val="FF0000"/>
                </a:solidFill>
              </a:rPr>
              <a:t>applied research </a:t>
            </a:r>
            <a:r>
              <a:rPr lang="en-US" sz="2400" dirty="0"/>
              <a:t>is to discover a solution for some pressing practical problem, whereas </a:t>
            </a:r>
            <a:r>
              <a:rPr lang="en-US" sz="2400" dirty="0">
                <a:solidFill>
                  <a:srgbClr val="FF0000"/>
                </a:solidFill>
              </a:rPr>
              <a:t>basic research </a:t>
            </a:r>
            <a:r>
              <a:rPr lang="en-US" sz="2400" dirty="0"/>
              <a:t>is directed towards finding information that has a broad base of applications and thus, adds to the already existing organized body of scientific knowledge</a:t>
            </a:r>
          </a:p>
        </p:txBody>
      </p:sp>
    </p:spTree>
    <p:extLst>
      <p:ext uri="{BB962C8B-B14F-4D97-AF65-F5344CB8AC3E}">
        <p14:creationId xmlns:p14="http://schemas.microsoft.com/office/powerpoint/2010/main" val="3698470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0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TYPES OF RESEARCH : Quantitative vs. Qualitative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7" y="2508789"/>
            <a:ext cx="10732911" cy="3738716"/>
          </a:xfrm>
        </p:spPr>
        <p:txBody>
          <a:bodyPr>
            <a:noAutofit/>
          </a:bodyPr>
          <a:lstStyle/>
          <a:p>
            <a:pPr algn="just"/>
            <a:endParaRPr lang="en-US" sz="2400" dirty="0"/>
          </a:p>
        </p:txBody>
      </p:sp>
      <p:pic>
        <p:nvPicPr>
          <p:cNvPr id="3074" name="Picture 2" descr="Qualitative vs Quantitative Research: Differences and Examples | QuestionPro">
            <a:extLst>
              <a:ext uri="{FF2B5EF4-FFF2-40B4-BE49-F238E27FC236}">
                <a16:creationId xmlns:a16="http://schemas.microsoft.com/office/drawing/2014/main" id="{A1189F35-00C8-3246-CB51-6913380D5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45" y="1318155"/>
            <a:ext cx="11663010" cy="471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035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0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TYPES OF RESEARCH : Quantitative vs. Qualitative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7" y="1193977"/>
            <a:ext cx="10732911" cy="543366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Quantitative research </a:t>
            </a:r>
            <a:r>
              <a:rPr lang="en-US" sz="2400" dirty="0"/>
              <a:t>is based on the </a:t>
            </a:r>
            <a:r>
              <a:rPr lang="en-US" sz="2400" dirty="0">
                <a:solidFill>
                  <a:srgbClr val="00B0F0"/>
                </a:solidFill>
              </a:rPr>
              <a:t>measurement of quantity or amount</a:t>
            </a:r>
            <a:r>
              <a:rPr lang="en-US" sz="2400" dirty="0"/>
              <a:t>. 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Qualitative research</a:t>
            </a:r>
            <a:r>
              <a:rPr lang="en-US" sz="2400" dirty="0"/>
              <a:t>, on the other hand, is concerned with </a:t>
            </a:r>
            <a:r>
              <a:rPr lang="en-US" sz="2400" dirty="0">
                <a:solidFill>
                  <a:srgbClr val="00B0F0"/>
                </a:solidFill>
              </a:rPr>
              <a:t>qualitative phenomenon</a:t>
            </a:r>
            <a:r>
              <a:rPr lang="en-US" sz="2400" dirty="0"/>
              <a:t>, i.e., phenomena relating to or involving quality or kind. </a:t>
            </a:r>
          </a:p>
          <a:p>
            <a:pPr lvl="1" algn="just"/>
            <a:r>
              <a:rPr lang="en-US" sz="2000" dirty="0"/>
              <a:t>For instance, when we are interested in investigating the </a:t>
            </a:r>
            <a:r>
              <a:rPr lang="en-US" sz="2000" dirty="0">
                <a:solidFill>
                  <a:srgbClr val="FF0000"/>
                </a:solidFill>
              </a:rPr>
              <a:t>reasons for human behavior </a:t>
            </a:r>
            <a:r>
              <a:rPr lang="en-US" sz="2000" dirty="0"/>
              <a:t>(qualitative research)</a:t>
            </a:r>
          </a:p>
          <a:p>
            <a:pPr lvl="1" algn="just"/>
            <a:r>
              <a:rPr lang="en-US" sz="2000" dirty="0"/>
              <a:t>This type of research aims at discovering the </a:t>
            </a:r>
            <a:r>
              <a:rPr lang="en-US" sz="2000" dirty="0">
                <a:solidFill>
                  <a:srgbClr val="FF0000"/>
                </a:solidFill>
              </a:rPr>
              <a:t>underlying motives and desires</a:t>
            </a:r>
            <a:r>
              <a:rPr lang="en-US" sz="2000" dirty="0"/>
              <a:t>, using in-depth interviews for the purpose. </a:t>
            </a:r>
          </a:p>
          <a:p>
            <a:pPr algn="just"/>
            <a:r>
              <a:rPr lang="en-US" sz="2400" dirty="0"/>
              <a:t>Other techniques of such research are </a:t>
            </a:r>
            <a:r>
              <a:rPr lang="en-US" sz="2400" dirty="0">
                <a:solidFill>
                  <a:srgbClr val="00B050"/>
                </a:solidFill>
              </a:rPr>
              <a:t>word association tests, sentence completion tests, story completion tests, </a:t>
            </a:r>
            <a:r>
              <a:rPr lang="en-US" sz="2400" dirty="0"/>
              <a:t>and similar other projective techniques.</a:t>
            </a:r>
          </a:p>
          <a:p>
            <a:pPr algn="just"/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Attitude or opinion research </a:t>
            </a:r>
            <a:r>
              <a:rPr lang="en-US" sz="2400" dirty="0"/>
              <a:t>i.e., research designed to find out how people feel or what they think about a </a:t>
            </a:r>
            <a:r>
              <a:rPr lang="en-US" sz="2400" dirty="0">
                <a:solidFill>
                  <a:srgbClr val="00B0F0"/>
                </a:solidFill>
              </a:rPr>
              <a:t>particular subject </a:t>
            </a:r>
            <a:r>
              <a:rPr lang="en-US" sz="2400" dirty="0"/>
              <a:t>or institution is also qualitative research.</a:t>
            </a:r>
          </a:p>
          <a:p>
            <a:pPr algn="just"/>
            <a:r>
              <a:rPr lang="en-US" sz="2400" dirty="0"/>
              <a:t>Through such research we can </a:t>
            </a:r>
            <a:r>
              <a:rPr lang="en-US" sz="2400" dirty="0" err="1"/>
              <a:t>analyse</a:t>
            </a:r>
            <a:r>
              <a:rPr lang="en-US" sz="2400" dirty="0"/>
              <a:t> the various factors which motivate people to </a:t>
            </a:r>
            <a:r>
              <a:rPr lang="en-US" sz="2400" dirty="0">
                <a:solidFill>
                  <a:srgbClr val="FF0000"/>
                </a:solidFill>
              </a:rPr>
              <a:t>behave in a particular manner </a:t>
            </a:r>
            <a:r>
              <a:rPr lang="en-US" sz="2400" dirty="0"/>
              <a:t>or which make people </a:t>
            </a:r>
            <a:r>
              <a:rPr lang="en-US" sz="2400" dirty="0">
                <a:solidFill>
                  <a:srgbClr val="FF0000"/>
                </a:solidFill>
              </a:rPr>
              <a:t>like or dislike </a:t>
            </a:r>
            <a:r>
              <a:rPr lang="en-US" sz="2400" dirty="0"/>
              <a:t>a particular thing. </a:t>
            </a:r>
          </a:p>
          <a:p>
            <a:pPr algn="just"/>
            <a:r>
              <a:rPr lang="en-US" sz="2400" dirty="0"/>
              <a:t>one should seek guidance from </a:t>
            </a:r>
            <a:r>
              <a:rPr lang="en-US" sz="2400" dirty="0">
                <a:solidFill>
                  <a:srgbClr val="FF0000"/>
                </a:solidFill>
              </a:rPr>
              <a:t>experimental psychologists.</a:t>
            </a:r>
          </a:p>
        </p:txBody>
      </p:sp>
    </p:spTree>
    <p:extLst>
      <p:ext uri="{BB962C8B-B14F-4D97-AF65-F5344CB8AC3E}">
        <p14:creationId xmlns:p14="http://schemas.microsoft.com/office/powerpoint/2010/main" val="3491671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889" y="-7408"/>
            <a:ext cx="10732911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TYPES OF RESEARCH : Conceptual vs. Empirical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93977"/>
            <a:ext cx="10969978" cy="543366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Conceptual research </a:t>
            </a:r>
            <a:r>
              <a:rPr lang="en-US" sz="2400" dirty="0"/>
              <a:t>is that related to some </a:t>
            </a:r>
            <a:r>
              <a:rPr lang="en-US" sz="2400" dirty="0">
                <a:solidFill>
                  <a:srgbClr val="00B0F0"/>
                </a:solidFill>
              </a:rPr>
              <a:t>abstract idea(s) or theory. </a:t>
            </a:r>
          </a:p>
          <a:p>
            <a:pPr lvl="1" algn="just"/>
            <a:r>
              <a:rPr lang="en-US" sz="2000" dirty="0"/>
              <a:t>It is generally used by </a:t>
            </a:r>
            <a:r>
              <a:rPr lang="en-US" sz="2000" dirty="0">
                <a:solidFill>
                  <a:srgbClr val="00B0F0"/>
                </a:solidFill>
              </a:rPr>
              <a:t>philosophers and thinkers </a:t>
            </a:r>
            <a:r>
              <a:rPr lang="en-US" sz="2000" dirty="0"/>
              <a:t>to develop </a:t>
            </a:r>
            <a:r>
              <a:rPr lang="en-US" sz="2000" dirty="0">
                <a:solidFill>
                  <a:srgbClr val="FF0000"/>
                </a:solidFill>
              </a:rPr>
              <a:t>new concepts </a:t>
            </a:r>
            <a:r>
              <a:rPr lang="en-US" sz="2000" dirty="0"/>
              <a:t>or to reinterpret existing ones. </a:t>
            </a:r>
          </a:p>
          <a:p>
            <a:pPr marL="457200" lvl="1" indent="0" algn="just">
              <a:buNone/>
            </a:pPr>
            <a:endParaRPr lang="en-US" sz="2000" dirty="0"/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Empirical research </a:t>
            </a:r>
            <a:r>
              <a:rPr lang="en-US" sz="2400" dirty="0"/>
              <a:t>relies on </a:t>
            </a:r>
            <a:r>
              <a:rPr lang="en-US" sz="2400" dirty="0">
                <a:solidFill>
                  <a:srgbClr val="00B0F0"/>
                </a:solidFill>
              </a:rPr>
              <a:t>experience or observation alone, </a:t>
            </a:r>
            <a:r>
              <a:rPr lang="en-US" sz="2400" dirty="0"/>
              <a:t>often without due regard for system and theory. </a:t>
            </a:r>
          </a:p>
          <a:p>
            <a:pPr lvl="1" algn="just"/>
            <a:r>
              <a:rPr lang="en-US" sz="2000" dirty="0"/>
              <a:t>It is </a:t>
            </a:r>
            <a:r>
              <a:rPr lang="en-US" sz="2000" dirty="0">
                <a:solidFill>
                  <a:srgbClr val="FF0000"/>
                </a:solidFill>
              </a:rPr>
              <a:t>data-based research</a:t>
            </a:r>
            <a:r>
              <a:rPr lang="en-US" sz="2000" dirty="0"/>
              <a:t>, coming up with </a:t>
            </a:r>
            <a:r>
              <a:rPr lang="en-US" sz="2000" dirty="0">
                <a:solidFill>
                  <a:srgbClr val="00B0F0"/>
                </a:solidFill>
              </a:rPr>
              <a:t>conclusions </a:t>
            </a:r>
            <a:r>
              <a:rPr lang="en-US" sz="2000" dirty="0"/>
              <a:t>that are </a:t>
            </a:r>
            <a:r>
              <a:rPr lang="en-US" sz="2000" dirty="0">
                <a:solidFill>
                  <a:srgbClr val="00B0F0"/>
                </a:solidFill>
              </a:rPr>
              <a:t>capable of being verified by observation or experiment</a:t>
            </a:r>
            <a:r>
              <a:rPr lang="en-US" sz="2000" dirty="0"/>
              <a:t>. We can also call it as </a:t>
            </a:r>
            <a:r>
              <a:rPr lang="en-US" sz="2000" b="1" dirty="0">
                <a:solidFill>
                  <a:srgbClr val="00B050"/>
                </a:solidFill>
              </a:rPr>
              <a:t>experimental type of research.</a:t>
            </a:r>
          </a:p>
          <a:p>
            <a:pPr lvl="1" algn="just"/>
            <a:r>
              <a:rPr lang="en-US" sz="2000" dirty="0"/>
              <a:t>In such research, the researcher must first provide himself with a </a:t>
            </a:r>
            <a:r>
              <a:rPr lang="en-US" sz="2000" dirty="0">
                <a:solidFill>
                  <a:srgbClr val="00B0F0"/>
                </a:solidFill>
              </a:rPr>
              <a:t>working hypothesis </a:t>
            </a:r>
            <a:r>
              <a:rPr lang="en-US" sz="2000" dirty="0"/>
              <a:t>or guess as to the probable results. </a:t>
            </a:r>
          </a:p>
          <a:p>
            <a:pPr lvl="1" algn="just"/>
            <a:r>
              <a:rPr lang="en-US" sz="2000" dirty="0"/>
              <a:t>He then works to </a:t>
            </a:r>
            <a:r>
              <a:rPr lang="en-US" sz="2000" dirty="0">
                <a:solidFill>
                  <a:srgbClr val="00B0F0"/>
                </a:solidFill>
              </a:rPr>
              <a:t>get enough facts </a:t>
            </a:r>
            <a:r>
              <a:rPr lang="en-US" sz="2000" dirty="0"/>
              <a:t>(data) to </a:t>
            </a:r>
            <a:r>
              <a:rPr lang="en-US" sz="2000" dirty="0">
                <a:solidFill>
                  <a:srgbClr val="FF0000"/>
                </a:solidFill>
              </a:rPr>
              <a:t>prove or disprove </a:t>
            </a:r>
            <a:r>
              <a:rPr lang="en-US" sz="2000" dirty="0"/>
              <a:t>his hypothesis.</a:t>
            </a:r>
          </a:p>
          <a:p>
            <a:pPr lvl="1" algn="just"/>
            <a:r>
              <a:rPr lang="en-US" sz="2000" dirty="0"/>
              <a:t>He then sets up experimental designs </a:t>
            </a:r>
          </a:p>
          <a:p>
            <a:pPr lvl="1" algn="just"/>
            <a:r>
              <a:rPr lang="en-US" sz="2000" dirty="0"/>
              <a:t>Such research is thus characterized by the experimenter’s control </a:t>
            </a:r>
            <a:r>
              <a:rPr lang="en-US" sz="2000" dirty="0">
                <a:solidFill>
                  <a:srgbClr val="FF0000"/>
                </a:solidFill>
              </a:rPr>
              <a:t>over the variables</a:t>
            </a:r>
          </a:p>
        </p:txBody>
      </p:sp>
    </p:spTree>
    <p:extLst>
      <p:ext uri="{BB962C8B-B14F-4D97-AF65-F5344CB8AC3E}">
        <p14:creationId xmlns:p14="http://schemas.microsoft.com/office/powerpoint/2010/main" val="997474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0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TYPES OF RESEARCH : </a:t>
            </a:r>
            <a:r>
              <a:rPr lang="en-US" dirty="0"/>
              <a:t>Some Other Types of Research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157" y="1424340"/>
            <a:ext cx="11017954" cy="543366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All </a:t>
            </a:r>
            <a:r>
              <a:rPr lang="en-US" sz="2400" dirty="0">
                <a:solidFill>
                  <a:srgbClr val="FF0000"/>
                </a:solidFill>
              </a:rPr>
              <a:t>other types of research </a:t>
            </a:r>
            <a:r>
              <a:rPr lang="en-US" sz="2400" dirty="0"/>
              <a:t>are variations of one or more of the above stated approaches, based on either the </a:t>
            </a:r>
          </a:p>
          <a:p>
            <a:pPr marL="722313" indent="260350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B0F0"/>
                </a:solidFill>
              </a:rPr>
              <a:t>purpose of research, </a:t>
            </a:r>
          </a:p>
          <a:p>
            <a:pPr marL="722313" indent="260350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B0F0"/>
                </a:solidFill>
              </a:rPr>
              <a:t>the time required to accomplish research, </a:t>
            </a:r>
          </a:p>
          <a:p>
            <a:pPr marL="722313" indent="260350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B0F0"/>
                </a:solidFill>
              </a:rPr>
              <a:t>the environment in which research is done, </a:t>
            </a:r>
          </a:p>
          <a:p>
            <a:pPr marL="722313" indent="260350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B0F0"/>
                </a:solidFill>
              </a:rPr>
              <a:t>or on the basis of some other similar factor. </a:t>
            </a:r>
          </a:p>
          <a:p>
            <a:pPr algn="just"/>
            <a:r>
              <a:rPr lang="en-US" sz="2400" dirty="0"/>
              <a:t> From the </a:t>
            </a:r>
            <a:r>
              <a:rPr lang="en-US" sz="2400" dirty="0">
                <a:solidFill>
                  <a:srgbClr val="FF0000"/>
                </a:solidFill>
              </a:rPr>
              <a:t>point of view of time</a:t>
            </a:r>
            <a:r>
              <a:rPr lang="en-US" sz="2400" dirty="0"/>
              <a:t>, we can think of research either as one-time research or longitudinal research. </a:t>
            </a:r>
          </a:p>
          <a:p>
            <a:pPr algn="just"/>
            <a:r>
              <a:rPr lang="en-US" sz="2400" dirty="0"/>
              <a:t>Research can be </a:t>
            </a:r>
            <a:r>
              <a:rPr lang="en-US" sz="2400" dirty="0">
                <a:solidFill>
                  <a:srgbClr val="FF0000"/>
                </a:solidFill>
              </a:rPr>
              <a:t>field-setting research </a:t>
            </a:r>
            <a:r>
              <a:rPr lang="en-US" sz="2400" dirty="0"/>
              <a:t>or </a:t>
            </a:r>
            <a:r>
              <a:rPr lang="en-US" sz="2400" dirty="0">
                <a:solidFill>
                  <a:srgbClr val="FF0000"/>
                </a:solidFill>
              </a:rPr>
              <a:t>laboratory research </a:t>
            </a:r>
            <a:r>
              <a:rPr lang="en-US" sz="2400" dirty="0"/>
              <a:t>or </a:t>
            </a:r>
            <a:r>
              <a:rPr lang="en-US" sz="2400" dirty="0">
                <a:solidFill>
                  <a:srgbClr val="FF0000"/>
                </a:solidFill>
              </a:rPr>
              <a:t>simulation research</a:t>
            </a:r>
            <a:r>
              <a:rPr lang="en-US" sz="2400" dirty="0"/>
              <a:t>, depending upon the environment in which it is to be carried out. </a:t>
            </a:r>
          </a:p>
          <a:p>
            <a:pPr algn="just"/>
            <a:r>
              <a:rPr lang="en-US" sz="2400" dirty="0"/>
              <a:t>Research can also be understood as </a:t>
            </a:r>
            <a:r>
              <a:rPr lang="en-US" sz="2400" dirty="0">
                <a:solidFill>
                  <a:srgbClr val="FF0000"/>
                </a:solidFill>
              </a:rPr>
              <a:t>clinical or diagnostic research</a:t>
            </a:r>
            <a:r>
              <a:rPr lang="en-US" sz="2400" dirty="0"/>
              <a:t>. </a:t>
            </a:r>
          </a:p>
          <a:p>
            <a:pPr lvl="1" algn="just"/>
            <a:r>
              <a:rPr lang="en-US" sz="2000" dirty="0"/>
              <a:t>Such research follows case-study methods. Such studies usually go deep into the causes of things or events that interest us, using very small samples and very deep probing data gathering devices. </a:t>
            </a:r>
          </a:p>
        </p:txBody>
      </p:sp>
    </p:spTree>
    <p:extLst>
      <p:ext uri="{BB962C8B-B14F-4D97-AF65-F5344CB8AC3E}">
        <p14:creationId xmlns:p14="http://schemas.microsoft.com/office/powerpoint/2010/main" val="2253488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0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TYPES OF RESEARCH : </a:t>
            </a:r>
            <a:r>
              <a:rPr lang="en-US" dirty="0"/>
              <a:t>Some Other Types of Research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644" y="1193977"/>
            <a:ext cx="11015134" cy="543366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The research </a:t>
            </a:r>
            <a:r>
              <a:rPr lang="en-US" sz="2400" dirty="0">
                <a:solidFill>
                  <a:srgbClr val="FF0000"/>
                </a:solidFill>
              </a:rPr>
              <a:t>may be exploratory </a:t>
            </a:r>
            <a:r>
              <a:rPr lang="en-US" sz="2400" dirty="0"/>
              <a:t>or it may be formalized. </a:t>
            </a:r>
          </a:p>
          <a:p>
            <a:pPr algn="just"/>
            <a:r>
              <a:rPr lang="en-US" sz="2400" dirty="0"/>
              <a:t>The objective of </a:t>
            </a:r>
            <a:r>
              <a:rPr lang="en-US" sz="2400" dirty="0">
                <a:solidFill>
                  <a:srgbClr val="FF0000"/>
                </a:solidFill>
              </a:rPr>
              <a:t>exploratory research is the </a:t>
            </a:r>
            <a:r>
              <a:rPr lang="en-US" sz="2400" dirty="0">
                <a:solidFill>
                  <a:srgbClr val="00B0F0"/>
                </a:solidFill>
              </a:rPr>
              <a:t>development of hypotheses </a:t>
            </a:r>
            <a:r>
              <a:rPr lang="en-US" sz="2400" dirty="0"/>
              <a:t>rather than their testing, whereas </a:t>
            </a:r>
            <a:r>
              <a:rPr lang="en-US" sz="2400" dirty="0">
                <a:solidFill>
                  <a:srgbClr val="FF0000"/>
                </a:solidFill>
              </a:rPr>
              <a:t>formalized research </a:t>
            </a:r>
            <a:r>
              <a:rPr lang="en-US" sz="2400" dirty="0"/>
              <a:t>studies are those with substantial structure and with specific </a:t>
            </a:r>
            <a:r>
              <a:rPr lang="en-US" sz="2400" dirty="0">
                <a:solidFill>
                  <a:srgbClr val="00B0F0"/>
                </a:solidFill>
              </a:rPr>
              <a:t>hypotheses to be tested</a:t>
            </a:r>
            <a:r>
              <a:rPr lang="en-US" sz="2400" dirty="0"/>
              <a:t>. 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Historical research </a:t>
            </a:r>
            <a:r>
              <a:rPr lang="en-US" sz="2400" dirty="0"/>
              <a:t>is that which utilizes historical sources like documents, remains, etc. to study events or ideas of the past, including the philosophy of persons and groups at any remote point in time. </a:t>
            </a:r>
          </a:p>
          <a:p>
            <a:pPr algn="just"/>
            <a:r>
              <a:rPr lang="en-US" sz="2400" dirty="0"/>
              <a:t>Research can also be classified as</a:t>
            </a:r>
            <a:r>
              <a:rPr lang="en-US" sz="2400" dirty="0">
                <a:solidFill>
                  <a:srgbClr val="FF0000"/>
                </a:solidFill>
              </a:rPr>
              <a:t> conclusion-oriented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FF0000"/>
                </a:solidFill>
              </a:rPr>
              <a:t>decision-oriented. </a:t>
            </a:r>
          </a:p>
          <a:p>
            <a:pPr lvl="1" algn="just"/>
            <a:r>
              <a:rPr lang="en-US" sz="2000" dirty="0"/>
              <a:t>While doing </a:t>
            </a:r>
            <a:r>
              <a:rPr lang="en-US" sz="2000" dirty="0">
                <a:solidFill>
                  <a:srgbClr val="FF0000"/>
                </a:solidFill>
              </a:rPr>
              <a:t>conclusion-oriented research, </a:t>
            </a:r>
            <a:r>
              <a:rPr lang="en-US" sz="2000" dirty="0"/>
              <a:t>a researcher is free to pick up a problem, redesign the enquiry as he proceeds and is prepared to conceptualize as he wishes. </a:t>
            </a:r>
          </a:p>
          <a:p>
            <a:pPr lvl="1" algn="just"/>
            <a:r>
              <a:rPr lang="en-US" sz="2000" dirty="0">
                <a:solidFill>
                  <a:srgbClr val="FF0000"/>
                </a:solidFill>
              </a:rPr>
              <a:t>Decision-oriented research </a:t>
            </a:r>
            <a:r>
              <a:rPr lang="en-US" sz="2000" dirty="0"/>
              <a:t>is always for the need of a decision maker and the researcher in this case is not free to embark upon research according to his own inclination. 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Operations research </a:t>
            </a:r>
            <a:r>
              <a:rPr lang="en-US" sz="2400" dirty="0"/>
              <a:t>is an example of decision oriented research since it is a scientific method of providing executive departments with a </a:t>
            </a:r>
            <a:r>
              <a:rPr lang="en-US" sz="2400" dirty="0">
                <a:solidFill>
                  <a:srgbClr val="00B0F0"/>
                </a:solidFill>
              </a:rPr>
              <a:t>quantitative basis for decisions regarding operations</a:t>
            </a:r>
            <a:r>
              <a:rPr lang="en-US" sz="2400" dirty="0"/>
              <a:t> under their control. </a:t>
            </a:r>
          </a:p>
        </p:txBody>
      </p:sp>
    </p:spTree>
    <p:extLst>
      <p:ext uri="{BB962C8B-B14F-4D97-AF65-F5344CB8AC3E}">
        <p14:creationId xmlns:p14="http://schemas.microsoft.com/office/powerpoint/2010/main" val="8691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1B7223-B75A-482E-A7EC-3D76CC1BAFEA}" type="slidenum">
              <a:rPr lang="en-US" altLang="en-US" sz="1200">
                <a:solidFill>
                  <a:srgbClr val="FEFEFE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r>
              <a:rPr lang="en-US" altLang="en-US" sz="1200">
                <a:solidFill>
                  <a:srgbClr val="FEFEFE"/>
                </a:solidFill>
              </a:rPr>
              <a:t>/42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609601"/>
            <a:ext cx="9855200" cy="5745163"/>
          </a:xfrm>
        </p:spPr>
        <p:txBody>
          <a:bodyPr rtlCol="0">
            <a:normAutofit/>
          </a:bodyPr>
          <a:lstStyle/>
          <a:p>
            <a:pPr indent="-274320" algn="ctr">
              <a:buNone/>
              <a:defRPr/>
            </a:pPr>
            <a:r>
              <a:rPr lang="en-US" sz="3600" b="1" dirty="0">
                <a:solidFill>
                  <a:schemeClr val="tx2">
                    <a:lumMod val="50000"/>
                  </a:schemeClr>
                </a:solidFill>
              </a:rPr>
              <a:t>The important features of a research design </a:t>
            </a:r>
          </a:p>
          <a:p>
            <a:pPr marL="640080" lvl="1" indent="-274320">
              <a:buFont typeface="Wingdings" pitchFamily="2" charset="2"/>
              <a:buChar char="Ø"/>
              <a:defRPr/>
            </a:pPr>
            <a:r>
              <a:rPr lang="en-US" b="1" dirty="0">
                <a:solidFill>
                  <a:srgbClr val="FF0000"/>
                </a:solidFill>
              </a:rPr>
              <a:t>A plan</a:t>
            </a:r>
          </a:p>
          <a:p>
            <a:pPr marL="685800" lvl="2" indent="0">
              <a:buNone/>
              <a:defRPr/>
            </a:pPr>
            <a:r>
              <a:rPr lang="en-US" sz="2800" dirty="0">
                <a:solidFill>
                  <a:srgbClr val="002060"/>
                </a:solidFill>
              </a:rPr>
              <a:t>Specify the sources &amp; types of information relevant to the research problem</a:t>
            </a:r>
          </a:p>
          <a:p>
            <a:pPr marL="640080" lvl="1" indent="-274320">
              <a:buFont typeface="Wingdings" pitchFamily="2" charset="2"/>
              <a:buChar char="Ø"/>
              <a:defRPr/>
            </a:pPr>
            <a:r>
              <a:rPr lang="en-US" b="1" dirty="0">
                <a:solidFill>
                  <a:srgbClr val="FF0000"/>
                </a:solidFill>
              </a:rPr>
              <a:t>A strategy </a:t>
            </a:r>
          </a:p>
          <a:p>
            <a:pPr marL="685800" lvl="2" indent="0">
              <a:buNone/>
              <a:defRPr/>
            </a:pPr>
            <a:r>
              <a:rPr lang="en-US" sz="2800" dirty="0">
                <a:solidFill>
                  <a:srgbClr val="002060"/>
                </a:solidFill>
              </a:rPr>
              <a:t>Which approach will be used for gathering and analyzing the data</a:t>
            </a:r>
          </a:p>
          <a:p>
            <a:pPr marL="640080" lvl="1" indent="-274320">
              <a:buFont typeface="Wingdings" pitchFamily="2" charset="2"/>
              <a:buChar char="Ø"/>
              <a:defRPr/>
            </a:pPr>
            <a:r>
              <a:rPr lang="en-US" b="1" dirty="0">
                <a:solidFill>
                  <a:srgbClr val="FF0000"/>
                </a:solidFill>
              </a:rPr>
              <a:t>The time and budgets</a:t>
            </a:r>
          </a:p>
          <a:p>
            <a:pPr marL="685800" lvl="2" indent="0">
              <a:buNone/>
              <a:defRPr/>
            </a:pPr>
            <a:r>
              <a:rPr lang="en-US" sz="2800" dirty="0">
                <a:solidFill>
                  <a:srgbClr val="002060"/>
                </a:solidFill>
              </a:rPr>
              <a:t>Most studies are done under these two constraints</a:t>
            </a:r>
          </a:p>
        </p:txBody>
      </p:sp>
    </p:spTree>
    <p:extLst>
      <p:ext uri="{BB962C8B-B14F-4D97-AF65-F5344CB8AC3E}">
        <p14:creationId xmlns:p14="http://schemas.microsoft.com/office/powerpoint/2010/main" val="4186815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/>
          <p:cNvSpPr>
            <a:spLocks noGrp="1"/>
          </p:cNvSpPr>
          <p:nvPr>
            <p:ph idx="1"/>
          </p:nvPr>
        </p:nvSpPr>
        <p:spPr>
          <a:xfrm>
            <a:off x="1828800" y="685800"/>
            <a:ext cx="8534400" cy="5791200"/>
          </a:xfrm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3600" b="1">
                <a:solidFill>
                  <a:srgbClr val="7030A0"/>
                </a:solidFill>
              </a:rPr>
              <a:t>CHARACTERISTICS OF RESEARCH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sz="3600" b="1">
              <a:solidFill>
                <a:srgbClr val="7030A0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3600" b="1">
                <a:solidFill>
                  <a:srgbClr val="0070C0"/>
                </a:solidFill>
              </a:rPr>
              <a:t>Systematic</a:t>
            </a:r>
            <a:r>
              <a:rPr lang="en-US" altLang="en-US" sz="3600" b="1">
                <a:solidFill>
                  <a:srgbClr val="00B050"/>
                </a:solidFill>
              </a:rPr>
              <a:t>- All steps must be inter related- one to another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3600" b="1">
                <a:solidFill>
                  <a:srgbClr val="0070C0"/>
                </a:solidFill>
              </a:rPr>
              <a:t>Logical</a:t>
            </a:r>
            <a:r>
              <a:rPr lang="en-US" altLang="en-US" sz="3600" b="1">
                <a:solidFill>
                  <a:srgbClr val="00B050"/>
                </a:solidFill>
              </a:rPr>
              <a:t>- Agreeing with the principles of logic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3600" b="1">
                <a:solidFill>
                  <a:srgbClr val="0070C0"/>
                </a:solidFill>
              </a:rPr>
              <a:t>Empirical</a:t>
            </a:r>
            <a:r>
              <a:rPr lang="en-US" altLang="en-US" sz="3600" b="1">
                <a:solidFill>
                  <a:srgbClr val="00B050"/>
                </a:solidFill>
              </a:rPr>
              <a:t>-Conclusions should be based on evidences/observations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sz="3600" b="1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569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905000" y="838200"/>
            <a:ext cx="7848600" cy="1143000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b="1">
                <a:solidFill>
                  <a:srgbClr val="7030A0"/>
                </a:solidFill>
              </a:rPr>
            </a:br>
            <a:r>
              <a:rPr lang="en-US" altLang="en-US" sz="3600" b="1">
                <a:solidFill>
                  <a:srgbClr val="7030A0"/>
                </a:solidFill>
              </a:rPr>
              <a:t>CHARACTERISTICS OF RESEARCH…</a:t>
            </a:r>
            <a:br>
              <a:rPr lang="en-US" altLang="en-US" b="1">
                <a:solidFill>
                  <a:srgbClr val="7030A0"/>
                </a:solidFill>
              </a:rPr>
            </a:br>
            <a:endParaRPr lang="en-US" altLang="en-US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133600" y="1524000"/>
            <a:ext cx="7848600" cy="4267200"/>
          </a:xfrm>
        </p:spPr>
        <p:txBody>
          <a:bodyPr/>
          <a:lstStyle/>
          <a:p>
            <a:pPr lvl="1" eaLnBrk="1" hangingPunct="1">
              <a:buFont typeface="Wingdings" pitchFamily="2" charset="2"/>
              <a:buChar char="Ø"/>
              <a:defRPr/>
            </a:pPr>
            <a:r>
              <a:rPr lang="en-US" sz="3000" b="1" dirty="0">
                <a:solidFill>
                  <a:srgbClr val="0070C0"/>
                </a:solidFill>
              </a:rPr>
              <a:t>Objectivity</a:t>
            </a:r>
            <a:r>
              <a:rPr lang="en-US" sz="3000" b="1" dirty="0">
                <a:solidFill>
                  <a:srgbClr val="00B050"/>
                </a:solidFill>
              </a:rPr>
              <a:t>- It must answer the research questions</a:t>
            </a:r>
          </a:p>
          <a:p>
            <a:pPr lvl="1" eaLnBrk="1" hangingPunct="1">
              <a:buFont typeface="Wingdings" pitchFamily="2" charset="2"/>
              <a:buChar char="Ø"/>
              <a:defRPr/>
            </a:pPr>
            <a:r>
              <a:rPr lang="en-US" sz="3000" b="1" dirty="0">
                <a:solidFill>
                  <a:srgbClr val="0070C0"/>
                </a:solidFill>
              </a:rPr>
              <a:t>Replicable</a:t>
            </a:r>
            <a:r>
              <a:rPr lang="en-US" sz="3000" b="1" dirty="0">
                <a:solidFill>
                  <a:srgbClr val="00B050"/>
                </a:solidFill>
              </a:rPr>
              <a:t>- reproducible</a:t>
            </a:r>
          </a:p>
          <a:p>
            <a:pPr lvl="1" eaLnBrk="1" hangingPunct="1">
              <a:buFont typeface="Wingdings" pitchFamily="2" charset="2"/>
              <a:buChar char="Ø"/>
              <a:defRPr/>
            </a:pPr>
            <a:r>
              <a:rPr lang="en-US" sz="3000" b="1" dirty="0">
                <a:solidFill>
                  <a:srgbClr val="0070C0"/>
                </a:solidFill>
              </a:rPr>
              <a:t>Transmittable</a:t>
            </a:r>
          </a:p>
          <a:p>
            <a:pPr lvl="1" eaLnBrk="1" hangingPunct="1">
              <a:buFont typeface="Wingdings" pitchFamily="2" charset="2"/>
              <a:buChar char="Ø"/>
              <a:defRPr/>
            </a:pPr>
            <a:r>
              <a:rPr lang="en-US" sz="2800" b="1" dirty="0">
                <a:solidFill>
                  <a:srgbClr val="0070C0"/>
                </a:solidFill>
              </a:rPr>
              <a:t>Quality control</a:t>
            </a:r>
            <a:r>
              <a:rPr lang="en-US" sz="2800" b="1" dirty="0">
                <a:solidFill>
                  <a:srgbClr val="00B050"/>
                </a:solidFill>
              </a:rPr>
              <a:t>- Accurate measurements</a:t>
            </a:r>
          </a:p>
          <a:p>
            <a:pPr lvl="1" eaLnBrk="1" hangingPunct="1">
              <a:buFont typeface="Wingdings" pitchFamily="2" charset="2"/>
              <a:buChar char="Ø"/>
              <a:defRPr/>
            </a:pPr>
            <a:r>
              <a:rPr lang="en-US" sz="2800" b="1" dirty="0">
                <a:solidFill>
                  <a:srgbClr val="002060"/>
                </a:solidFill>
              </a:rPr>
              <a:t>All well designed and conducted research has potential application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Ø"/>
              <a:defRPr/>
            </a:pPr>
            <a:endParaRPr lang="en-US" sz="2800" b="1" dirty="0">
              <a:solidFill>
                <a:srgbClr val="00B050"/>
              </a:solidFill>
            </a:endParaRPr>
          </a:p>
          <a:p>
            <a:pPr lvl="1" eaLnBrk="1" hangingPunct="1">
              <a:buFont typeface="Wingdings" pitchFamily="2" charset="2"/>
              <a:buChar char="Ø"/>
              <a:defRPr/>
            </a:pPr>
            <a:endParaRPr lang="en-US" sz="3000" b="1" dirty="0">
              <a:solidFill>
                <a:srgbClr val="00B050"/>
              </a:solidFill>
            </a:endParaRPr>
          </a:p>
          <a:p>
            <a:pPr marL="366713" lvl="1" indent="0">
              <a:buNone/>
              <a:defRPr/>
            </a:pPr>
            <a:endParaRPr lang="en-US" sz="3000" b="1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6376D9-C75D-4E14-8C1D-EEDBAAF0A055}" type="datetime3">
              <a:rPr lang="en-US" smtClean="0"/>
              <a:pPr>
                <a:defRPr/>
              </a:pPr>
              <a:t>9 October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434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3A59CC-A34D-4932-A3EC-88710FE721E6}" type="slidenum">
              <a:rPr lang="en-US" altLang="en-US" sz="1200">
                <a:solidFill>
                  <a:srgbClr val="FEFEFE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181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2133600" y="533400"/>
            <a:ext cx="7024688" cy="1143000"/>
          </a:xfrm>
        </p:spPr>
        <p:txBody>
          <a:bodyPr/>
          <a:lstStyle/>
          <a:p>
            <a:pPr eaLnBrk="1" hangingPunct="1"/>
            <a:r>
              <a:rPr lang="en-US" altLang="en-US" b="1"/>
              <a:t>Define Your objectives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2566989" y="1828801"/>
            <a:ext cx="6777037" cy="4003675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b="1">
                <a:solidFill>
                  <a:srgbClr val="7030A0"/>
                </a:solidFill>
              </a:rPr>
              <a:t>Try to keep these simple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b="1">
                <a:solidFill>
                  <a:srgbClr val="7030A0"/>
                </a:solidFill>
              </a:rPr>
              <a:t>The more variables the more difficult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b="1">
                <a:solidFill>
                  <a:srgbClr val="7030A0"/>
                </a:solidFill>
              </a:rPr>
              <a:t>Use the opportunity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b="1">
                <a:solidFill>
                  <a:srgbClr val="7030A0"/>
                </a:solidFill>
              </a:rPr>
              <a:t>Get help at this stage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b="1">
                <a:solidFill>
                  <a:srgbClr val="7030A0"/>
                </a:solidFill>
              </a:rPr>
              <a:t>Senior colleagues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b="1">
                <a:solidFill>
                  <a:srgbClr val="7030A0"/>
                </a:solidFill>
              </a:rPr>
              <a:t>Experienced researchers</a:t>
            </a:r>
          </a:p>
          <a:p>
            <a:pPr eaLnBrk="1" hangingPunct="1"/>
            <a:endParaRPr lang="en-US" altLang="en-US"/>
          </a:p>
        </p:txBody>
      </p:sp>
      <p:sp>
        <p:nvSpPr>
          <p:cNvPr id="18436" name="Date Placeholder 3"/>
          <p:cNvSpPr>
            <a:spLocks noGrp="1"/>
          </p:cNvSpPr>
          <p:nvPr>
            <p:ph type="dt" sz="quarter" idx="10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EF96F8-D761-4929-AFC7-BF73BCD59251}" type="datetime3">
              <a:rPr lang="en-US" smtClean="0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 October 2023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184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536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02329F-B7CF-40B7-8D8D-A23127B4466C}" type="slidenum">
              <a:rPr lang="en-US" altLang="en-US" sz="1200">
                <a:solidFill>
                  <a:srgbClr val="FEFEFE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163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7024688" cy="1143000"/>
          </a:xfrm>
        </p:spPr>
        <p:txBody>
          <a:bodyPr/>
          <a:lstStyle/>
          <a:p>
            <a:r>
              <a:rPr lang="en-US" altLang="en-US" b="1"/>
              <a:t>Literature search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2286000" y="1447800"/>
            <a:ext cx="7620000" cy="4267200"/>
          </a:xfrm>
        </p:spPr>
        <p:txBody>
          <a:bodyPr/>
          <a:lstStyle/>
          <a:p>
            <a:r>
              <a:rPr lang="en-US" altLang="en-US" b="1">
                <a:solidFill>
                  <a:srgbClr val="002060"/>
                </a:solidFill>
              </a:rPr>
              <a:t>Check to see if your idea is original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Get articles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Read articles and their references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Most of these will be vital when writing up reports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Find gap areas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Find obsolete measurements and results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Define objectives of the study</a:t>
            </a:r>
          </a:p>
          <a:p>
            <a:endParaRPr lang="en-US" altLang="en-US" b="1">
              <a:solidFill>
                <a:srgbClr val="00206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013D451-A32F-45DC-94D7-190916C26889}" type="datetime3">
              <a:rPr lang="en-US" smtClean="0"/>
              <a:pPr>
                <a:defRPr/>
              </a:pPr>
              <a:t>9 October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639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F7353C-301B-4301-9413-7DD97F9CD832}" type="slidenum">
              <a:rPr lang="en-US" altLang="en-US" sz="1200">
                <a:solidFill>
                  <a:srgbClr val="FEFEFE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495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8001000" cy="1143000"/>
          </a:xfrm>
        </p:spPr>
        <p:txBody>
          <a:bodyPr/>
          <a:lstStyle/>
          <a:p>
            <a:r>
              <a:rPr lang="en-US" altLang="en-US" b="1"/>
              <a:t>Steps involved in a research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2438401" y="1676401"/>
            <a:ext cx="7339013" cy="4384675"/>
          </a:xfrm>
        </p:spPr>
        <p:txBody>
          <a:bodyPr>
            <a:normAutofit lnSpcReduction="10000"/>
          </a:bodyPr>
          <a:lstStyle/>
          <a:p>
            <a:r>
              <a:rPr lang="en-US" altLang="en-US" b="1">
                <a:solidFill>
                  <a:srgbClr val="002060"/>
                </a:solidFill>
              </a:rPr>
              <a:t>Choose a subject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Literature survey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Defining and formulation of specific objectives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Prepare Synopsis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Procuring of suitable apparatus/materials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Design of experimental set up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Preliminary experiments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Execution of the project 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Accurate measurements/data collection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013D451-A32F-45DC-94D7-190916C26889}" type="datetime3">
              <a:rPr lang="en-US" smtClean="0"/>
              <a:pPr>
                <a:defRPr/>
              </a:pPr>
              <a:t>9 October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741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B34AF1-BB18-4721-8E10-D25E6648E66A}" type="slidenum">
              <a:rPr lang="en-US" altLang="en-US" sz="1200">
                <a:solidFill>
                  <a:srgbClr val="FEFEFE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200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517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7924800" cy="1143000"/>
          </a:xfrm>
        </p:spPr>
        <p:txBody>
          <a:bodyPr/>
          <a:lstStyle/>
          <a:p>
            <a:r>
              <a:rPr lang="en-US" altLang="en-US" b="1"/>
              <a:t>Steps involved in a research…</a:t>
            </a:r>
            <a:endParaRPr lang="en-US" altLang="en-US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209800" y="1600201"/>
            <a:ext cx="7620000" cy="4232275"/>
          </a:xfrm>
        </p:spPr>
        <p:txBody>
          <a:bodyPr/>
          <a:lstStyle/>
          <a:p>
            <a:endParaRPr lang="en-US" altLang="en-US" b="1">
              <a:solidFill>
                <a:srgbClr val="002060"/>
              </a:solidFill>
            </a:endParaRPr>
          </a:p>
          <a:p>
            <a:r>
              <a:rPr lang="en-US" altLang="en-US" b="1">
                <a:solidFill>
                  <a:srgbClr val="002060"/>
                </a:solidFill>
              </a:rPr>
              <a:t>Data analysis and error compounding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Hypothesis testing and verification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Results and discussion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Generalization, interpretation and drawing conclusions</a:t>
            </a:r>
          </a:p>
          <a:p>
            <a:r>
              <a:rPr lang="en-US" altLang="en-US" b="1">
                <a:solidFill>
                  <a:srgbClr val="002060"/>
                </a:solidFill>
              </a:rPr>
              <a:t>Preparation of the project report or writing thesis</a:t>
            </a:r>
          </a:p>
          <a:p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013D451-A32F-45DC-94D7-190916C26889}" type="datetime3">
              <a:rPr lang="en-US" smtClean="0"/>
              <a:pPr>
                <a:defRPr/>
              </a:pPr>
              <a:t>9 October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843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F7FF4F-0E7B-4174-B377-0CD16710BB37}" type="slidenum">
              <a:rPr lang="en-US" altLang="en-US" sz="1200">
                <a:solidFill>
                  <a:srgbClr val="FEFEFE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200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482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0BEAFA-98EE-40F0-965A-264BE3DDF67C}" type="slidenum">
              <a:rPr lang="en-US" altLang="en-US" sz="1200">
                <a:solidFill>
                  <a:srgbClr val="FEFEFE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200">
              <a:solidFill>
                <a:srgbClr val="FEFEFE"/>
              </a:solidFill>
            </a:endParaRPr>
          </a:p>
        </p:txBody>
      </p:sp>
      <p:grpSp>
        <p:nvGrpSpPr>
          <p:cNvPr id="19459" name="Group 10"/>
          <p:cNvGrpSpPr>
            <a:grpSpLocks/>
          </p:cNvGrpSpPr>
          <p:nvPr/>
        </p:nvGrpSpPr>
        <p:grpSpPr bwMode="auto">
          <a:xfrm>
            <a:off x="2133600" y="1447800"/>
            <a:ext cx="7391400" cy="4464050"/>
            <a:chOff x="663202" y="533400"/>
            <a:chExt cx="7860456" cy="5822950"/>
          </a:xfrm>
        </p:grpSpPr>
        <p:pic>
          <p:nvPicPr>
            <p:cNvPr id="19461" name="Picture 4" descr="EvensenResMethFig2.2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3202" y="533400"/>
              <a:ext cx="7860456" cy="5822950"/>
            </a:xfrm>
            <a:prstGeom prst="rect">
              <a:avLst/>
            </a:prstGeom>
            <a:solidFill>
              <a:srgbClr val="0096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4343400" y="1524000"/>
              <a:ext cx="334469" cy="521907"/>
            </a:xfrm>
            <a:prstGeom prst="rect">
              <a:avLst/>
            </a:prstGeom>
            <a:solidFill>
              <a:srgbClr val="00823B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softEdge rad="12700"/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b="1" dirty="0">
                  <a:cs typeface="Arial" charset="0"/>
                </a:rPr>
                <a:t>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934201" y="3124200"/>
              <a:ext cx="334469" cy="521907"/>
            </a:xfrm>
            <a:prstGeom prst="rect">
              <a:avLst/>
            </a:prstGeom>
            <a:solidFill>
              <a:srgbClr val="00823B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softEdge rad="12700"/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b="1" dirty="0">
                  <a:cs typeface="Arial" charset="0"/>
                </a:rPr>
                <a:t>2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67400" y="5105400"/>
              <a:ext cx="334469" cy="521907"/>
            </a:xfrm>
            <a:prstGeom prst="rect">
              <a:avLst/>
            </a:prstGeom>
            <a:solidFill>
              <a:srgbClr val="00823B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softEdge rad="12700"/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b="1" dirty="0">
                  <a:cs typeface="Arial" charset="0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14490" y="5105400"/>
              <a:ext cx="334469" cy="521907"/>
            </a:xfrm>
            <a:prstGeom prst="rect">
              <a:avLst/>
            </a:prstGeom>
            <a:solidFill>
              <a:srgbClr val="00823B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softEdge rad="12700"/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b="1" dirty="0">
                  <a:cs typeface="Arial" charset="0"/>
                </a:rPr>
                <a:t>4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47800" y="3276600"/>
              <a:ext cx="334469" cy="521907"/>
            </a:xfrm>
            <a:prstGeom prst="rect">
              <a:avLst/>
            </a:prstGeom>
            <a:solidFill>
              <a:srgbClr val="00823B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softEdge rad="12700"/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b="1" dirty="0">
                  <a:cs typeface="Arial" charset="0"/>
                </a:rPr>
                <a:t>5</a:t>
              </a:r>
            </a:p>
          </p:txBody>
        </p:sp>
      </p:grpSp>
      <p:sp>
        <p:nvSpPr>
          <p:cNvPr id="12" name="Title 1"/>
          <p:cNvSpPr txBox="1">
            <a:spLocks/>
          </p:cNvSpPr>
          <p:nvPr/>
        </p:nvSpPr>
        <p:spPr>
          <a:xfrm>
            <a:off x="1301750" y="582613"/>
            <a:ext cx="8229600" cy="6540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6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The Process of Research</a:t>
            </a:r>
          </a:p>
        </p:txBody>
      </p:sp>
    </p:spTree>
    <p:extLst>
      <p:ext uri="{BB962C8B-B14F-4D97-AF65-F5344CB8AC3E}">
        <p14:creationId xmlns:p14="http://schemas.microsoft.com/office/powerpoint/2010/main" val="3837325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7024688" cy="1143000"/>
          </a:xfrm>
        </p:spPr>
        <p:txBody>
          <a:bodyPr/>
          <a:lstStyle/>
          <a:p>
            <a:r>
              <a:rPr lang="en-US" altLang="en-US" b="1"/>
              <a:t>Research article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057400"/>
            <a:ext cx="8229600" cy="3657600"/>
          </a:xfrm>
          <a:ln>
            <a:miter lim="800000"/>
            <a:headEnd/>
            <a:tailEnd/>
          </a:ln>
        </p:spPr>
        <p:txBody>
          <a:bodyPr numCol="2"/>
          <a:lstStyle/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Find suitable/specified journals</a:t>
            </a: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Get copy of Instructions to authors</a:t>
            </a: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Prepare article as per instructions</a:t>
            </a: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Select suitable titles</a:t>
            </a: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Authors and affiliations </a:t>
            </a: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Abstract </a:t>
            </a: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Highlights</a:t>
            </a: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Novelty statements</a:t>
            </a: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Introduction</a:t>
            </a: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Materials and methods</a:t>
            </a: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Results and discussion</a:t>
            </a: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Conclusions</a:t>
            </a: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Acknowledgements</a:t>
            </a: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References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EE46237-AD3E-4A29-B82E-073D712588A9}" type="datetime3">
              <a:rPr lang="en-US" smtClean="0"/>
              <a:pPr>
                <a:defRPr/>
              </a:pPr>
              <a:t>9 October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151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349352-57D5-44C1-B9EA-587735EEAEC0}" type="slidenum">
              <a:rPr lang="en-US" altLang="en-US" sz="1200">
                <a:solidFill>
                  <a:srgbClr val="FEFEFE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200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944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7024688" cy="1143000"/>
          </a:xfrm>
        </p:spPr>
        <p:txBody>
          <a:bodyPr/>
          <a:lstStyle/>
          <a:p>
            <a:r>
              <a:rPr lang="en-US" altLang="en-US" b="1"/>
              <a:t>Authorship/ethics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2209800" y="1447800"/>
            <a:ext cx="6777038" cy="4876800"/>
          </a:xfrm>
        </p:spPr>
        <p:txBody>
          <a:bodyPr/>
          <a:lstStyle/>
          <a:p>
            <a:endParaRPr lang="en-US" altLang="en-US" b="1"/>
          </a:p>
          <a:p>
            <a:r>
              <a:rPr lang="en-US" altLang="en-US" b="1"/>
              <a:t>All authors should directly involved in entire study</a:t>
            </a:r>
          </a:p>
          <a:p>
            <a:r>
              <a:rPr lang="en-US" altLang="en-US" b="1"/>
              <a:t>Article is free from plagiarism</a:t>
            </a:r>
          </a:p>
          <a:p>
            <a:r>
              <a:rPr lang="en-US" altLang="en-US" b="1"/>
              <a:t>Should follow ethics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EE46237-AD3E-4A29-B82E-073D712588A9}" type="datetime3">
              <a:rPr lang="en-US" smtClean="0"/>
              <a:pPr>
                <a:defRPr/>
              </a:pPr>
              <a:t>9 October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253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FE1328-397A-40B8-8985-32860101B42F}" type="slidenum">
              <a:rPr lang="en-US" altLang="en-US" sz="1200">
                <a:solidFill>
                  <a:srgbClr val="FEFEFE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200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182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810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A Research Report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219200"/>
            <a:ext cx="82296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000" b="1" i="1">
                <a:solidFill>
                  <a:srgbClr val="002060"/>
                </a:solidFill>
              </a:rPr>
              <a:t>A Research Report generally include</a:t>
            </a:r>
            <a:r>
              <a:rPr lang="en-US" altLang="en-US" sz="2000" b="1" i="1">
                <a:solidFill>
                  <a:srgbClr val="0070C0"/>
                </a:solidFill>
              </a:rPr>
              <a:t>: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2000" b="1" i="1">
              <a:solidFill>
                <a:srgbClr val="0070C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Introduction and Statement of problem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Review of relevant literature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Statement of hypothesis or research objectives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Theoretical resume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Description of research design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Description Experimental design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Description of measurement and data analysis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Error compounding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Presentation of Results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Discussion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Conclusion, limitations, and implications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Suggestions for future work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Acknowledgements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References cited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002060"/>
                </a:solidFill>
              </a:rPr>
              <a:t>Appendices</a:t>
            </a:r>
            <a:endParaRPr lang="en-GB" altLang="en-US" sz="18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33029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1905000" y="0"/>
            <a:ext cx="7024688" cy="1143000"/>
          </a:xfrm>
        </p:spPr>
        <p:txBody>
          <a:bodyPr/>
          <a:lstStyle/>
          <a:p>
            <a:pPr eaLnBrk="1" hangingPunct="1"/>
            <a:r>
              <a:rPr lang="en-US" altLang="en-US" b="1"/>
              <a:t>Types of research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2209800" y="1295400"/>
            <a:ext cx="7772400" cy="4572000"/>
          </a:xfrm>
        </p:spPr>
        <p:txBody>
          <a:bodyPr>
            <a:normAutofit lnSpcReduction="10000"/>
          </a:bodyPr>
          <a:lstStyle/>
          <a:p>
            <a:pPr marL="6985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1. Application</a:t>
            </a:r>
            <a:r>
              <a:rPr lang="en-US" altLang="en-US">
                <a:solidFill>
                  <a:srgbClr val="FF0000"/>
                </a:solidFill>
              </a:rPr>
              <a:t>- </a:t>
            </a:r>
            <a:r>
              <a:rPr lang="en-US" altLang="en-US" b="1">
                <a:solidFill>
                  <a:srgbClr val="7030A0"/>
                </a:solidFill>
              </a:rPr>
              <a:t>Pure and Applied Research</a:t>
            </a:r>
          </a:p>
          <a:p>
            <a:pPr marL="6985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Applied</a:t>
            </a:r>
            <a:r>
              <a:rPr lang="en-US" altLang="en-US" b="1">
                <a:solidFill>
                  <a:srgbClr val="7030A0"/>
                </a:solidFill>
              </a:rPr>
              <a:t>- Finding solutions for immediate problems facing a society/industry</a:t>
            </a:r>
          </a:p>
          <a:p>
            <a:pPr marL="6985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Pure</a:t>
            </a:r>
            <a:r>
              <a:rPr lang="en-US" altLang="en-US" b="1">
                <a:solidFill>
                  <a:srgbClr val="7030A0"/>
                </a:solidFill>
              </a:rPr>
              <a:t>- Concerned with generalization and formulation of a theory</a:t>
            </a:r>
          </a:p>
          <a:p>
            <a:pPr marL="69850" indent="0">
              <a:buNone/>
            </a:pPr>
            <a:endParaRPr lang="en-US" altLang="en-US">
              <a:solidFill>
                <a:srgbClr val="7030A0"/>
              </a:solidFill>
            </a:endParaRPr>
          </a:p>
          <a:p>
            <a:pPr marL="6985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2. Inquiry Mode- </a:t>
            </a:r>
            <a:r>
              <a:rPr lang="en-US" altLang="en-US" sz="2200" b="1">
                <a:solidFill>
                  <a:srgbClr val="7030A0"/>
                </a:solidFill>
              </a:rPr>
              <a:t>Quantitative and qualitative</a:t>
            </a:r>
          </a:p>
          <a:p>
            <a:pPr marL="6985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Quantitatative</a:t>
            </a:r>
            <a:r>
              <a:rPr lang="en-US" altLang="en-US" sz="2200" b="1">
                <a:solidFill>
                  <a:srgbClr val="7030A0"/>
                </a:solidFill>
              </a:rPr>
              <a:t>- Measurements of quantity or amount</a:t>
            </a:r>
          </a:p>
          <a:p>
            <a:pPr marL="6985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Qualitative</a:t>
            </a:r>
            <a:r>
              <a:rPr lang="en-US" altLang="en-US" sz="2200">
                <a:solidFill>
                  <a:srgbClr val="7030A0"/>
                </a:solidFill>
              </a:rPr>
              <a:t>- </a:t>
            </a:r>
            <a:r>
              <a:rPr lang="en-US" altLang="en-US" sz="2200" b="1">
                <a:solidFill>
                  <a:srgbClr val="7030A0"/>
                </a:solidFill>
              </a:rPr>
              <a:t>Concerned with qualitative phenomena (reasons for human behavior)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6376D9-C75D-4E14-8C1D-EEDBAAF0A055}" type="datetime3">
              <a:rPr lang="en-US" smtClean="0"/>
              <a:pPr>
                <a:defRPr/>
              </a:pPr>
              <a:t>9 October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560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C29E9FB-EBC6-4318-B2BF-FEAA464D3E5E}" type="slidenum">
              <a:rPr lang="en-US" altLang="en-US" sz="1200">
                <a:solidFill>
                  <a:srgbClr val="FEFEFE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200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405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905000" y="152400"/>
            <a:ext cx="7024688" cy="1143000"/>
          </a:xfrm>
        </p:spPr>
        <p:txBody>
          <a:bodyPr/>
          <a:lstStyle/>
          <a:p>
            <a:pPr eaLnBrk="1" hangingPunct="1"/>
            <a:r>
              <a:rPr lang="en-US" altLang="en-US" b="1"/>
              <a:t>Research Studies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2566989" y="1371601"/>
            <a:ext cx="6777037" cy="4460875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2060"/>
                </a:solidFill>
              </a:rPr>
              <a:t>Based on research objectives: </a:t>
            </a:r>
          </a:p>
          <a:p>
            <a:pPr eaLnBrk="1" hangingPunct="1"/>
            <a:endParaRPr lang="en-US" altLang="en-US" b="1">
              <a:solidFill>
                <a:srgbClr val="002060"/>
              </a:solidFill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b="1" i="1">
                <a:solidFill>
                  <a:srgbClr val="FF0000"/>
                </a:solidFill>
              </a:rPr>
              <a:t>Exploratory or formulative research- </a:t>
            </a:r>
            <a:r>
              <a:rPr lang="en-US" altLang="en-US" b="1">
                <a:solidFill>
                  <a:srgbClr val="002060"/>
                </a:solidFill>
              </a:rPr>
              <a:t>To gain familiarity with a phenomenon or to achieve new insights into it</a:t>
            </a:r>
            <a:endParaRPr lang="en-US" altLang="en-US" b="1" i="1">
              <a:solidFill>
                <a:srgbClr val="7030A0"/>
              </a:solidFill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b="1" i="1">
                <a:solidFill>
                  <a:srgbClr val="FF0000"/>
                </a:solidFill>
              </a:rPr>
              <a:t>descriptive research- </a:t>
            </a:r>
            <a:r>
              <a:rPr lang="en-US" altLang="en-US" b="1">
                <a:solidFill>
                  <a:srgbClr val="002060"/>
                </a:solidFill>
              </a:rPr>
              <a:t>To study accurately the characteristics of a particular individual, situation or a group-includes survey</a:t>
            </a:r>
            <a:endParaRPr lang="en-US" altLang="en-US" b="1" i="1">
              <a:solidFill>
                <a:srgbClr val="002060"/>
              </a:solidFill>
            </a:endParaRPr>
          </a:p>
          <a:p>
            <a:pPr eaLnBrk="1" hangingPunct="1"/>
            <a:endParaRPr lang="en-US" altLang="en-US" b="1">
              <a:solidFill>
                <a:srgbClr val="002060"/>
              </a:solidFill>
            </a:endParaRPr>
          </a:p>
        </p:txBody>
      </p:sp>
      <p:sp>
        <p:nvSpPr>
          <p:cNvPr id="12292" name="Date Placeholder 3"/>
          <p:cNvSpPr>
            <a:spLocks noGrp="1"/>
          </p:cNvSpPr>
          <p:nvPr>
            <p:ph type="dt" sz="quarter" idx="10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397500E-85C9-4324-B7C9-EDFD64D6BACE}" type="datetime3">
              <a:rPr lang="en-US" smtClean="0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 October 2023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122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663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68063C-80A4-428A-A2B3-1B3A3CF5C193}" type="slidenum">
              <a:rPr lang="en-US" altLang="en-US" sz="1200">
                <a:solidFill>
                  <a:srgbClr val="FEFEFE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200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042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981200" y="26988"/>
            <a:ext cx="7024688" cy="1143000"/>
          </a:xfrm>
        </p:spPr>
        <p:txBody>
          <a:bodyPr/>
          <a:lstStyle/>
          <a:p>
            <a:pPr eaLnBrk="1" hangingPunct="1"/>
            <a:r>
              <a:rPr lang="en-US" altLang="en-US" b="1"/>
              <a:t>Research Studies</a:t>
            </a:r>
            <a:endParaRPr lang="en-US" altLang="en-US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566989" y="1371601"/>
            <a:ext cx="6777037" cy="44608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b="1" i="1">
                <a:solidFill>
                  <a:srgbClr val="FF0000"/>
                </a:solidFill>
              </a:rPr>
              <a:t>Diagnostic research- </a:t>
            </a:r>
            <a:r>
              <a:rPr lang="en-US" altLang="en-US" b="1">
                <a:solidFill>
                  <a:srgbClr val="7030A0"/>
                </a:solidFill>
              </a:rPr>
              <a:t>To determine the frequency with which something occurs or with which it is associated with something else</a:t>
            </a:r>
            <a:endParaRPr lang="en-US" altLang="en-US" b="1">
              <a:solidFill>
                <a:srgbClr val="0070C0"/>
              </a:solidFill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b="1" i="1">
                <a:solidFill>
                  <a:srgbClr val="FF0000"/>
                </a:solidFill>
              </a:rPr>
              <a:t>hypothesis-testing research- </a:t>
            </a:r>
            <a:r>
              <a:rPr lang="en-US" altLang="en-US" b="1">
                <a:solidFill>
                  <a:srgbClr val="7030A0"/>
                </a:solidFill>
              </a:rPr>
              <a:t>To test a hypothesis of a causal relationship between variables</a:t>
            </a:r>
          </a:p>
        </p:txBody>
      </p:sp>
      <p:sp>
        <p:nvSpPr>
          <p:cNvPr id="13316" name="Date Placeholder 3"/>
          <p:cNvSpPr>
            <a:spLocks noGrp="1"/>
          </p:cNvSpPr>
          <p:nvPr>
            <p:ph type="dt" sz="quarter" idx="10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E3F7F34-658F-43C1-A6E1-46AA67C1DA1E}" type="datetime3">
              <a:rPr lang="en-US" smtClean="0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 October 2023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133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765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76679C-12E5-41AA-A6B2-22D140161036}" type="slidenum">
              <a:rPr lang="en-US" altLang="en-US" sz="1200">
                <a:solidFill>
                  <a:srgbClr val="FEFEFE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200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8091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Date Placeholder 3"/>
          <p:cNvSpPr>
            <a:spLocks noGrp="1"/>
          </p:cNvSpPr>
          <p:nvPr>
            <p:ph type="dt" sz="quarter" idx="10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96C0AB60-C457-489A-8AE8-6411E58AB68B}" type="datetime3">
              <a:rPr lang="en-US" smtClean="0">
                <a:solidFill>
                  <a:schemeClr val="tx2"/>
                </a:solidFill>
              </a:rPr>
              <a:pPr eaLnBrk="1" hangingPunct="1">
                <a:defRPr/>
              </a:pPr>
              <a:t>9 October 2023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15974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8676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9B7CC2-8766-495E-9AC8-B758099565E9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133600" y="2895600"/>
            <a:ext cx="7772400" cy="1524000"/>
          </a:xfrm>
        </p:spPr>
        <p:txBody>
          <a:bodyPr/>
          <a:lstStyle/>
          <a:p>
            <a:pPr algn="ctr" eaLnBrk="1" hangingPunct="1"/>
            <a:r>
              <a:rPr lang="en-US" altLang="en-US" sz="8800">
                <a:solidFill>
                  <a:srgbClr val="002060"/>
                </a:solidFill>
              </a:rPr>
              <a:t>Thank you</a:t>
            </a:r>
          </a:p>
        </p:txBody>
      </p:sp>
      <p:sp>
        <p:nvSpPr>
          <p:cNvPr id="28678" name="TextBox 6"/>
          <p:cNvSpPr txBox="1">
            <a:spLocks noChangeArrowheads="1"/>
          </p:cNvSpPr>
          <p:nvPr/>
        </p:nvSpPr>
        <p:spPr bwMode="auto">
          <a:xfrm>
            <a:off x="2819400" y="1042989"/>
            <a:ext cx="61722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b="1">
                <a:solidFill>
                  <a:srgbClr val="000099"/>
                </a:solidFill>
                <a:latin typeface="Arial" panose="020B0604020202020204" pitchFamily="34" charset="0"/>
              </a:rPr>
              <a:t>“Science is not belief, but the will to find out.” </a:t>
            </a:r>
          </a:p>
        </p:txBody>
      </p:sp>
    </p:spTree>
    <p:extLst>
      <p:ext uri="{BB962C8B-B14F-4D97-AF65-F5344CB8AC3E}">
        <p14:creationId xmlns:p14="http://schemas.microsoft.com/office/powerpoint/2010/main" val="3572041182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236</TotalTime>
  <Words>2186</Words>
  <Application>Microsoft Office PowerPoint</Application>
  <PresentationFormat>Widescreen</PresentationFormat>
  <Paragraphs>254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Century Gothic</vt:lpstr>
      <vt:lpstr>Times New Roman</vt:lpstr>
      <vt:lpstr>Wingdings</vt:lpstr>
      <vt:lpstr>Office Theme</vt:lpstr>
      <vt:lpstr>Research Methodology</vt:lpstr>
      <vt:lpstr>Contents</vt:lpstr>
      <vt:lpstr>MEANING OF RESEARCH</vt:lpstr>
      <vt:lpstr>MEANING OF RESEARCH</vt:lpstr>
      <vt:lpstr>MEANING OF RESEARCH</vt:lpstr>
      <vt:lpstr>MEANING OF RESEARCH</vt:lpstr>
      <vt:lpstr>OBJECTIVES OF RESEARCH</vt:lpstr>
      <vt:lpstr>MOTIVATION IN RESEARCH</vt:lpstr>
      <vt:lpstr>TYPES OF RESEARCH</vt:lpstr>
      <vt:lpstr>TYPES OF RESEARCH : Descriptive vs. Analytical </vt:lpstr>
      <vt:lpstr>TYPES OF RESEARCH : Descriptive vs. Analytical </vt:lpstr>
      <vt:lpstr>TYPES OF RESEARCH : Applied vs. Fundamental</vt:lpstr>
      <vt:lpstr>TYPES OF RESEARCH : Applied vs. Fundamental</vt:lpstr>
      <vt:lpstr>TYPES OF RESEARCH : Quantitative vs. Qualitative</vt:lpstr>
      <vt:lpstr>TYPES OF RESEARCH : Quantitative vs. Qualitative</vt:lpstr>
      <vt:lpstr>TYPES OF RESEARCH : Conceptual vs. Empirical</vt:lpstr>
      <vt:lpstr>TYPES OF RESEARCH : Some Other Types of Research</vt:lpstr>
      <vt:lpstr>TYPES OF RESEARCH : Some Other Types of Research</vt:lpstr>
      <vt:lpstr>PowerPoint Presentation</vt:lpstr>
      <vt:lpstr>PowerPoint Presentation</vt:lpstr>
      <vt:lpstr> CHARACTERISTICS OF RESEARCH… </vt:lpstr>
      <vt:lpstr>Define Your objectives</vt:lpstr>
      <vt:lpstr>Literature search</vt:lpstr>
      <vt:lpstr>Steps involved in a research</vt:lpstr>
      <vt:lpstr>Steps involved in a research…</vt:lpstr>
      <vt:lpstr>PowerPoint Presentation</vt:lpstr>
      <vt:lpstr>Research article writing</vt:lpstr>
      <vt:lpstr>Authorship/ethics</vt:lpstr>
      <vt:lpstr>A Research Report</vt:lpstr>
      <vt:lpstr>Types of research</vt:lpstr>
      <vt:lpstr>Research Studies</vt:lpstr>
      <vt:lpstr>Research Studies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Methodology</dc:title>
  <dc:creator>Admin</dc:creator>
  <cp:lastModifiedBy>sandeep bhayyar</cp:lastModifiedBy>
  <cp:revision>12</cp:revision>
  <dcterms:created xsi:type="dcterms:W3CDTF">2023-10-03T08:57:04Z</dcterms:created>
  <dcterms:modified xsi:type="dcterms:W3CDTF">2023-10-09T05:11:47Z</dcterms:modified>
</cp:coreProperties>
</file>