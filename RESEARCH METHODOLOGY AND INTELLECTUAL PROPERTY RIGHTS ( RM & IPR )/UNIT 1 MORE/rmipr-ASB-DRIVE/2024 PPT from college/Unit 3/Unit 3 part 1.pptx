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47" r:id="rId3"/>
    <p:sldId id="257" r:id="rId4"/>
    <p:sldId id="258" r:id="rId5"/>
    <p:sldId id="259" r:id="rId6"/>
    <p:sldId id="260" r:id="rId7"/>
    <p:sldId id="348" r:id="rId8"/>
    <p:sldId id="261" r:id="rId9"/>
    <p:sldId id="262" r:id="rId10"/>
    <p:sldId id="264" r:id="rId11"/>
    <p:sldId id="265" r:id="rId12"/>
    <p:sldId id="263"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305" r:id="rId29"/>
    <p:sldId id="306" r:id="rId30"/>
    <p:sldId id="307" r:id="rId31"/>
    <p:sldId id="281" r:id="rId32"/>
    <p:sldId id="282" r:id="rId33"/>
    <p:sldId id="283" r:id="rId34"/>
    <p:sldId id="284" r:id="rId35"/>
    <p:sldId id="285" r:id="rId36"/>
    <p:sldId id="286" r:id="rId37"/>
    <p:sldId id="287" r:id="rId38"/>
    <p:sldId id="288" r:id="rId39"/>
    <p:sldId id="308" r:id="rId40"/>
    <p:sldId id="310" r:id="rId41"/>
    <p:sldId id="311" r:id="rId42"/>
    <p:sldId id="312" r:id="rId43"/>
    <p:sldId id="313" r:id="rId44"/>
    <p:sldId id="314" r:id="rId45"/>
    <p:sldId id="328" r:id="rId46"/>
    <p:sldId id="329" r:id="rId47"/>
    <p:sldId id="330" r:id="rId48"/>
    <p:sldId id="331" r:id="rId49"/>
    <p:sldId id="332" r:id="rId50"/>
    <p:sldId id="333" r:id="rId51"/>
    <p:sldId id="334" r:id="rId52"/>
    <p:sldId id="335" r:id="rId53"/>
    <p:sldId id="336" r:id="rId54"/>
    <p:sldId id="337" r:id="rId55"/>
    <p:sldId id="338" r:id="rId56"/>
    <p:sldId id="315" r:id="rId57"/>
    <p:sldId id="316" r:id="rId58"/>
    <p:sldId id="317" r:id="rId59"/>
    <p:sldId id="318" r:id="rId60"/>
    <p:sldId id="319" r:id="rId61"/>
    <p:sldId id="320" r:id="rId62"/>
    <p:sldId id="323" r:id="rId63"/>
    <p:sldId id="321" r:id="rId64"/>
    <p:sldId id="322" r:id="rId65"/>
    <p:sldId id="324" r:id="rId66"/>
    <p:sldId id="325" r:id="rId67"/>
    <p:sldId id="326" r:id="rId68"/>
    <p:sldId id="327" r:id="rId69"/>
    <p:sldId id="301" r:id="rId70"/>
    <p:sldId id="302" r:id="rId71"/>
    <p:sldId id="303" r:id="rId72"/>
    <p:sldId id="304" r:id="rId73"/>
    <p:sldId id="290" r:id="rId74"/>
    <p:sldId id="291" r:id="rId75"/>
    <p:sldId id="339" r:id="rId76"/>
    <p:sldId id="340" r:id="rId77"/>
    <p:sldId id="341" r:id="rId78"/>
    <p:sldId id="342" r:id="rId79"/>
    <p:sldId id="343" r:id="rId80"/>
    <p:sldId id="344" r:id="rId81"/>
    <p:sldId id="345" r:id="rId82"/>
    <p:sldId id="346" r:id="rId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143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t>07-11-2024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550291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t>07-11-2024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27798941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ED06B1-1C37-494B-89B1-A149144B962A}" type="datetimeFigureOut">
              <a:rPr lang="en-IN" smtClean="0"/>
              <a:t>07-11-2024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2062662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CED06B1-1C37-494B-89B1-A149144B962A}" type="datetimeFigureOut">
              <a:rPr lang="en-IN" smtClean="0"/>
              <a:t>07-11-2024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3028488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CED06B1-1C37-494B-89B1-A149144B962A}" type="datetimeFigureOut">
              <a:rPr lang="en-IN" smtClean="0"/>
              <a:t>07-11-2024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1564906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CED06B1-1C37-494B-89B1-A149144B962A}" type="datetimeFigureOut">
              <a:rPr lang="en-IN" smtClean="0"/>
              <a:t>07-11-2024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1787491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ED06B1-1C37-494B-89B1-A149144B962A}" type="datetimeFigureOut">
              <a:rPr lang="en-IN" smtClean="0"/>
              <a:t>07-11-2024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657311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D06B1-1C37-494B-89B1-A149144B962A}" type="datetimeFigureOut">
              <a:rPr lang="en-IN" smtClean="0"/>
              <a:t>07-11-2024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2793437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ED06B1-1C37-494B-89B1-A149144B962A}" type="datetimeFigureOut">
              <a:rPr lang="en-IN" smtClean="0"/>
              <a:t>07-11-2024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1553604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t>07-11-2024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3135295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CED06B1-1C37-494B-89B1-A149144B962A}" type="datetimeFigureOut">
              <a:rPr lang="en-IN" smtClean="0"/>
              <a:t>07-11-2024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BDD3A-6E34-40CD-9A67-0F5ED7D27905}" type="slidenum">
              <a:rPr lang="en-IN" smtClean="0"/>
              <a:t>‹#›</a:t>
            </a:fld>
            <a:endParaRPr lang="en-IN"/>
          </a:p>
        </p:txBody>
      </p:sp>
    </p:spTree>
    <p:extLst>
      <p:ext uri="{BB962C8B-B14F-4D97-AF65-F5344CB8AC3E}">
        <p14:creationId xmlns:p14="http://schemas.microsoft.com/office/powerpoint/2010/main" val="932477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ED06B1-1C37-494B-89B1-A149144B962A}" type="datetimeFigureOut">
              <a:rPr lang="en-IN" smtClean="0"/>
              <a:t>07-11-2024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FBDD3A-6E34-40CD-9A67-0F5ED7D27905}" type="slidenum">
              <a:rPr lang="en-IN" smtClean="0"/>
              <a:t>‹#›</a:t>
            </a:fld>
            <a:endParaRPr lang="en-IN"/>
          </a:p>
        </p:txBody>
      </p:sp>
    </p:spTree>
    <p:extLst>
      <p:ext uri="{BB962C8B-B14F-4D97-AF65-F5344CB8AC3E}">
        <p14:creationId xmlns:p14="http://schemas.microsoft.com/office/powerpoint/2010/main" val="3045325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7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633472"/>
            <a:ext cx="9144000" cy="2907792"/>
          </a:xfrm>
          <a:solidFill>
            <a:schemeClr val="accent2"/>
          </a:solidFill>
        </p:spPr>
        <p:txBody>
          <a:bodyPr>
            <a:normAutofit/>
          </a:bodyPr>
          <a:lstStyle/>
          <a:p>
            <a:r>
              <a:rPr lang="en-IN" b="1" dirty="0"/>
              <a:t>Methods of Data Collection</a:t>
            </a:r>
            <a:br>
              <a:rPr lang="en-IN" b="1" dirty="0"/>
            </a:br>
            <a:r>
              <a:rPr lang="en-IN" b="1" dirty="0"/>
              <a:t>Sampling Design</a:t>
            </a:r>
            <a:br>
              <a:rPr lang="en-IN" b="1" dirty="0"/>
            </a:br>
            <a:r>
              <a:rPr lang="en-IN" b="1" dirty="0"/>
              <a:t>Data Analysis</a:t>
            </a:r>
          </a:p>
        </p:txBody>
      </p:sp>
      <p:sp>
        <p:nvSpPr>
          <p:cNvPr id="3" name="Subtitle 2"/>
          <p:cNvSpPr>
            <a:spLocks noGrp="1"/>
          </p:cNvSpPr>
          <p:nvPr>
            <p:ph type="subTitle" idx="1"/>
          </p:nvPr>
        </p:nvSpPr>
        <p:spPr>
          <a:xfrm>
            <a:off x="1524000" y="986918"/>
            <a:ext cx="9144000" cy="1024762"/>
          </a:xfrm>
          <a:solidFill>
            <a:srgbClr val="00B0F0"/>
          </a:solidFill>
        </p:spPr>
        <p:txBody>
          <a:bodyPr>
            <a:noAutofit/>
          </a:bodyPr>
          <a:lstStyle/>
          <a:p>
            <a:r>
              <a:rPr lang="en-IN" sz="6000" dirty="0"/>
              <a:t>Unit 3</a:t>
            </a:r>
          </a:p>
        </p:txBody>
      </p:sp>
    </p:spTree>
    <p:extLst>
      <p:ext uri="{BB962C8B-B14F-4D97-AF65-F5344CB8AC3E}">
        <p14:creationId xmlns:p14="http://schemas.microsoft.com/office/powerpoint/2010/main" val="3276907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81733"/>
            <a:ext cx="10515600" cy="1325563"/>
          </a:xfrm>
          <a:solidFill>
            <a:schemeClr val="accent2">
              <a:lumMod val="75000"/>
            </a:schemeClr>
          </a:solidFill>
        </p:spPr>
        <p:txBody>
          <a:bodyPr/>
          <a:lstStyle/>
          <a:p>
            <a:pPr algn="ctr"/>
            <a:r>
              <a:rPr lang="en-IN" b="1" dirty="0"/>
              <a:t>Methods of Data Collection</a:t>
            </a:r>
            <a:endParaRPr lang="en-IN" dirty="0"/>
          </a:p>
        </p:txBody>
      </p:sp>
    </p:spTree>
    <p:extLst>
      <p:ext uri="{BB962C8B-B14F-4D97-AF65-F5344CB8AC3E}">
        <p14:creationId xmlns:p14="http://schemas.microsoft.com/office/powerpoint/2010/main" val="2663824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Data Collection</a:t>
            </a:r>
          </a:p>
        </p:txBody>
      </p:sp>
      <p:sp>
        <p:nvSpPr>
          <p:cNvPr id="3" name="Content Placeholder 2"/>
          <p:cNvSpPr>
            <a:spLocks noGrp="1"/>
          </p:cNvSpPr>
          <p:nvPr>
            <p:ph idx="1"/>
          </p:nvPr>
        </p:nvSpPr>
        <p:spPr/>
        <p:txBody>
          <a:bodyPr>
            <a:normAutofit/>
          </a:bodyPr>
          <a:lstStyle/>
          <a:p>
            <a:r>
              <a:rPr lang="en-US" dirty="0"/>
              <a:t>The task of data collection begins after a research problem has been defined and research design/</a:t>
            </a:r>
            <a:r>
              <a:rPr lang="en-IN" dirty="0"/>
              <a:t>plan chalked out</a:t>
            </a:r>
          </a:p>
          <a:p>
            <a:r>
              <a:rPr lang="en-US" dirty="0"/>
              <a:t>Two types of data viz., </a:t>
            </a:r>
            <a:r>
              <a:rPr lang="en-US" dirty="0">
                <a:solidFill>
                  <a:srgbClr val="7030A0"/>
                </a:solidFill>
              </a:rPr>
              <a:t>primary and secondary</a:t>
            </a:r>
            <a:r>
              <a:rPr lang="en-US" dirty="0"/>
              <a:t>. </a:t>
            </a:r>
          </a:p>
          <a:p>
            <a:r>
              <a:rPr lang="en-US" dirty="0"/>
              <a:t>The </a:t>
            </a:r>
            <a:r>
              <a:rPr lang="en-US" i="1" dirty="0">
                <a:solidFill>
                  <a:srgbClr val="FF0000"/>
                </a:solidFill>
              </a:rPr>
              <a:t>primary data </a:t>
            </a:r>
            <a:r>
              <a:rPr lang="en-US" dirty="0"/>
              <a:t>are those which are collected afresh and for the first time, and thus happen to be original in character.</a:t>
            </a:r>
          </a:p>
          <a:p>
            <a:r>
              <a:rPr lang="en-US" dirty="0"/>
              <a:t>The </a:t>
            </a:r>
            <a:r>
              <a:rPr lang="en-US" i="1" dirty="0">
                <a:solidFill>
                  <a:srgbClr val="FF0000"/>
                </a:solidFill>
              </a:rPr>
              <a:t>secondary data </a:t>
            </a:r>
            <a:r>
              <a:rPr lang="en-US" dirty="0"/>
              <a:t>are those which have already been collected by someone else and which have already been passed through the statistical process</a:t>
            </a:r>
          </a:p>
          <a:p>
            <a:r>
              <a:rPr lang="en-US" dirty="0"/>
              <a:t>The methods of collecting primary and </a:t>
            </a:r>
            <a:r>
              <a:rPr lang="en-IN" dirty="0"/>
              <a:t>secondary data differ</a:t>
            </a:r>
          </a:p>
        </p:txBody>
      </p:sp>
    </p:spTree>
    <p:extLst>
      <p:ext uri="{BB962C8B-B14F-4D97-AF65-F5344CB8AC3E}">
        <p14:creationId xmlns:p14="http://schemas.microsoft.com/office/powerpoint/2010/main" val="4061438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5"/>
            <a:ext cx="10515600" cy="902843"/>
          </a:xfrm>
          <a:solidFill>
            <a:schemeClr val="accent4">
              <a:lumMod val="60000"/>
              <a:lumOff val="40000"/>
            </a:schemeClr>
          </a:solidFill>
        </p:spPr>
        <p:txBody>
          <a:bodyPr/>
          <a:lstStyle/>
          <a:p>
            <a:pPr algn="ctr"/>
            <a:r>
              <a:rPr lang="en-IN" b="1" dirty="0"/>
              <a:t>Collecting Primary Data</a:t>
            </a:r>
          </a:p>
        </p:txBody>
      </p:sp>
      <p:sp>
        <p:nvSpPr>
          <p:cNvPr id="3" name="Content Placeholder 2"/>
          <p:cNvSpPr>
            <a:spLocks noGrp="1"/>
          </p:cNvSpPr>
          <p:nvPr>
            <p:ph idx="1"/>
          </p:nvPr>
        </p:nvSpPr>
        <p:spPr>
          <a:xfrm>
            <a:off x="838200" y="1085088"/>
            <a:ext cx="10515600" cy="2831719"/>
          </a:xfrm>
        </p:spPr>
        <p:txBody>
          <a:bodyPr/>
          <a:lstStyle/>
          <a:p>
            <a:r>
              <a:rPr lang="en-US" dirty="0"/>
              <a:t>During the course of doing experiments in an experimental research </a:t>
            </a:r>
          </a:p>
          <a:p>
            <a:r>
              <a:rPr lang="en-US" dirty="0"/>
              <a:t>In descriptive research - perform surveys, whether sample surveys or census surveys, </a:t>
            </a:r>
          </a:p>
          <a:p>
            <a:pPr lvl="1"/>
            <a:r>
              <a:rPr lang="en-US" dirty="0"/>
              <a:t>through observation </a:t>
            </a:r>
          </a:p>
          <a:p>
            <a:pPr lvl="1"/>
            <a:r>
              <a:rPr lang="en-US" dirty="0"/>
              <a:t>through direct communication with respondents </a:t>
            </a:r>
          </a:p>
          <a:p>
            <a:pPr lvl="1"/>
            <a:r>
              <a:rPr lang="en-US" dirty="0"/>
              <a:t>through personal interviews.</a:t>
            </a:r>
            <a:endParaRPr lang="en-IN" dirty="0"/>
          </a:p>
        </p:txBody>
      </p:sp>
      <p:pic>
        <p:nvPicPr>
          <p:cNvPr id="4" name="Picture 3"/>
          <p:cNvPicPr>
            <a:picLocks noChangeAspect="1"/>
          </p:cNvPicPr>
          <p:nvPr/>
        </p:nvPicPr>
        <p:blipFill>
          <a:blip r:embed="rId2"/>
          <a:stretch>
            <a:fillRect/>
          </a:stretch>
        </p:blipFill>
        <p:spPr>
          <a:xfrm>
            <a:off x="2582989" y="4140898"/>
            <a:ext cx="6609779" cy="1938665"/>
          </a:xfrm>
          <a:prstGeom prst="rect">
            <a:avLst/>
          </a:prstGeom>
        </p:spPr>
      </p:pic>
    </p:spTree>
    <p:extLst>
      <p:ext uri="{BB962C8B-B14F-4D97-AF65-F5344CB8AC3E}">
        <p14:creationId xmlns:p14="http://schemas.microsoft.com/office/powerpoint/2010/main" val="610767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Methods of collecting primary data</a:t>
            </a:r>
            <a:endParaRPr lang="en-IN" b="1" dirty="0"/>
          </a:p>
        </p:txBody>
      </p:sp>
      <p:sp>
        <p:nvSpPr>
          <p:cNvPr id="3" name="Content Placeholder 2"/>
          <p:cNvSpPr>
            <a:spLocks noGrp="1"/>
          </p:cNvSpPr>
          <p:nvPr>
            <p:ph idx="1"/>
          </p:nvPr>
        </p:nvSpPr>
        <p:spPr>
          <a:xfrm>
            <a:off x="838200" y="2092388"/>
            <a:ext cx="10515600" cy="4026190"/>
          </a:xfrm>
        </p:spPr>
        <p:txBody>
          <a:bodyPr>
            <a:noAutofit/>
          </a:bodyPr>
          <a:lstStyle/>
          <a:p>
            <a:pPr marL="0" indent="0">
              <a:lnSpc>
                <a:spcPct val="150000"/>
              </a:lnSpc>
              <a:buNone/>
            </a:pPr>
            <a:r>
              <a:rPr lang="en-US" sz="3600" dirty="0"/>
              <a:t>(</a:t>
            </a:r>
            <a:r>
              <a:rPr lang="en-US" sz="3600" dirty="0" err="1"/>
              <a:t>i</a:t>
            </a:r>
            <a:r>
              <a:rPr lang="en-US" sz="3600" dirty="0"/>
              <a:t>) Observation method</a:t>
            </a:r>
          </a:p>
          <a:p>
            <a:pPr marL="0" indent="0">
              <a:lnSpc>
                <a:spcPct val="150000"/>
              </a:lnSpc>
              <a:buNone/>
            </a:pPr>
            <a:r>
              <a:rPr lang="en-US" sz="3600" dirty="0"/>
              <a:t>(ii) interview method</a:t>
            </a:r>
          </a:p>
          <a:p>
            <a:pPr marL="0" indent="0">
              <a:lnSpc>
                <a:spcPct val="150000"/>
              </a:lnSpc>
              <a:buNone/>
            </a:pPr>
            <a:r>
              <a:rPr lang="en-US" sz="3600" dirty="0"/>
              <a:t>(iii) questionnaires</a:t>
            </a:r>
          </a:p>
          <a:p>
            <a:pPr marL="0" indent="0">
              <a:lnSpc>
                <a:spcPct val="150000"/>
              </a:lnSpc>
              <a:buNone/>
            </a:pPr>
            <a:r>
              <a:rPr lang="en-US" sz="3600" dirty="0"/>
              <a:t>(iv) schedules</a:t>
            </a:r>
            <a:endParaRPr lang="en-IN" sz="3600" dirty="0">
              <a:solidFill>
                <a:srgbClr val="FF0000"/>
              </a:solidFill>
            </a:endParaRPr>
          </a:p>
        </p:txBody>
      </p:sp>
    </p:spTree>
    <p:extLst>
      <p:ext uri="{BB962C8B-B14F-4D97-AF65-F5344CB8AC3E}">
        <p14:creationId xmlns:p14="http://schemas.microsoft.com/office/powerpoint/2010/main" val="296716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a:t>
            </a:r>
            <a:r>
              <a:rPr lang="en-IN" b="1" dirty="0" err="1"/>
              <a:t>i</a:t>
            </a:r>
            <a:r>
              <a:rPr lang="en-IN" b="1" dirty="0"/>
              <a:t>) Observation</a:t>
            </a:r>
          </a:p>
        </p:txBody>
      </p:sp>
      <p:sp>
        <p:nvSpPr>
          <p:cNvPr id="3" name="Content Placeholder 2"/>
          <p:cNvSpPr>
            <a:spLocks noGrp="1"/>
          </p:cNvSpPr>
          <p:nvPr>
            <p:ph idx="1"/>
          </p:nvPr>
        </p:nvSpPr>
        <p:spPr/>
        <p:txBody>
          <a:bodyPr/>
          <a:lstStyle/>
          <a:p>
            <a:pPr algn="just"/>
            <a:r>
              <a:rPr lang="en-US" dirty="0"/>
              <a:t>Observation becomes a scientific tool and the method of data collection for the researcher, </a:t>
            </a:r>
          </a:p>
          <a:p>
            <a:pPr algn="just"/>
            <a:r>
              <a:rPr lang="en-US" dirty="0"/>
              <a:t>serves a formulated research purpose</a:t>
            </a:r>
          </a:p>
          <a:p>
            <a:pPr algn="just"/>
            <a:r>
              <a:rPr lang="en-US" dirty="0"/>
              <a:t>is systematically planned and recorded </a:t>
            </a:r>
          </a:p>
          <a:p>
            <a:pPr algn="just"/>
            <a:r>
              <a:rPr lang="en-US" dirty="0"/>
              <a:t>is subjected to checks </a:t>
            </a:r>
          </a:p>
          <a:p>
            <a:pPr algn="just"/>
            <a:r>
              <a:rPr lang="en-US" dirty="0"/>
              <a:t>controls on validity and reliability</a:t>
            </a:r>
          </a:p>
          <a:p>
            <a:pPr algn="just"/>
            <a:r>
              <a:rPr lang="en-IN" dirty="0"/>
              <a:t>the information is </a:t>
            </a:r>
            <a:r>
              <a:rPr lang="en-US" dirty="0"/>
              <a:t>sought by way of investigator’s own direct observation without asking from the respondent</a:t>
            </a:r>
            <a:endParaRPr lang="en-IN" dirty="0"/>
          </a:p>
        </p:txBody>
      </p:sp>
    </p:spTree>
    <p:extLst>
      <p:ext uri="{BB962C8B-B14F-4D97-AF65-F5344CB8AC3E}">
        <p14:creationId xmlns:p14="http://schemas.microsoft.com/office/powerpoint/2010/main" val="3388581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052F4-FC64-1A66-A63A-D6E0B2FEC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3888F-BECA-5671-2A97-144892BD52E2}"/>
              </a:ext>
            </a:extLst>
          </p:cNvPr>
          <p:cNvSpPr>
            <a:spLocks noGrp="1"/>
          </p:cNvSpPr>
          <p:nvPr>
            <p:ph type="title"/>
          </p:nvPr>
        </p:nvSpPr>
        <p:spPr>
          <a:solidFill>
            <a:schemeClr val="accent4">
              <a:lumMod val="60000"/>
              <a:lumOff val="40000"/>
            </a:schemeClr>
          </a:solidFill>
        </p:spPr>
        <p:txBody>
          <a:bodyPr/>
          <a:lstStyle/>
          <a:p>
            <a:pPr algn="ctr"/>
            <a:r>
              <a:rPr lang="en-IN" b="1" dirty="0"/>
              <a:t>(</a:t>
            </a:r>
            <a:r>
              <a:rPr lang="en-IN" b="1" dirty="0" err="1"/>
              <a:t>i</a:t>
            </a:r>
            <a:r>
              <a:rPr lang="en-IN" b="1" dirty="0"/>
              <a:t>) Observation - Example</a:t>
            </a:r>
          </a:p>
        </p:txBody>
      </p:sp>
      <p:sp>
        <p:nvSpPr>
          <p:cNvPr id="3" name="Content Placeholder 2">
            <a:extLst>
              <a:ext uri="{FF2B5EF4-FFF2-40B4-BE49-F238E27FC236}">
                <a16:creationId xmlns:a16="http://schemas.microsoft.com/office/drawing/2014/main" id="{5C1B51F5-D4E0-6229-82F2-D179095C025B}"/>
              </a:ext>
            </a:extLst>
          </p:cNvPr>
          <p:cNvSpPr>
            <a:spLocks noGrp="1"/>
          </p:cNvSpPr>
          <p:nvPr>
            <p:ph idx="1"/>
          </p:nvPr>
        </p:nvSpPr>
        <p:spPr>
          <a:xfrm>
            <a:off x="838200" y="1825624"/>
            <a:ext cx="10515600" cy="4800953"/>
          </a:xfrm>
        </p:spPr>
        <p:txBody>
          <a:bodyPr>
            <a:normAutofit/>
          </a:bodyPr>
          <a:lstStyle/>
          <a:p>
            <a:pPr algn="just">
              <a:lnSpc>
                <a:spcPct val="200000"/>
              </a:lnSpc>
            </a:pPr>
            <a:r>
              <a:rPr lang="en-US" dirty="0"/>
              <a:t>Healthcare: Observing Patient Behavior in a Hospital</a:t>
            </a:r>
          </a:p>
          <a:p>
            <a:pPr algn="just">
              <a:lnSpc>
                <a:spcPct val="200000"/>
              </a:lnSpc>
            </a:pPr>
            <a:r>
              <a:rPr lang="en-US" dirty="0"/>
              <a:t>Education: Classroom Observation of Student Engagement</a:t>
            </a:r>
          </a:p>
          <a:p>
            <a:pPr algn="just">
              <a:lnSpc>
                <a:spcPct val="200000"/>
              </a:lnSpc>
            </a:pPr>
            <a:r>
              <a:rPr lang="en-US" dirty="0"/>
              <a:t>Marketing: Observing Customer Behavior in a Store</a:t>
            </a:r>
          </a:p>
          <a:p>
            <a:pPr algn="just">
              <a:lnSpc>
                <a:spcPct val="200000"/>
              </a:lnSpc>
            </a:pPr>
            <a:r>
              <a:rPr lang="en-US" dirty="0"/>
              <a:t>Psychology: Observing Social Interactions in Children</a:t>
            </a:r>
          </a:p>
          <a:p>
            <a:pPr algn="just">
              <a:lnSpc>
                <a:spcPct val="200000"/>
              </a:lnSpc>
            </a:pPr>
            <a:r>
              <a:rPr lang="en-US" dirty="0"/>
              <a:t>Environmental Studies: Observing Animal Behavior in Natural Habitats</a:t>
            </a:r>
            <a:endParaRPr lang="en-IN" dirty="0"/>
          </a:p>
        </p:txBody>
      </p:sp>
    </p:spTree>
    <p:extLst>
      <p:ext uri="{BB962C8B-B14F-4D97-AF65-F5344CB8AC3E}">
        <p14:creationId xmlns:p14="http://schemas.microsoft.com/office/powerpoint/2010/main" val="3543690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dirty="0"/>
              <a:t>Advantages</a:t>
            </a:r>
          </a:p>
          <a:p>
            <a:pPr lvl="1"/>
            <a:r>
              <a:rPr lang="en-IN" dirty="0"/>
              <a:t>subjective bias is eliminated</a:t>
            </a:r>
          </a:p>
          <a:p>
            <a:pPr lvl="1"/>
            <a:r>
              <a:rPr lang="en-IN" dirty="0"/>
              <a:t>Information </a:t>
            </a:r>
            <a:r>
              <a:rPr lang="en-US" dirty="0"/>
              <a:t>relates to what is currently happening</a:t>
            </a:r>
          </a:p>
          <a:p>
            <a:pPr lvl="1"/>
            <a:r>
              <a:rPr lang="en-IN" dirty="0"/>
              <a:t>independent of respondents’ </a:t>
            </a:r>
            <a:r>
              <a:rPr lang="en-US" dirty="0"/>
              <a:t>willingness to respond or cooperate</a:t>
            </a:r>
          </a:p>
          <a:p>
            <a:pPr lvl="1"/>
            <a:r>
              <a:rPr lang="en-US" dirty="0"/>
              <a:t>deal with respondents who are not capable of giving verbal reports of their feelings</a:t>
            </a:r>
          </a:p>
          <a:p>
            <a:r>
              <a:rPr lang="en-IN" dirty="0"/>
              <a:t>Limitations</a:t>
            </a:r>
          </a:p>
          <a:p>
            <a:pPr lvl="1"/>
            <a:r>
              <a:rPr lang="en-IN" dirty="0"/>
              <a:t>expensive method</a:t>
            </a:r>
          </a:p>
          <a:p>
            <a:pPr lvl="1"/>
            <a:r>
              <a:rPr lang="en-IN" dirty="0"/>
              <a:t>Limited information</a:t>
            </a:r>
          </a:p>
          <a:p>
            <a:pPr lvl="1"/>
            <a:r>
              <a:rPr lang="en-IN" dirty="0"/>
              <a:t>unforeseen factors may interfere during observation</a:t>
            </a:r>
          </a:p>
          <a:p>
            <a:endParaRPr lang="en-IN" dirty="0"/>
          </a:p>
        </p:txBody>
      </p:sp>
      <p:sp>
        <p:nvSpPr>
          <p:cNvPr id="4" name="Title 1"/>
          <p:cNvSpPr txBox="1">
            <a:spLocks/>
          </p:cNvSpPr>
          <p:nvPr/>
        </p:nvSpPr>
        <p:spPr>
          <a:xfrm>
            <a:off x="990600" y="517525"/>
            <a:ext cx="10515600" cy="1325563"/>
          </a:xfrm>
          <a:prstGeom prst="rect">
            <a:avLst/>
          </a:prstGeom>
          <a:solidFill>
            <a:schemeClr val="accent4">
              <a:lumMod val="60000"/>
              <a:lumOff val="4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a:t>
            </a:r>
            <a:r>
              <a:rPr lang="en-IN" b="1" dirty="0" err="1"/>
              <a:t>i</a:t>
            </a:r>
            <a:r>
              <a:rPr lang="en-IN" b="1" dirty="0"/>
              <a:t>) Observation</a:t>
            </a:r>
          </a:p>
        </p:txBody>
      </p:sp>
    </p:spTree>
    <p:extLst>
      <p:ext uri="{BB962C8B-B14F-4D97-AF65-F5344CB8AC3E}">
        <p14:creationId xmlns:p14="http://schemas.microsoft.com/office/powerpoint/2010/main" val="1571807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(ii) interview method</a:t>
            </a:r>
            <a:endParaRPr lang="en-IN" b="1" dirty="0"/>
          </a:p>
        </p:txBody>
      </p:sp>
      <p:sp>
        <p:nvSpPr>
          <p:cNvPr id="3" name="Content Placeholder 2"/>
          <p:cNvSpPr>
            <a:spLocks noGrp="1"/>
          </p:cNvSpPr>
          <p:nvPr>
            <p:ph idx="1"/>
          </p:nvPr>
        </p:nvSpPr>
        <p:spPr>
          <a:xfrm>
            <a:off x="936978" y="1825624"/>
            <a:ext cx="10318044" cy="4925131"/>
          </a:xfrm>
        </p:spPr>
        <p:txBody>
          <a:bodyPr>
            <a:normAutofit lnSpcReduction="10000"/>
          </a:bodyPr>
          <a:lstStyle/>
          <a:p>
            <a:pPr algn="just"/>
            <a:r>
              <a:rPr lang="en-US" dirty="0"/>
              <a:t>Involves presentation of oral-verbal stimuli and reply in </a:t>
            </a:r>
            <a:r>
              <a:rPr lang="en-IN" dirty="0"/>
              <a:t>terms of oral-verbal responses</a:t>
            </a:r>
          </a:p>
          <a:p>
            <a:pPr algn="just"/>
            <a:r>
              <a:rPr lang="en-IN" dirty="0"/>
              <a:t>Through </a:t>
            </a:r>
            <a:r>
              <a:rPr lang="en-IN" dirty="0">
                <a:solidFill>
                  <a:srgbClr val="FF0000"/>
                </a:solidFill>
              </a:rPr>
              <a:t>personal interviews </a:t>
            </a:r>
            <a:r>
              <a:rPr lang="en-IN" dirty="0"/>
              <a:t>or </a:t>
            </a:r>
            <a:r>
              <a:rPr lang="en-IN" dirty="0">
                <a:solidFill>
                  <a:srgbClr val="FF0000"/>
                </a:solidFill>
              </a:rPr>
              <a:t>telephone interviews</a:t>
            </a:r>
          </a:p>
          <a:p>
            <a:pPr marL="514350" indent="-514350" algn="just">
              <a:buFont typeface="+mj-lt"/>
              <a:buAutoNum type="arabicPeriod"/>
            </a:pPr>
            <a:r>
              <a:rPr lang="en-US" b="1" i="1" dirty="0">
                <a:solidFill>
                  <a:srgbClr val="FF0000"/>
                </a:solidFill>
              </a:rPr>
              <a:t>Personal interviews </a:t>
            </a:r>
            <a:r>
              <a:rPr lang="en-US" i="1" dirty="0"/>
              <a:t>- </a:t>
            </a:r>
            <a:r>
              <a:rPr lang="en-US" dirty="0"/>
              <a:t>Personal interview method requires a person known as the interviewer to ask questions generally in face-to-face contact to the other person</a:t>
            </a:r>
          </a:p>
          <a:p>
            <a:pPr marL="514350" indent="-514350" algn="just">
              <a:buFont typeface="+mj-lt"/>
              <a:buAutoNum type="arabicPeriod"/>
            </a:pPr>
            <a:r>
              <a:rPr lang="en-US" b="1" dirty="0">
                <a:solidFill>
                  <a:srgbClr val="FF0000"/>
                </a:solidFill>
              </a:rPr>
              <a:t>Telephone interviews </a:t>
            </a:r>
            <a:r>
              <a:rPr lang="en-US" dirty="0"/>
              <a:t>– interviewing over the phone</a:t>
            </a:r>
          </a:p>
          <a:p>
            <a:pPr marL="0" indent="0" algn="just">
              <a:buNone/>
            </a:pPr>
            <a:endParaRPr lang="en-US" dirty="0"/>
          </a:p>
          <a:p>
            <a:pPr algn="just"/>
            <a:r>
              <a:rPr lang="en-IN" b="1" i="1" dirty="0">
                <a:solidFill>
                  <a:srgbClr val="FF0000"/>
                </a:solidFill>
              </a:rPr>
              <a:t>Structured interviews </a:t>
            </a:r>
            <a:r>
              <a:rPr lang="en-IN" i="1" dirty="0"/>
              <a:t>- </a:t>
            </a:r>
            <a:r>
              <a:rPr lang="en-US" dirty="0"/>
              <a:t>use of a set of </a:t>
            </a:r>
            <a:r>
              <a:rPr lang="en-US" dirty="0">
                <a:solidFill>
                  <a:srgbClr val="00B0F0"/>
                </a:solidFill>
              </a:rPr>
              <a:t>predetermined questions </a:t>
            </a:r>
            <a:r>
              <a:rPr lang="en-US" dirty="0"/>
              <a:t>and of highly standardized techniques of recording. The interviewer in a structured interview follows a rigid procedure laid down, asking questions in a </a:t>
            </a:r>
            <a:r>
              <a:rPr lang="en-IN" dirty="0"/>
              <a:t>form and order prescribed</a:t>
            </a:r>
          </a:p>
        </p:txBody>
      </p:sp>
    </p:spTree>
    <p:extLst>
      <p:ext uri="{BB962C8B-B14F-4D97-AF65-F5344CB8AC3E}">
        <p14:creationId xmlns:p14="http://schemas.microsoft.com/office/powerpoint/2010/main" val="1373644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(ii) interview method</a:t>
            </a:r>
            <a:endParaRPr lang="en-IN" b="1" dirty="0"/>
          </a:p>
        </p:txBody>
      </p:sp>
      <p:sp>
        <p:nvSpPr>
          <p:cNvPr id="3" name="Content Placeholder 2"/>
          <p:cNvSpPr>
            <a:spLocks noGrp="1"/>
          </p:cNvSpPr>
          <p:nvPr>
            <p:ph idx="1"/>
          </p:nvPr>
        </p:nvSpPr>
        <p:spPr/>
        <p:txBody>
          <a:bodyPr>
            <a:normAutofit lnSpcReduction="10000"/>
          </a:bodyPr>
          <a:lstStyle/>
          <a:p>
            <a:pPr algn="just"/>
            <a:r>
              <a:rPr lang="en-US" b="1" i="1" dirty="0">
                <a:solidFill>
                  <a:srgbClr val="FF0000"/>
                </a:solidFill>
              </a:rPr>
              <a:t>Unstructured interviews </a:t>
            </a:r>
            <a:r>
              <a:rPr lang="en-US" dirty="0"/>
              <a:t>– flexibility of approach to questioning. </a:t>
            </a:r>
          </a:p>
          <a:p>
            <a:pPr algn="just"/>
            <a:r>
              <a:rPr lang="en-US" dirty="0"/>
              <a:t>Unstructured interviews do not follow a system of pre-determined questions and standardized techniques of recording information. </a:t>
            </a:r>
          </a:p>
          <a:p>
            <a:pPr algn="just"/>
            <a:r>
              <a:rPr lang="en-US" dirty="0"/>
              <a:t>The interviewer is allowed much greater freedom to ask, in case of need, supplementary questions or at times he may omit certain questions if the situation so requires. </a:t>
            </a:r>
          </a:p>
          <a:p>
            <a:pPr algn="just"/>
            <a:r>
              <a:rPr lang="en-US" dirty="0"/>
              <a:t>change the sequence of questions. </a:t>
            </a:r>
          </a:p>
          <a:p>
            <a:pPr algn="just"/>
            <a:r>
              <a:rPr lang="en-US" dirty="0"/>
              <a:t>this sort of flexibility results in lack of comparability of one interview with another and the analysis of unstructured responses becomes much more difficult and time-consuming</a:t>
            </a:r>
            <a:endParaRPr lang="en-IN" dirty="0"/>
          </a:p>
        </p:txBody>
      </p:sp>
    </p:spTree>
    <p:extLst>
      <p:ext uri="{BB962C8B-B14F-4D97-AF65-F5344CB8AC3E}">
        <p14:creationId xmlns:p14="http://schemas.microsoft.com/office/powerpoint/2010/main" val="1541345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5995"/>
          </a:xfrm>
          <a:solidFill>
            <a:schemeClr val="accent4">
              <a:lumMod val="60000"/>
              <a:lumOff val="40000"/>
            </a:schemeClr>
          </a:solidFill>
        </p:spPr>
        <p:txBody>
          <a:bodyPr/>
          <a:lstStyle/>
          <a:p>
            <a:pPr algn="ctr"/>
            <a:r>
              <a:rPr lang="en-IN" b="1" dirty="0"/>
              <a:t>Advantages of interview method</a:t>
            </a:r>
          </a:p>
        </p:txBody>
      </p:sp>
      <p:sp>
        <p:nvSpPr>
          <p:cNvPr id="3" name="Content Placeholder 2"/>
          <p:cNvSpPr>
            <a:spLocks noGrp="1"/>
          </p:cNvSpPr>
          <p:nvPr>
            <p:ph idx="1"/>
          </p:nvPr>
        </p:nvSpPr>
        <p:spPr>
          <a:xfrm>
            <a:off x="509016" y="1341120"/>
            <a:ext cx="11109960" cy="5279136"/>
          </a:xfrm>
        </p:spPr>
        <p:txBody>
          <a:bodyPr>
            <a:normAutofit fontScale="85000" lnSpcReduction="20000"/>
          </a:bodyPr>
          <a:lstStyle/>
          <a:p>
            <a:pPr marL="0" indent="0" algn="just">
              <a:buNone/>
            </a:pPr>
            <a:r>
              <a:rPr lang="en-US" dirty="0"/>
              <a:t>(</a:t>
            </a:r>
            <a:r>
              <a:rPr lang="en-US" dirty="0" err="1"/>
              <a:t>i</a:t>
            </a:r>
            <a:r>
              <a:rPr lang="en-US" dirty="0"/>
              <a:t>) More information and that too in greater depth can be obtained.</a:t>
            </a:r>
          </a:p>
          <a:p>
            <a:pPr marL="0" indent="0" algn="just">
              <a:buNone/>
            </a:pPr>
            <a:r>
              <a:rPr lang="en-US" dirty="0"/>
              <a:t>(ii) Interviewer by his own skill can overcome the resistance, if any, of the respondents; </a:t>
            </a:r>
          </a:p>
          <a:p>
            <a:pPr marL="0" indent="0" algn="just">
              <a:buNone/>
            </a:pPr>
            <a:r>
              <a:rPr lang="en-US" dirty="0"/>
              <a:t>(iii) There is greater flexibility</a:t>
            </a:r>
          </a:p>
          <a:p>
            <a:pPr marL="0" indent="0" algn="just">
              <a:buNone/>
            </a:pPr>
            <a:r>
              <a:rPr lang="en-US" dirty="0"/>
              <a:t>(iv) applied to recording verbal answers to various questions.</a:t>
            </a:r>
          </a:p>
          <a:p>
            <a:pPr marL="0" indent="0" algn="just">
              <a:buNone/>
            </a:pPr>
            <a:r>
              <a:rPr lang="en-US" dirty="0"/>
              <a:t>(v) Personal information can as well be obtained easily under this method.</a:t>
            </a:r>
          </a:p>
          <a:p>
            <a:pPr marL="0" indent="0" algn="just">
              <a:buNone/>
            </a:pPr>
            <a:r>
              <a:rPr lang="en-US" dirty="0"/>
              <a:t>(vi) Samples can be controlled more effectively</a:t>
            </a:r>
          </a:p>
          <a:p>
            <a:pPr marL="0" indent="0" algn="just">
              <a:buNone/>
            </a:pPr>
            <a:r>
              <a:rPr lang="en-US" dirty="0"/>
              <a:t>(vii) The interviewer can usually control which person(s) will answer the questions. </a:t>
            </a:r>
            <a:endParaRPr lang="en-IN" dirty="0"/>
          </a:p>
          <a:p>
            <a:pPr marL="0" indent="0" algn="just">
              <a:buNone/>
            </a:pPr>
            <a:r>
              <a:rPr lang="en-US" dirty="0"/>
              <a:t>(viii) The interviewer may catch the informant off-guard and thus may secure the most spontaneous</a:t>
            </a:r>
          </a:p>
          <a:p>
            <a:pPr marL="0" indent="0" algn="just">
              <a:buNone/>
            </a:pPr>
            <a:r>
              <a:rPr lang="en-US" dirty="0"/>
              <a:t>reactions </a:t>
            </a:r>
          </a:p>
          <a:p>
            <a:pPr marL="0" indent="0" algn="just">
              <a:buNone/>
            </a:pPr>
            <a:r>
              <a:rPr lang="en-US" dirty="0"/>
              <a:t>(ix) The language of the interview can be adopted to the ability or educational level of the person interviewed </a:t>
            </a:r>
          </a:p>
          <a:p>
            <a:pPr marL="0" indent="0" algn="just">
              <a:buNone/>
            </a:pPr>
            <a:r>
              <a:rPr lang="en-US" dirty="0"/>
              <a:t>(x) The interviewer can collect supplementary information about the respondent’s personal characteristics</a:t>
            </a:r>
            <a:endParaRPr lang="en-IN" dirty="0"/>
          </a:p>
        </p:txBody>
      </p:sp>
    </p:spTree>
    <p:extLst>
      <p:ext uri="{BB962C8B-B14F-4D97-AF65-F5344CB8AC3E}">
        <p14:creationId xmlns:p14="http://schemas.microsoft.com/office/powerpoint/2010/main" val="952986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a:t>
            </a:r>
            <a:r>
              <a:rPr lang="en-US" dirty="0" err="1"/>
              <a:t>i</a:t>
            </a:r>
            <a:r>
              <a:rPr lang="en-US" dirty="0"/>
              <a:t>) It is a very expensive method, specially when large and widely spread geographical sample </a:t>
            </a:r>
            <a:r>
              <a:rPr lang="en-IN" dirty="0"/>
              <a:t>is taken.</a:t>
            </a:r>
          </a:p>
          <a:p>
            <a:r>
              <a:rPr lang="en-US" dirty="0"/>
              <a:t>(ii) There remains the possibility of the bias of interviewer as well as that of the respondent;</a:t>
            </a:r>
          </a:p>
          <a:p>
            <a:r>
              <a:rPr lang="en-US" dirty="0"/>
              <a:t>(iii) Certain types of respondents such as important officials may not be easily approachable</a:t>
            </a:r>
            <a:endParaRPr lang="en-IN" dirty="0"/>
          </a:p>
          <a:p>
            <a:r>
              <a:rPr lang="en-US" dirty="0"/>
              <a:t>(iv) This method is relatively more-time-consuming</a:t>
            </a:r>
          </a:p>
          <a:p>
            <a:r>
              <a:rPr lang="en-US" dirty="0"/>
              <a:t>(v) The presence of the interviewer on the spot may over-stimulate the respondent</a:t>
            </a:r>
          </a:p>
          <a:p>
            <a:r>
              <a:rPr lang="en-US" dirty="0"/>
              <a:t>(vi) selecting, training and supervising the field-staff is more complex </a:t>
            </a:r>
          </a:p>
          <a:p>
            <a:r>
              <a:rPr lang="en-US" dirty="0"/>
              <a:t>(vii) Interviewing at times may also introduce systematic errors.</a:t>
            </a:r>
          </a:p>
          <a:p>
            <a:r>
              <a:rPr lang="en-US" dirty="0"/>
              <a:t>(viii) Effective interview presupposes proper rapport with respondents</a:t>
            </a:r>
            <a:endParaRPr lang="en-IN" dirty="0"/>
          </a:p>
        </p:txBody>
      </p:sp>
      <p:sp>
        <p:nvSpPr>
          <p:cNvPr id="4" name="Title 1"/>
          <p:cNvSpPr>
            <a:spLocks noGrp="1"/>
          </p:cNvSpPr>
          <p:nvPr>
            <p:ph type="title"/>
          </p:nvPr>
        </p:nvSpPr>
        <p:spPr>
          <a:xfrm>
            <a:off x="838200" y="365125"/>
            <a:ext cx="10515600" cy="1325563"/>
          </a:xfrm>
          <a:solidFill>
            <a:schemeClr val="accent4">
              <a:lumMod val="60000"/>
              <a:lumOff val="40000"/>
            </a:schemeClr>
          </a:solidFill>
        </p:spPr>
        <p:txBody>
          <a:bodyPr/>
          <a:lstStyle/>
          <a:p>
            <a:pPr algn="ctr"/>
            <a:r>
              <a:rPr lang="en-IN" b="1" dirty="0"/>
              <a:t>Limitations of interview method</a:t>
            </a:r>
          </a:p>
        </p:txBody>
      </p:sp>
    </p:spTree>
    <p:extLst>
      <p:ext uri="{BB962C8B-B14F-4D97-AF65-F5344CB8AC3E}">
        <p14:creationId xmlns:p14="http://schemas.microsoft.com/office/powerpoint/2010/main" val="27232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(iii) questionnaires</a:t>
            </a:r>
            <a:endParaRPr lang="en-IN" b="1" dirty="0"/>
          </a:p>
        </p:txBody>
      </p:sp>
      <p:sp>
        <p:nvSpPr>
          <p:cNvPr id="3" name="Content Placeholder 2"/>
          <p:cNvSpPr>
            <a:spLocks noGrp="1"/>
          </p:cNvSpPr>
          <p:nvPr>
            <p:ph idx="1"/>
          </p:nvPr>
        </p:nvSpPr>
        <p:spPr/>
        <p:txBody>
          <a:bodyPr>
            <a:normAutofit/>
          </a:bodyPr>
          <a:lstStyle/>
          <a:p>
            <a:r>
              <a:rPr lang="en-US" dirty="0"/>
              <a:t>Popular in case of big enquiries</a:t>
            </a:r>
          </a:p>
          <a:p>
            <a:r>
              <a:rPr lang="en-IN" dirty="0"/>
              <a:t>Adopted </a:t>
            </a:r>
            <a:r>
              <a:rPr lang="en-US" dirty="0"/>
              <a:t>by private individuals, research workers, private and public organizations and even by governments</a:t>
            </a:r>
          </a:p>
          <a:p>
            <a:r>
              <a:rPr lang="en-US" dirty="0"/>
              <a:t>A questionnaire consists of a number of questions printed or typed in a definite order on a form or set of forms. </a:t>
            </a:r>
          </a:p>
          <a:p>
            <a:r>
              <a:rPr lang="en-US" dirty="0"/>
              <a:t>The questionnaire is mailed to respondents who are expected to read and understand the questions and write down the reply </a:t>
            </a:r>
          </a:p>
          <a:p>
            <a:r>
              <a:rPr lang="en-US" dirty="0"/>
              <a:t> The respondents have to answer the questions on their </a:t>
            </a:r>
            <a:r>
              <a:rPr lang="en-IN" dirty="0"/>
              <a:t>own.</a:t>
            </a:r>
          </a:p>
        </p:txBody>
      </p:sp>
    </p:spTree>
    <p:extLst>
      <p:ext uri="{BB962C8B-B14F-4D97-AF65-F5344CB8AC3E}">
        <p14:creationId xmlns:p14="http://schemas.microsoft.com/office/powerpoint/2010/main" val="2305777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Advantages of questionnaires</a:t>
            </a:r>
          </a:p>
        </p:txBody>
      </p:sp>
      <p:sp>
        <p:nvSpPr>
          <p:cNvPr id="3" name="Content Placeholder 2"/>
          <p:cNvSpPr>
            <a:spLocks noGrp="1"/>
          </p:cNvSpPr>
          <p:nvPr>
            <p:ph idx="1"/>
          </p:nvPr>
        </p:nvSpPr>
        <p:spPr/>
        <p:txBody>
          <a:bodyPr/>
          <a:lstStyle/>
          <a:p>
            <a:pPr marL="0" indent="0">
              <a:lnSpc>
                <a:spcPct val="100000"/>
              </a:lnSpc>
              <a:buNone/>
            </a:pPr>
            <a:r>
              <a:rPr lang="en-US" dirty="0"/>
              <a:t>1. There is low cost</a:t>
            </a:r>
          </a:p>
          <a:p>
            <a:pPr marL="0" indent="0">
              <a:lnSpc>
                <a:spcPct val="100000"/>
              </a:lnSpc>
              <a:buNone/>
            </a:pPr>
            <a:r>
              <a:rPr lang="en-US" dirty="0"/>
              <a:t>2. It is free from the bias of the interviewer; answers are in respondents’ own words.</a:t>
            </a:r>
          </a:p>
          <a:p>
            <a:pPr marL="0" indent="0">
              <a:lnSpc>
                <a:spcPct val="100000"/>
              </a:lnSpc>
              <a:buNone/>
            </a:pPr>
            <a:r>
              <a:rPr lang="en-US" dirty="0"/>
              <a:t>3. Respondents have adequate time to give well-thought-out answers.</a:t>
            </a:r>
          </a:p>
          <a:p>
            <a:pPr marL="0" indent="0">
              <a:lnSpc>
                <a:spcPct val="100000"/>
              </a:lnSpc>
              <a:buNone/>
            </a:pPr>
            <a:r>
              <a:rPr lang="en-US" dirty="0"/>
              <a:t>4. Respondents, who are not easily approachable, can also be reached conveniently.</a:t>
            </a:r>
          </a:p>
          <a:p>
            <a:pPr marL="0" indent="0">
              <a:lnSpc>
                <a:spcPct val="100000"/>
              </a:lnSpc>
              <a:buNone/>
            </a:pPr>
            <a:r>
              <a:rPr lang="en-US" dirty="0"/>
              <a:t>5 Large samples can be made use of and thus the results can be made more dependable</a:t>
            </a:r>
            <a:endParaRPr lang="en-IN" dirty="0"/>
          </a:p>
        </p:txBody>
      </p:sp>
    </p:spTree>
    <p:extLst>
      <p:ext uri="{BB962C8B-B14F-4D97-AF65-F5344CB8AC3E}">
        <p14:creationId xmlns:p14="http://schemas.microsoft.com/office/powerpoint/2010/main" val="2847981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IN" b="1" dirty="0"/>
              <a:t>Limitations of questionnaires</a:t>
            </a:r>
          </a:p>
        </p:txBody>
      </p:sp>
      <p:sp>
        <p:nvSpPr>
          <p:cNvPr id="3" name="Content Placeholder 2"/>
          <p:cNvSpPr>
            <a:spLocks noGrp="1"/>
          </p:cNvSpPr>
          <p:nvPr>
            <p:ph idx="1"/>
          </p:nvPr>
        </p:nvSpPr>
        <p:spPr>
          <a:xfrm>
            <a:off x="838200" y="1825624"/>
            <a:ext cx="10515600" cy="4778375"/>
          </a:xfrm>
        </p:spPr>
        <p:txBody>
          <a:bodyPr>
            <a:normAutofit lnSpcReduction="10000"/>
          </a:bodyPr>
          <a:lstStyle/>
          <a:p>
            <a:pPr marL="0" indent="0">
              <a:lnSpc>
                <a:spcPct val="110000"/>
              </a:lnSpc>
              <a:buNone/>
            </a:pPr>
            <a:r>
              <a:rPr lang="en-US" dirty="0"/>
              <a:t>1. Low rate of return of the duly filled in questionnaires</a:t>
            </a:r>
            <a:r>
              <a:rPr lang="en-IN" dirty="0"/>
              <a:t> </a:t>
            </a:r>
          </a:p>
          <a:p>
            <a:pPr marL="0" indent="0">
              <a:lnSpc>
                <a:spcPct val="110000"/>
              </a:lnSpc>
              <a:buNone/>
            </a:pPr>
            <a:r>
              <a:rPr lang="en-US" dirty="0"/>
              <a:t>2. It can be used only when respondents are educated and cooperating.</a:t>
            </a:r>
          </a:p>
          <a:p>
            <a:pPr marL="0" indent="0">
              <a:lnSpc>
                <a:spcPct val="110000"/>
              </a:lnSpc>
              <a:buNone/>
            </a:pPr>
            <a:r>
              <a:rPr lang="en-US" dirty="0"/>
              <a:t>3. The control over questionnaire may be lost once it is sent.</a:t>
            </a:r>
          </a:p>
          <a:p>
            <a:pPr marL="0" indent="0">
              <a:lnSpc>
                <a:spcPct val="110000"/>
              </a:lnSpc>
              <a:buNone/>
            </a:pPr>
            <a:r>
              <a:rPr lang="en-US" dirty="0"/>
              <a:t>4. Difficulty of amending the approach once </a:t>
            </a:r>
            <a:r>
              <a:rPr lang="en-IN" dirty="0"/>
              <a:t>questionnaires have been despatched.</a:t>
            </a:r>
          </a:p>
          <a:p>
            <a:pPr marL="0" indent="0">
              <a:lnSpc>
                <a:spcPct val="110000"/>
              </a:lnSpc>
              <a:buNone/>
            </a:pPr>
            <a:r>
              <a:rPr lang="en-US" dirty="0"/>
              <a:t>5. Possibility of ambiguous replies or omission of replies </a:t>
            </a:r>
            <a:r>
              <a:rPr lang="en-IN" dirty="0"/>
              <a:t> </a:t>
            </a:r>
          </a:p>
          <a:p>
            <a:pPr marL="0" indent="0">
              <a:lnSpc>
                <a:spcPct val="110000"/>
              </a:lnSpc>
              <a:buNone/>
            </a:pPr>
            <a:r>
              <a:rPr lang="en-US" dirty="0"/>
              <a:t>6. difficult to know whether willing respondents are truly representative.</a:t>
            </a:r>
          </a:p>
          <a:p>
            <a:pPr marL="0" indent="0">
              <a:lnSpc>
                <a:spcPct val="110000"/>
              </a:lnSpc>
              <a:buNone/>
            </a:pPr>
            <a:r>
              <a:rPr lang="en-US" dirty="0"/>
              <a:t>7. slow method</a:t>
            </a:r>
            <a:endParaRPr lang="en-IN" dirty="0"/>
          </a:p>
        </p:txBody>
      </p:sp>
    </p:spTree>
    <p:extLst>
      <p:ext uri="{BB962C8B-B14F-4D97-AF65-F5344CB8AC3E}">
        <p14:creationId xmlns:p14="http://schemas.microsoft.com/office/powerpoint/2010/main" val="3596192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60000"/>
              <a:lumOff val="40000"/>
            </a:schemeClr>
          </a:solidFill>
        </p:spPr>
        <p:txBody>
          <a:bodyPr/>
          <a:lstStyle/>
          <a:p>
            <a:pPr algn="ctr"/>
            <a:r>
              <a:rPr lang="en-US" b="1" dirty="0"/>
              <a:t>(iv) schedules</a:t>
            </a:r>
            <a:endParaRPr lang="en-IN" b="1" dirty="0"/>
          </a:p>
        </p:txBody>
      </p:sp>
      <p:sp>
        <p:nvSpPr>
          <p:cNvPr id="3" name="Content Placeholder 2"/>
          <p:cNvSpPr>
            <a:spLocks noGrp="1"/>
          </p:cNvSpPr>
          <p:nvPr>
            <p:ph idx="1"/>
          </p:nvPr>
        </p:nvSpPr>
        <p:spPr>
          <a:xfrm>
            <a:off x="838200" y="1825625"/>
            <a:ext cx="10515600" cy="4667250"/>
          </a:xfrm>
        </p:spPr>
        <p:txBody>
          <a:bodyPr>
            <a:normAutofit lnSpcReduction="10000"/>
          </a:bodyPr>
          <a:lstStyle/>
          <a:p>
            <a:pPr algn="just"/>
            <a:r>
              <a:rPr lang="en-US" dirty="0"/>
              <a:t>like the collection of data through questionnaire</a:t>
            </a:r>
          </a:p>
          <a:p>
            <a:pPr algn="just"/>
            <a:r>
              <a:rPr lang="en-US" dirty="0"/>
              <a:t> schedules (</a:t>
            </a:r>
            <a:r>
              <a:rPr lang="en-US" dirty="0" err="1"/>
              <a:t>proforma</a:t>
            </a:r>
            <a:r>
              <a:rPr lang="en-US" dirty="0"/>
              <a:t> containing a set of questions) are being filled in by the enumerators who are </a:t>
            </a:r>
            <a:r>
              <a:rPr lang="en-US" dirty="0">
                <a:solidFill>
                  <a:srgbClr val="FF0000"/>
                </a:solidFill>
              </a:rPr>
              <a:t>specially appointed </a:t>
            </a:r>
            <a:r>
              <a:rPr lang="en-US" dirty="0"/>
              <a:t>for the purpose. </a:t>
            </a:r>
          </a:p>
          <a:p>
            <a:pPr algn="just"/>
            <a:r>
              <a:rPr lang="en-US" dirty="0"/>
              <a:t>Enumerators put to them the questions from the </a:t>
            </a:r>
            <a:r>
              <a:rPr lang="en-US" dirty="0" err="1"/>
              <a:t>proforma</a:t>
            </a:r>
            <a:r>
              <a:rPr lang="en-US" dirty="0"/>
              <a:t> in the order the questions are listed </a:t>
            </a:r>
          </a:p>
          <a:p>
            <a:pPr algn="just"/>
            <a:r>
              <a:rPr lang="en-US" dirty="0">
                <a:solidFill>
                  <a:srgbClr val="FF0000"/>
                </a:solidFill>
              </a:rPr>
              <a:t>record the replies </a:t>
            </a:r>
            <a:r>
              <a:rPr lang="en-US" dirty="0"/>
              <a:t>in the space meant for the same in the </a:t>
            </a:r>
            <a:r>
              <a:rPr lang="en-US" dirty="0" err="1"/>
              <a:t>proforma</a:t>
            </a:r>
            <a:r>
              <a:rPr lang="en-US" dirty="0"/>
              <a:t>. </a:t>
            </a:r>
          </a:p>
          <a:p>
            <a:pPr algn="just"/>
            <a:r>
              <a:rPr lang="en-US" dirty="0"/>
              <a:t>schedules may be handed over to respondents and enumerators may help them in recording their responses</a:t>
            </a:r>
          </a:p>
          <a:p>
            <a:pPr algn="just"/>
            <a:r>
              <a:rPr lang="en-US" dirty="0"/>
              <a:t>Enumerators </a:t>
            </a:r>
            <a:r>
              <a:rPr lang="en-US" dirty="0">
                <a:solidFill>
                  <a:srgbClr val="FF0000"/>
                </a:solidFill>
              </a:rPr>
              <a:t>explain the aims and objects </a:t>
            </a:r>
            <a:r>
              <a:rPr lang="en-US" dirty="0"/>
              <a:t>of the investigation and also remove the difficulties which any respondent may feel in understanding</a:t>
            </a:r>
            <a:endParaRPr lang="en-IN" dirty="0"/>
          </a:p>
        </p:txBody>
      </p:sp>
    </p:spTree>
    <p:extLst>
      <p:ext uri="{BB962C8B-B14F-4D97-AF65-F5344CB8AC3E}">
        <p14:creationId xmlns:p14="http://schemas.microsoft.com/office/powerpoint/2010/main" val="1686194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requires the </a:t>
            </a:r>
            <a:r>
              <a:rPr lang="en-US" dirty="0">
                <a:solidFill>
                  <a:srgbClr val="FF0000"/>
                </a:solidFill>
              </a:rPr>
              <a:t>careful selection of enumerators </a:t>
            </a:r>
            <a:r>
              <a:rPr lang="en-US" dirty="0"/>
              <a:t>for filling up schedules </a:t>
            </a:r>
          </a:p>
          <a:p>
            <a:r>
              <a:rPr lang="en-US" dirty="0"/>
              <a:t>The enumerators should be </a:t>
            </a:r>
            <a:r>
              <a:rPr lang="en-US" dirty="0">
                <a:solidFill>
                  <a:srgbClr val="FF0000"/>
                </a:solidFill>
              </a:rPr>
              <a:t>trained to perform </a:t>
            </a:r>
            <a:r>
              <a:rPr lang="en-US" dirty="0"/>
              <a:t>their job well </a:t>
            </a:r>
          </a:p>
          <a:p>
            <a:r>
              <a:rPr lang="en-US" dirty="0"/>
              <a:t>the </a:t>
            </a:r>
            <a:r>
              <a:rPr lang="en-US" dirty="0">
                <a:solidFill>
                  <a:srgbClr val="FF0000"/>
                </a:solidFill>
              </a:rPr>
              <a:t>nature and scope </a:t>
            </a:r>
            <a:r>
              <a:rPr lang="en-US" dirty="0"/>
              <a:t>of the investigation should be explained to them thoroughly </a:t>
            </a:r>
          </a:p>
          <a:p>
            <a:r>
              <a:rPr lang="en-US" dirty="0"/>
              <a:t>Enumerators </a:t>
            </a:r>
            <a:r>
              <a:rPr lang="en-US" dirty="0">
                <a:solidFill>
                  <a:srgbClr val="FF0000"/>
                </a:solidFill>
              </a:rPr>
              <a:t>should be intelligent </a:t>
            </a:r>
            <a:r>
              <a:rPr lang="en-US" dirty="0"/>
              <a:t>and must possess the capacity of cross examination</a:t>
            </a:r>
          </a:p>
          <a:p>
            <a:r>
              <a:rPr lang="en-US" dirty="0"/>
              <a:t>they should be </a:t>
            </a:r>
            <a:r>
              <a:rPr lang="en-US" dirty="0">
                <a:solidFill>
                  <a:srgbClr val="FF0000"/>
                </a:solidFill>
              </a:rPr>
              <a:t>honest, sincere, hardworking </a:t>
            </a:r>
            <a:r>
              <a:rPr lang="en-US" dirty="0"/>
              <a:t>and should have patience and perseverance.</a:t>
            </a:r>
          </a:p>
          <a:p>
            <a:r>
              <a:rPr lang="en-US" dirty="0"/>
              <a:t>useful in </a:t>
            </a:r>
            <a:r>
              <a:rPr lang="en-US" dirty="0">
                <a:solidFill>
                  <a:srgbClr val="FF0000"/>
                </a:solidFill>
              </a:rPr>
              <a:t>extensive enquiries </a:t>
            </a:r>
            <a:r>
              <a:rPr lang="en-US" dirty="0"/>
              <a:t>and can lead to fairly reliable results. </a:t>
            </a:r>
          </a:p>
          <a:p>
            <a:r>
              <a:rPr lang="en-US" dirty="0">
                <a:solidFill>
                  <a:srgbClr val="FF0000"/>
                </a:solidFill>
              </a:rPr>
              <a:t>very expensive </a:t>
            </a:r>
          </a:p>
          <a:p>
            <a:r>
              <a:rPr lang="en-US" dirty="0"/>
              <a:t>usually adopted in investigations conducted by </a:t>
            </a:r>
            <a:r>
              <a:rPr lang="en-US" dirty="0">
                <a:solidFill>
                  <a:srgbClr val="FF0000"/>
                </a:solidFill>
              </a:rPr>
              <a:t>governmental agencies </a:t>
            </a:r>
            <a:r>
              <a:rPr lang="en-US" dirty="0"/>
              <a:t>or by </a:t>
            </a:r>
            <a:r>
              <a:rPr lang="en-US" dirty="0">
                <a:solidFill>
                  <a:srgbClr val="FF0000"/>
                </a:solidFill>
              </a:rPr>
              <a:t>some big organizations</a:t>
            </a:r>
            <a:r>
              <a:rPr lang="en-US" dirty="0"/>
              <a:t>. </a:t>
            </a:r>
          </a:p>
          <a:p>
            <a:r>
              <a:rPr lang="en-US" dirty="0">
                <a:solidFill>
                  <a:srgbClr val="FF0000"/>
                </a:solidFill>
              </a:rPr>
              <a:t>Population census </a:t>
            </a:r>
            <a:r>
              <a:rPr lang="en-US" dirty="0"/>
              <a:t>all over the world is conducted through this </a:t>
            </a:r>
            <a:r>
              <a:rPr lang="en-IN" dirty="0"/>
              <a:t>method.</a:t>
            </a:r>
          </a:p>
        </p:txBody>
      </p:sp>
      <p:sp>
        <p:nvSpPr>
          <p:cNvPr id="4" name="Title 1"/>
          <p:cNvSpPr>
            <a:spLocks noGrp="1"/>
          </p:cNvSpPr>
          <p:nvPr>
            <p:ph type="title"/>
          </p:nvPr>
        </p:nvSpPr>
        <p:spPr>
          <a:solidFill>
            <a:schemeClr val="accent4">
              <a:lumMod val="60000"/>
              <a:lumOff val="40000"/>
            </a:schemeClr>
          </a:solidFill>
        </p:spPr>
        <p:txBody>
          <a:bodyPr/>
          <a:lstStyle/>
          <a:p>
            <a:pPr algn="ctr"/>
            <a:r>
              <a:rPr lang="en-US" b="1" dirty="0"/>
              <a:t>(iv) schedules</a:t>
            </a:r>
            <a:endParaRPr lang="en-IN" b="1" dirty="0"/>
          </a:p>
        </p:txBody>
      </p:sp>
    </p:spTree>
    <p:extLst>
      <p:ext uri="{BB962C8B-B14F-4D97-AF65-F5344CB8AC3E}">
        <p14:creationId xmlns:p14="http://schemas.microsoft.com/office/powerpoint/2010/main" val="1435731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10515600" cy="4812242"/>
          </a:xfrm>
        </p:spPr>
        <p:txBody>
          <a:bodyPr>
            <a:normAutofit/>
          </a:bodyPr>
          <a:lstStyle/>
          <a:p>
            <a:pPr algn="just">
              <a:lnSpc>
                <a:spcPct val="100000"/>
              </a:lnSpc>
            </a:pPr>
            <a:r>
              <a:rPr lang="en-US" dirty="0"/>
              <a:t>Secondary data must possess the </a:t>
            </a:r>
            <a:r>
              <a:rPr lang="en-IN" dirty="0"/>
              <a:t>following characteristics:</a:t>
            </a:r>
          </a:p>
          <a:p>
            <a:pPr marL="457200" lvl="1" indent="0" algn="just">
              <a:lnSpc>
                <a:spcPct val="100000"/>
              </a:lnSpc>
              <a:buNone/>
            </a:pPr>
            <a:r>
              <a:rPr lang="en-US" b="1" dirty="0"/>
              <a:t>1. Reliability of data: </a:t>
            </a:r>
            <a:r>
              <a:rPr lang="en-US" dirty="0"/>
              <a:t>The reliability can be tested by finding out such things about the said data: (a) Who collected the data? (b) What were the sources of data? (c) Were they collected by using proper methods (d) At what time were they collected?(e) Was there any bias of the compiler? (t) What level of accuracy was desired? Was it achieved ?</a:t>
            </a:r>
          </a:p>
          <a:p>
            <a:pPr marL="457200" lvl="1" indent="0" algn="just">
              <a:lnSpc>
                <a:spcPct val="100000"/>
              </a:lnSpc>
              <a:buNone/>
            </a:pPr>
            <a:r>
              <a:rPr lang="en-US" b="1" dirty="0"/>
              <a:t>2. Suitability of data: </a:t>
            </a:r>
            <a:r>
              <a:rPr lang="en-US" dirty="0"/>
              <a:t>The data that are suitable for one enquiry may not necessarily be found suitable in another enquiry. Hence, if the available data are found to be unsuitable, they should not be </a:t>
            </a:r>
            <a:r>
              <a:rPr lang="en-IN" dirty="0"/>
              <a:t>used by the researcher</a:t>
            </a:r>
          </a:p>
          <a:p>
            <a:pPr marL="457200" lvl="1" indent="0" algn="just">
              <a:lnSpc>
                <a:spcPct val="100000"/>
              </a:lnSpc>
              <a:buNone/>
            </a:pPr>
            <a:r>
              <a:rPr lang="en-US" b="1" dirty="0"/>
              <a:t>3. Adequacy of data: </a:t>
            </a:r>
            <a:r>
              <a:rPr lang="en-US" dirty="0"/>
              <a:t>If the level of accuracy achieved in data is found inadequate for the purpose of the present enquiry, they will be considered as inadequate and should not be used by the researcher.</a:t>
            </a:r>
            <a:endParaRPr lang="en-IN" dirty="0"/>
          </a:p>
        </p:txBody>
      </p:sp>
      <p:sp>
        <p:nvSpPr>
          <p:cNvPr id="4" name="Title 1"/>
          <p:cNvSpPr>
            <a:spLocks noGrp="1"/>
          </p:cNvSpPr>
          <p:nvPr>
            <p:ph type="title"/>
          </p:nvPr>
        </p:nvSpPr>
        <p:spPr>
          <a:solidFill>
            <a:schemeClr val="accent4">
              <a:lumMod val="60000"/>
              <a:lumOff val="40000"/>
            </a:schemeClr>
          </a:solidFill>
        </p:spPr>
        <p:txBody>
          <a:bodyPr/>
          <a:lstStyle/>
          <a:p>
            <a:pPr algn="ctr"/>
            <a:r>
              <a:rPr lang="en-IN" b="1" dirty="0"/>
              <a:t>Collecting Secondary Data</a:t>
            </a:r>
          </a:p>
        </p:txBody>
      </p:sp>
    </p:spTree>
    <p:extLst>
      <p:ext uri="{BB962C8B-B14F-4D97-AF65-F5344CB8AC3E}">
        <p14:creationId xmlns:p14="http://schemas.microsoft.com/office/powerpoint/2010/main" val="1241856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lgn="just"/>
            <a:r>
              <a:rPr lang="en-IN" dirty="0"/>
              <a:t>Secondary </a:t>
            </a:r>
            <a:r>
              <a:rPr lang="en-US" dirty="0"/>
              <a:t>data may either be published data or unpublished data</a:t>
            </a:r>
          </a:p>
          <a:p>
            <a:pPr algn="just"/>
            <a:r>
              <a:rPr lang="en-US" dirty="0"/>
              <a:t>published data are available in: (a) various publications of the central, state are local governments; (b) various publications of foreign governments or of international bodies and their subsidiary </a:t>
            </a:r>
            <a:r>
              <a:rPr lang="en-US" dirty="0" err="1"/>
              <a:t>organisations</a:t>
            </a:r>
            <a:r>
              <a:rPr lang="en-US" dirty="0"/>
              <a:t>; (c) technical and trade journals; (d) books, magazines and newspapers; (e) reports and publications of various associations connected with business and industry, banks, stock exchanges, etc.; (f) reports prepared by research scholars, universities, economists, etc. in different fields; and (g) public records and statistics, historical documents, and other sources of published information. </a:t>
            </a:r>
          </a:p>
          <a:p>
            <a:pPr algn="just"/>
            <a:r>
              <a:rPr lang="en-US" dirty="0"/>
              <a:t>The sources of unpublished data - diaries, letters, unpublished biographies and autobiographies and also may be available with scholars and research workers, trade associations, </a:t>
            </a:r>
            <a:r>
              <a:rPr lang="en-US" dirty="0" err="1"/>
              <a:t>labour</a:t>
            </a:r>
            <a:r>
              <a:rPr lang="en-US" dirty="0"/>
              <a:t> bureaus and other public/</a:t>
            </a:r>
            <a:r>
              <a:rPr lang="en-IN" dirty="0"/>
              <a:t>private individuals and organisations.</a:t>
            </a:r>
          </a:p>
        </p:txBody>
      </p:sp>
      <p:sp>
        <p:nvSpPr>
          <p:cNvPr id="4" name="Title 1"/>
          <p:cNvSpPr>
            <a:spLocks noGrp="1"/>
          </p:cNvSpPr>
          <p:nvPr>
            <p:ph type="title"/>
          </p:nvPr>
        </p:nvSpPr>
        <p:spPr>
          <a:solidFill>
            <a:schemeClr val="accent4">
              <a:lumMod val="60000"/>
              <a:lumOff val="40000"/>
            </a:schemeClr>
          </a:solidFill>
        </p:spPr>
        <p:txBody>
          <a:bodyPr/>
          <a:lstStyle/>
          <a:p>
            <a:pPr algn="ctr"/>
            <a:r>
              <a:rPr lang="en-IN" b="1" dirty="0"/>
              <a:t>Collecting Secondary Data</a:t>
            </a:r>
          </a:p>
        </p:txBody>
      </p:sp>
    </p:spTree>
    <p:extLst>
      <p:ext uri="{BB962C8B-B14F-4D97-AF65-F5344CB8AC3E}">
        <p14:creationId xmlns:p14="http://schemas.microsoft.com/office/powerpoint/2010/main" val="3707990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1950085"/>
            <a:ext cx="10515600" cy="1951355"/>
          </a:xfrm>
          <a:solidFill>
            <a:schemeClr val="accent2">
              <a:lumMod val="75000"/>
            </a:schemeClr>
          </a:solidFill>
        </p:spPr>
        <p:txBody>
          <a:bodyPr>
            <a:normAutofit/>
          </a:bodyPr>
          <a:lstStyle/>
          <a:p>
            <a:pPr algn="ctr"/>
            <a:r>
              <a:rPr lang="en-IN" sz="6600" b="1" dirty="0"/>
              <a:t>Sampling Design</a:t>
            </a:r>
          </a:p>
        </p:txBody>
      </p:sp>
    </p:spTree>
    <p:extLst>
      <p:ext uri="{BB962C8B-B14F-4D97-AF65-F5344CB8AC3E}">
        <p14:creationId xmlns:p14="http://schemas.microsoft.com/office/powerpoint/2010/main" val="1170958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852" y="426292"/>
            <a:ext cx="6790944" cy="1036955"/>
          </a:xfrm>
          <a:solidFill>
            <a:srgbClr val="00B0F0"/>
          </a:solidFill>
        </p:spPr>
        <p:txBody>
          <a:bodyPr>
            <a:normAutofit/>
          </a:bodyPr>
          <a:lstStyle/>
          <a:p>
            <a:pPr algn="ctr"/>
            <a:r>
              <a:rPr lang="en-US" sz="5400" dirty="0"/>
              <a:t>Sampling Fundamentals</a:t>
            </a:r>
            <a:endParaRPr lang="en-IN" sz="5400" dirty="0"/>
          </a:p>
        </p:txBody>
      </p:sp>
      <p:sp>
        <p:nvSpPr>
          <p:cNvPr id="3" name="Content Placeholder 2"/>
          <p:cNvSpPr>
            <a:spLocks noGrp="1"/>
          </p:cNvSpPr>
          <p:nvPr>
            <p:ph idx="1"/>
          </p:nvPr>
        </p:nvSpPr>
        <p:spPr>
          <a:xfrm>
            <a:off x="252984" y="1690688"/>
            <a:ext cx="6964680" cy="4978336"/>
          </a:xfrm>
        </p:spPr>
        <p:txBody>
          <a:bodyPr>
            <a:normAutofit lnSpcReduction="10000"/>
          </a:bodyPr>
          <a:lstStyle/>
          <a:p>
            <a:pPr algn="just"/>
            <a:r>
              <a:rPr lang="en-IN" dirty="0"/>
              <a:t>A complete enumeration of </a:t>
            </a:r>
            <a:r>
              <a:rPr lang="en-US" dirty="0"/>
              <a:t>all items in the ‘population’ is known as a census inquiry.</a:t>
            </a:r>
          </a:p>
          <a:p>
            <a:pPr algn="just"/>
            <a:r>
              <a:rPr lang="en-US" dirty="0"/>
              <a:t>Sampling is the selection of some part of an aggregate or totality on the basis of which a judgement or inference about the aggregate or totality  </a:t>
            </a:r>
          </a:p>
          <a:p>
            <a:pPr algn="just"/>
            <a:r>
              <a:rPr lang="en-IN" dirty="0"/>
              <a:t>it is the </a:t>
            </a:r>
            <a:r>
              <a:rPr lang="en-US" dirty="0"/>
              <a:t>process of obtaining information about an entire population by examining only a part of it.</a:t>
            </a:r>
          </a:p>
          <a:p>
            <a:pPr algn="just"/>
            <a:r>
              <a:rPr lang="en-IN" dirty="0"/>
              <a:t>To draw </a:t>
            </a:r>
            <a:r>
              <a:rPr lang="en-US" dirty="0"/>
              <a:t>inferences based on samples about the parameters of population from which the samples are taken.</a:t>
            </a:r>
            <a:endParaRPr lang="en-IN" dirty="0"/>
          </a:p>
        </p:txBody>
      </p:sp>
      <p:sp>
        <p:nvSpPr>
          <p:cNvPr id="4" name="Cloud 3"/>
          <p:cNvSpPr/>
          <p:nvPr/>
        </p:nvSpPr>
        <p:spPr>
          <a:xfrm>
            <a:off x="7327392" y="198850"/>
            <a:ext cx="3657600" cy="3395378"/>
          </a:xfrm>
          <a:prstGeom prst="cloud">
            <a:avLst/>
          </a:prstGeom>
          <a:solidFill>
            <a:schemeClr val="bg1"/>
          </a:solidFill>
          <a:ln w="6350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rgbClr val="FF0000"/>
                </a:solidFill>
              </a:rPr>
              <a:t>Population</a:t>
            </a:r>
          </a:p>
        </p:txBody>
      </p:sp>
      <p:cxnSp>
        <p:nvCxnSpPr>
          <p:cNvPr id="6" name="Straight Arrow Connector 5"/>
          <p:cNvCxnSpPr/>
          <p:nvPr/>
        </p:nvCxnSpPr>
        <p:spPr>
          <a:xfrm>
            <a:off x="10120992" y="3048000"/>
            <a:ext cx="864000" cy="1332000"/>
          </a:xfrm>
          <a:prstGeom prst="straightConnector1">
            <a:avLst/>
          </a:prstGeom>
          <a:ln w="63500">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7" name="Cloud 6"/>
          <p:cNvSpPr/>
          <p:nvPr/>
        </p:nvSpPr>
        <p:spPr>
          <a:xfrm>
            <a:off x="9790176" y="4227489"/>
            <a:ext cx="2177235" cy="1154236"/>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solidFill>
                  <a:srgbClr val="FF0000"/>
                </a:solidFill>
              </a:rPr>
              <a:t>Sample</a:t>
            </a:r>
          </a:p>
        </p:txBody>
      </p:sp>
    </p:spTree>
    <p:extLst>
      <p:ext uri="{BB962C8B-B14F-4D97-AF65-F5344CB8AC3E}">
        <p14:creationId xmlns:p14="http://schemas.microsoft.com/office/powerpoint/2010/main" val="1854652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NEED FOR SAMPLING</a:t>
            </a:r>
          </a:p>
        </p:txBody>
      </p:sp>
      <p:sp>
        <p:nvSpPr>
          <p:cNvPr id="3" name="Content Placeholder 2"/>
          <p:cNvSpPr>
            <a:spLocks noGrp="1"/>
          </p:cNvSpPr>
          <p:nvPr>
            <p:ph idx="1"/>
          </p:nvPr>
        </p:nvSpPr>
        <p:spPr/>
        <p:txBody>
          <a:bodyPr>
            <a:normAutofit/>
          </a:bodyPr>
          <a:lstStyle/>
          <a:p>
            <a:pPr marL="0" indent="0">
              <a:buNone/>
            </a:pPr>
            <a:r>
              <a:rPr lang="en-US" dirty="0"/>
              <a:t>1. Sampling can save time and money.  </a:t>
            </a:r>
          </a:p>
          <a:p>
            <a:pPr marL="0" indent="0">
              <a:buNone/>
            </a:pPr>
            <a:r>
              <a:rPr lang="en-US" dirty="0"/>
              <a:t>2. Sampling may enable more accurate measurements when conducted by trained and experienced investigators.</a:t>
            </a:r>
          </a:p>
          <a:p>
            <a:pPr marL="0" indent="0">
              <a:buNone/>
            </a:pPr>
            <a:r>
              <a:rPr lang="en-US" dirty="0"/>
              <a:t>3. Sampling remains the only way when population contains infinitely many members.</a:t>
            </a:r>
          </a:p>
          <a:p>
            <a:pPr marL="0" indent="0">
              <a:buNone/>
            </a:pPr>
            <a:r>
              <a:rPr lang="en-US" dirty="0"/>
              <a:t>4. Sampling remains the only choice </a:t>
            </a:r>
            <a:r>
              <a:rPr lang="en-IN" dirty="0"/>
              <a:t>for destructive testing.</a:t>
            </a:r>
          </a:p>
          <a:p>
            <a:pPr marL="0" indent="0">
              <a:buNone/>
            </a:pPr>
            <a:r>
              <a:rPr lang="en-US" dirty="0"/>
              <a:t>5. Sampling usually enables to estimate the sampling errors  </a:t>
            </a:r>
            <a:endParaRPr lang="en-IN" dirty="0"/>
          </a:p>
        </p:txBody>
      </p:sp>
    </p:spTree>
    <p:extLst>
      <p:ext uri="{BB962C8B-B14F-4D97-AF65-F5344CB8AC3E}">
        <p14:creationId xmlns:p14="http://schemas.microsoft.com/office/powerpoint/2010/main" val="3228544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841375"/>
          </a:xfrm>
          <a:solidFill>
            <a:srgbClr val="00B0F0"/>
          </a:solidFill>
        </p:spPr>
        <p:txBody>
          <a:bodyPr/>
          <a:lstStyle/>
          <a:p>
            <a:pPr algn="ctr"/>
            <a:r>
              <a:rPr lang="en-IN" b="1" dirty="0"/>
              <a:t>Important Definitions </a:t>
            </a:r>
          </a:p>
        </p:txBody>
      </p:sp>
      <p:sp>
        <p:nvSpPr>
          <p:cNvPr id="3" name="Content Placeholder 2"/>
          <p:cNvSpPr>
            <a:spLocks noGrp="1"/>
          </p:cNvSpPr>
          <p:nvPr>
            <p:ph idx="1"/>
          </p:nvPr>
        </p:nvSpPr>
        <p:spPr>
          <a:xfrm>
            <a:off x="838200" y="1197356"/>
            <a:ext cx="10515600" cy="5549900"/>
          </a:xfrm>
        </p:spPr>
        <p:txBody>
          <a:bodyPr>
            <a:normAutofit/>
          </a:bodyPr>
          <a:lstStyle/>
          <a:p>
            <a:pPr marL="0" indent="0" algn="just">
              <a:buNone/>
            </a:pPr>
            <a:r>
              <a:rPr lang="en-US" dirty="0"/>
              <a:t>1. </a:t>
            </a:r>
            <a:r>
              <a:rPr lang="en-US" i="1" dirty="0">
                <a:solidFill>
                  <a:srgbClr val="FF0000"/>
                </a:solidFill>
              </a:rPr>
              <a:t>Universe/Population: </a:t>
            </a:r>
            <a:r>
              <a:rPr lang="en-US" dirty="0"/>
              <a:t>‘Universe’ refers to the total of the items or units in any field of inquiry; ‘population’ refers to the total of items about which information is desired.</a:t>
            </a:r>
          </a:p>
          <a:p>
            <a:pPr marL="0" indent="0" algn="just">
              <a:buNone/>
            </a:pPr>
            <a:r>
              <a:rPr lang="en-US" dirty="0"/>
              <a:t>2. </a:t>
            </a:r>
            <a:r>
              <a:rPr lang="en-US" i="1" dirty="0">
                <a:solidFill>
                  <a:srgbClr val="FF0000"/>
                </a:solidFill>
              </a:rPr>
              <a:t>Sampling frame: </a:t>
            </a:r>
            <a:r>
              <a:rPr lang="en-US" dirty="0"/>
              <a:t>The elementary units or the group or cluster of such units, called as sampling units. A list containing all such sampling units is known as sampling frame. </a:t>
            </a:r>
          </a:p>
          <a:p>
            <a:pPr marL="457200" lvl="1" indent="0" algn="just">
              <a:buNone/>
            </a:pPr>
            <a:r>
              <a:rPr lang="en-US" sz="2000" dirty="0"/>
              <a:t>Thus sampling frame consists of a list of items from which the sample is to be drawn. If the population is finite and the time frame is in the present or past, then it is possible for the frame to be identical with the population. </a:t>
            </a:r>
          </a:p>
          <a:p>
            <a:pPr marL="457200" lvl="1" indent="0" algn="just">
              <a:buNone/>
            </a:pPr>
            <a:r>
              <a:rPr lang="en-US" sz="2000" dirty="0"/>
              <a:t>In most cases they are not identical because it is often impossible to draw a sample directly from population. As such this frame is either constructed by a researcher for the purpose of his study or may consist of some existing list of the population. </a:t>
            </a:r>
          </a:p>
          <a:p>
            <a:pPr marL="457200" lvl="1" indent="0" algn="just">
              <a:buNone/>
            </a:pPr>
            <a:r>
              <a:rPr lang="en-US" sz="2000" dirty="0"/>
              <a:t>For instance, one can use telephone directory as a frame for conducting opinion survey in a city. Whatever the frame may be, it should be a good representative of the population.</a:t>
            </a:r>
            <a:endParaRPr lang="en-IN" sz="2000" dirty="0"/>
          </a:p>
        </p:txBody>
      </p:sp>
    </p:spTree>
    <p:extLst>
      <p:ext uri="{BB962C8B-B14F-4D97-AF65-F5344CB8AC3E}">
        <p14:creationId xmlns:p14="http://schemas.microsoft.com/office/powerpoint/2010/main" val="27228851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lgn="just">
              <a:buNone/>
            </a:pPr>
            <a:r>
              <a:rPr lang="en-US" dirty="0"/>
              <a:t>3. </a:t>
            </a:r>
            <a:r>
              <a:rPr lang="en-US" i="1" dirty="0">
                <a:solidFill>
                  <a:srgbClr val="FF0000"/>
                </a:solidFill>
              </a:rPr>
              <a:t>Sampling design: </a:t>
            </a:r>
            <a:r>
              <a:rPr lang="en-US" dirty="0"/>
              <a:t>A sample design is a definite plan for obtaining a sample from the sampling frame. </a:t>
            </a:r>
          </a:p>
          <a:p>
            <a:pPr marL="0" indent="0" algn="just">
              <a:buNone/>
            </a:pPr>
            <a:r>
              <a:rPr lang="en-US" dirty="0"/>
              <a:t>Technique or the procedure the researcher would adopt in selecting some 	sampling units from which inferences about the population is drawn</a:t>
            </a:r>
          </a:p>
          <a:p>
            <a:pPr marL="0" indent="0">
              <a:buNone/>
            </a:pPr>
            <a:endParaRPr lang="en-US" dirty="0"/>
          </a:p>
          <a:p>
            <a:pPr marL="0" indent="0" algn="just">
              <a:buNone/>
            </a:pPr>
            <a:r>
              <a:rPr lang="en-US" dirty="0"/>
              <a:t>4. </a:t>
            </a:r>
            <a:r>
              <a:rPr lang="en-US" i="1" dirty="0">
                <a:solidFill>
                  <a:srgbClr val="FF0000"/>
                </a:solidFill>
              </a:rPr>
              <a:t>Statistic(s) and parameter(s): </a:t>
            </a:r>
            <a:r>
              <a:rPr lang="en-US" dirty="0"/>
              <a:t>A statistic is a characteristic of a sample, whereas a parameter is a characteristic of a population. </a:t>
            </a:r>
          </a:p>
          <a:p>
            <a:pPr marL="457200" lvl="1" indent="0" algn="just">
              <a:buNone/>
            </a:pPr>
            <a:r>
              <a:rPr lang="en-US" dirty="0"/>
              <a:t>Measures such as mean, median, mode of the samples are called statistic(s) </a:t>
            </a:r>
          </a:p>
          <a:p>
            <a:pPr marL="457200" lvl="1" indent="0" algn="just">
              <a:buNone/>
            </a:pPr>
            <a:r>
              <a:rPr lang="en-US" dirty="0"/>
              <a:t>Measures such as mean, median, mode of the population are called </a:t>
            </a:r>
            <a:r>
              <a:rPr lang="en-IN" dirty="0"/>
              <a:t>as parameter(s).</a:t>
            </a:r>
          </a:p>
        </p:txBody>
      </p:sp>
      <p:sp>
        <p:nvSpPr>
          <p:cNvPr id="4" name="Title 1"/>
          <p:cNvSpPr>
            <a:spLocks noGrp="1"/>
          </p:cNvSpPr>
          <p:nvPr>
            <p:ph type="title"/>
          </p:nvPr>
        </p:nvSpPr>
        <p:spPr>
          <a:solidFill>
            <a:srgbClr val="00B0F0"/>
          </a:solidFill>
        </p:spPr>
        <p:txBody>
          <a:bodyPr/>
          <a:lstStyle/>
          <a:p>
            <a:pPr algn="ctr"/>
            <a:r>
              <a:rPr lang="en-IN" b="1" dirty="0"/>
              <a:t>Important Definitions </a:t>
            </a:r>
          </a:p>
        </p:txBody>
      </p:sp>
    </p:spTree>
    <p:extLst>
      <p:ext uri="{BB962C8B-B14F-4D97-AF65-F5344CB8AC3E}">
        <p14:creationId xmlns:p14="http://schemas.microsoft.com/office/powerpoint/2010/main" val="7004058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r>
              <a:rPr lang="en-IN" i="1" dirty="0"/>
              <a:t>5.  </a:t>
            </a:r>
            <a:r>
              <a:rPr lang="en-IN" i="1" dirty="0">
                <a:solidFill>
                  <a:srgbClr val="FF0000"/>
                </a:solidFill>
              </a:rPr>
              <a:t>Sampling error: </a:t>
            </a:r>
            <a:r>
              <a:rPr lang="en-IN" dirty="0"/>
              <a:t>Sample surveys </a:t>
            </a:r>
            <a:r>
              <a:rPr lang="en-US" dirty="0"/>
              <a:t>do imply the study of a small portion of the population and hence, there would naturally be a certain amount of inaccuracy in the information collected. </a:t>
            </a:r>
          </a:p>
          <a:p>
            <a:pPr algn="just"/>
            <a:r>
              <a:rPr lang="en-US" dirty="0"/>
              <a:t>This inaccuracy may be termed as sampling error or error variance.  </a:t>
            </a:r>
          </a:p>
          <a:p>
            <a:pPr marL="0" indent="0" algn="just">
              <a:buNone/>
            </a:pPr>
            <a:r>
              <a:rPr lang="en-US" dirty="0"/>
              <a:t>6. </a:t>
            </a:r>
            <a:r>
              <a:rPr lang="en-US" i="1" dirty="0">
                <a:solidFill>
                  <a:srgbClr val="FF0000"/>
                </a:solidFill>
              </a:rPr>
              <a:t>Precision:</a:t>
            </a:r>
            <a:r>
              <a:rPr lang="en-US" i="1" dirty="0"/>
              <a:t> </a:t>
            </a:r>
            <a:r>
              <a:rPr lang="en-US" dirty="0"/>
              <a:t>Precision is the range within which the population average (or other parameter) will lie in accordance with the reliability specified in the confidence level as a percentage of the estimate </a:t>
            </a:r>
            <a:r>
              <a:rPr lang="en-IN" dirty="0"/>
              <a:t>± or as a numerical quantity.</a:t>
            </a:r>
          </a:p>
          <a:p>
            <a:pPr algn="just"/>
            <a:r>
              <a:rPr lang="en-US" dirty="0"/>
              <a:t>if the estimate is </a:t>
            </a:r>
            <a:r>
              <a:rPr lang="en-US" dirty="0" err="1"/>
              <a:t>Rs</a:t>
            </a:r>
            <a:r>
              <a:rPr lang="en-US" dirty="0"/>
              <a:t> 4000 and the precision desired is ± 4%, then the true value will be in the range(</a:t>
            </a:r>
            <a:r>
              <a:rPr lang="en-US" dirty="0" err="1"/>
              <a:t>Rs</a:t>
            </a:r>
            <a:r>
              <a:rPr lang="en-US" dirty="0"/>
              <a:t> 3840 to </a:t>
            </a:r>
            <a:r>
              <a:rPr lang="en-US" dirty="0" err="1"/>
              <a:t>Rs</a:t>
            </a:r>
            <a:r>
              <a:rPr lang="en-US" dirty="0"/>
              <a:t> 4160)</a:t>
            </a:r>
            <a:endParaRPr lang="en-IN" dirty="0"/>
          </a:p>
        </p:txBody>
      </p:sp>
      <p:sp>
        <p:nvSpPr>
          <p:cNvPr id="4" name="Title 1"/>
          <p:cNvSpPr>
            <a:spLocks noGrp="1"/>
          </p:cNvSpPr>
          <p:nvPr>
            <p:ph type="title"/>
          </p:nvPr>
        </p:nvSpPr>
        <p:spPr>
          <a:solidFill>
            <a:srgbClr val="00B0F0"/>
          </a:solidFill>
        </p:spPr>
        <p:txBody>
          <a:bodyPr/>
          <a:lstStyle/>
          <a:p>
            <a:pPr algn="ctr"/>
            <a:r>
              <a:rPr lang="en-IN" b="1" dirty="0"/>
              <a:t>Important Definitions </a:t>
            </a:r>
          </a:p>
        </p:txBody>
      </p:sp>
    </p:spTree>
    <p:extLst>
      <p:ext uri="{BB962C8B-B14F-4D97-AF65-F5344CB8AC3E}">
        <p14:creationId xmlns:p14="http://schemas.microsoft.com/office/powerpoint/2010/main" val="31448396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Important Definitions </a:t>
            </a:r>
          </a:p>
        </p:txBody>
      </p:sp>
      <p:sp>
        <p:nvSpPr>
          <p:cNvPr id="3" name="Content Placeholder 2"/>
          <p:cNvSpPr>
            <a:spLocks noGrp="1"/>
          </p:cNvSpPr>
          <p:nvPr>
            <p:ph idx="1"/>
          </p:nvPr>
        </p:nvSpPr>
        <p:spPr/>
        <p:txBody>
          <a:bodyPr>
            <a:normAutofit/>
          </a:bodyPr>
          <a:lstStyle/>
          <a:p>
            <a:pPr marL="0" indent="0">
              <a:buNone/>
            </a:pPr>
            <a:r>
              <a:rPr lang="en-US" dirty="0"/>
              <a:t>7. </a:t>
            </a:r>
            <a:r>
              <a:rPr lang="en-US" i="1" dirty="0">
                <a:solidFill>
                  <a:srgbClr val="FF0000"/>
                </a:solidFill>
              </a:rPr>
              <a:t>Confidence level and significance level: </a:t>
            </a:r>
          </a:p>
          <a:p>
            <a:pPr marL="0" indent="0">
              <a:buNone/>
            </a:pPr>
            <a:r>
              <a:rPr lang="en-US" dirty="0"/>
              <a:t>The confidence level or reliability is the expected percentage of times that the actual value will fall within the stated precision limits. </a:t>
            </a:r>
          </a:p>
          <a:p>
            <a:pPr marL="457200" lvl="1" indent="0">
              <a:buNone/>
            </a:pPr>
            <a:r>
              <a:rPr lang="en-US" dirty="0"/>
              <a:t>Example- a confidence level of 95%, then we mean that there are 95 chances in 100 that the sample results represent the true condition of the population.</a:t>
            </a:r>
          </a:p>
          <a:p>
            <a:pPr marL="0" indent="0">
              <a:buNone/>
            </a:pPr>
            <a:r>
              <a:rPr lang="en-US" dirty="0"/>
              <a:t>The significance level indicates the likelihood that the result will fall outside that range. </a:t>
            </a:r>
          </a:p>
          <a:p>
            <a:pPr marL="457200" lvl="1" indent="0">
              <a:buNone/>
            </a:pPr>
            <a:r>
              <a:rPr lang="en-US" dirty="0"/>
              <a:t>If the confidence level is 95%, then the significance level will be (100 – 95) i.e., 5%;</a:t>
            </a:r>
            <a:endParaRPr lang="en-IN" dirty="0"/>
          </a:p>
        </p:txBody>
      </p:sp>
    </p:spTree>
    <p:extLst>
      <p:ext uri="{BB962C8B-B14F-4D97-AF65-F5344CB8AC3E}">
        <p14:creationId xmlns:p14="http://schemas.microsoft.com/office/powerpoint/2010/main" val="2006598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834" y="307426"/>
            <a:ext cx="6123432" cy="765175"/>
          </a:xfrm>
          <a:solidFill>
            <a:srgbClr val="00B0F0"/>
          </a:solidFill>
        </p:spPr>
        <p:txBody>
          <a:bodyPr/>
          <a:lstStyle/>
          <a:p>
            <a:pPr algn="ctr"/>
            <a:r>
              <a:rPr lang="en-IN" b="1" dirty="0"/>
              <a:t>Important Definitions </a:t>
            </a:r>
          </a:p>
        </p:txBody>
      </p:sp>
      <p:sp>
        <p:nvSpPr>
          <p:cNvPr id="3" name="Content Placeholder 2"/>
          <p:cNvSpPr>
            <a:spLocks noGrp="1"/>
          </p:cNvSpPr>
          <p:nvPr>
            <p:ph idx="1"/>
          </p:nvPr>
        </p:nvSpPr>
        <p:spPr>
          <a:xfrm>
            <a:off x="317500" y="1393824"/>
            <a:ext cx="5880100" cy="5349875"/>
          </a:xfrm>
        </p:spPr>
        <p:txBody>
          <a:bodyPr>
            <a:normAutofit fontScale="77500" lnSpcReduction="20000"/>
          </a:bodyPr>
          <a:lstStyle/>
          <a:p>
            <a:pPr marL="0" indent="0" algn="just">
              <a:buNone/>
            </a:pPr>
            <a:r>
              <a:rPr lang="en-US" dirty="0"/>
              <a:t>8. </a:t>
            </a:r>
            <a:r>
              <a:rPr lang="en-US" i="1" dirty="0">
                <a:solidFill>
                  <a:srgbClr val="FF0000"/>
                </a:solidFill>
              </a:rPr>
              <a:t>Sampling distribution: </a:t>
            </a:r>
            <a:r>
              <a:rPr lang="en-US" dirty="0">
                <a:solidFill>
                  <a:srgbClr val="FF0000"/>
                </a:solidFill>
              </a:rPr>
              <a:t> </a:t>
            </a:r>
          </a:p>
          <a:p>
            <a:pPr algn="just"/>
            <a:r>
              <a:rPr lang="en-US" dirty="0"/>
              <a:t>If we take certain number of samples and for each sample compute various statistical measures such as mean, standard deviation, etc., then we can find that each sample may have its own value for mean</a:t>
            </a:r>
          </a:p>
          <a:p>
            <a:pPr algn="just"/>
            <a:r>
              <a:rPr lang="en-US" dirty="0">
                <a:solidFill>
                  <a:srgbClr val="7030A0"/>
                </a:solidFill>
              </a:rPr>
              <a:t>All these sample means</a:t>
            </a:r>
            <a:r>
              <a:rPr lang="en-US" dirty="0"/>
              <a:t>, together with their relative frequencies, </a:t>
            </a:r>
            <a:r>
              <a:rPr lang="en-US" dirty="0">
                <a:solidFill>
                  <a:srgbClr val="7030A0"/>
                </a:solidFill>
              </a:rPr>
              <a:t>will constitute the sampling distribution of mean</a:t>
            </a:r>
          </a:p>
          <a:p>
            <a:pPr algn="just"/>
            <a:r>
              <a:rPr lang="en-US" dirty="0"/>
              <a:t>Similarly, sampling distribution of standard deviation or the sampling distribution of any other statistical measure. </a:t>
            </a:r>
          </a:p>
          <a:p>
            <a:pPr algn="just"/>
            <a:r>
              <a:rPr lang="en-US" dirty="0"/>
              <a:t>The </a:t>
            </a:r>
            <a:r>
              <a:rPr lang="en-US" dirty="0">
                <a:solidFill>
                  <a:srgbClr val="7030A0"/>
                </a:solidFill>
              </a:rPr>
              <a:t>sampling distribution tends quite closer to the normal distribution if the number of samples is large. </a:t>
            </a:r>
          </a:p>
          <a:p>
            <a:pPr algn="just"/>
            <a:r>
              <a:rPr lang="en-US" dirty="0"/>
              <a:t>The significance of sampling distribution - the mean of a sampling distribution is the same as the mean of </a:t>
            </a:r>
            <a:r>
              <a:rPr lang="en-IN" dirty="0"/>
              <a:t>the universe.</a:t>
            </a:r>
          </a:p>
        </p:txBody>
      </p:sp>
      <p:sp>
        <p:nvSpPr>
          <p:cNvPr id="4" name="Rectangle 3"/>
          <p:cNvSpPr/>
          <p:nvPr/>
        </p:nvSpPr>
        <p:spPr>
          <a:xfrm>
            <a:off x="6704075" y="1074248"/>
            <a:ext cx="1536700" cy="3149600"/>
          </a:xfrm>
          <a:prstGeom prst="rect">
            <a:avLst/>
          </a:prstGeom>
          <a:solidFill>
            <a:schemeClr val="accent4">
              <a:lumMod val="60000"/>
              <a:lumOff val="40000"/>
            </a:schemeClr>
          </a:solidFill>
          <a:ln>
            <a:solidFill>
              <a:schemeClr val="accent6">
                <a:lumMod val="5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IN" sz="2400" dirty="0">
                <a:solidFill>
                  <a:schemeClr val="tx1"/>
                </a:solidFill>
              </a:rPr>
              <a:t>Population</a:t>
            </a:r>
          </a:p>
        </p:txBody>
      </p:sp>
      <p:sp>
        <p:nvSpPr>
          <p:cNvPr id="8" name="Cloud 7"/>
          <p:cNvSpPr/>
          <p:nvPr/>
        </p:nvSpPr>
        <p:spPr>
          <a:xfrm>
            <a:off x="8328150" y="718648"/>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1</a:t>
            </a:r>
          </a:p>
        </p:txBody>
      </p:sp>
      <p:sp>
        <p:nvSpPr>
          <p:cNvPr id="9" name="Cloud 8"/>
          <p:cNvSpPr/>
          <p:nvPr/>
        </p:nvSpPr>
        <p:spPr>
          <a:xfrm>
            <a:off x="8429750" y="1696548"/>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2</a:t>
            </a:r>
          </a:p>
        </p:txBody>
      </p:sp>
      <p:sp>
        <p:nvSpPr>
          <p:cNvPr id="10" name="Cloud 9"/>
          <p:cNvSpPr/>
          <p:nvPr/>
        </p:nvSpPr>
        <p:spPr>
          <a:xfrm>
            <a:off x="8429750" y="2649048"/>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3</a:t>
            </a:r>
          </a:p>
        </p:txBody>
      </p:sp>
      <p:sp>
        <p:nvSpPr>
          <p:cNvPr id="11" name="Cloud 10"/>
          <p:cNvSpPr/>
          <p:nvPr/>
        </p:nvSpPr>
        <p:spPr>
          <a:xfrm>
            <a:off x="8429750" y="4140504"/>
            <a:ext cx="1707690" cy="823304"/>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n</a:t>
            </a:r>
          </a:p>
        </p:txBody>
      </p:sp>
      <p:sp>
        <p:nvSpPr>
          <p:cNvPr id="12" name="Oval 11"/>
          <p:cNvSpPr/>
          <p:nvPr/>
        </p:nvSpPr>
        <p:spPr>
          <a:xfrm>
            <a:off x="10241130" y="690014"/>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1</a:t>
            </a:r>
          </a:p>
        </p:txBody>
      </p:sp>
      <p:sp>
        <p:nvSpPr>
          <p:cNvPr id="13" name="Oval 12"/>
          <p:cNvSpPr/>
          <p:nvPr/>
        </p:nvSpPr>
        <p:spPr>
          <a:xfrm>
            <a:off x="10326415" y="1678967"/>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2</a:t>
            </a:r>
          </a:p>
        </p:txBody>
      </p:sp>
      <p:sp>
        <p:nvSpPr>
          <p:cNvPr id="14" name="Oval 13"/>
          <p:cNvSpPr/>
          <p:nvPr/>
        </p:nvSpPr>
        <p:spPr>
          <a:xfrm>
            <a:off x="10326415" y="2675309"/>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3</a:t>
            </a:r>
          </a:p>
        </p:txBody>
      </p:sp>
      <p:sp>
        <p:nvSpPr>
          <p:cNvPr id="15" name="Oval 14"/>
          <p:cNvSpPr/>
          <p:nvPr/>
        </p:nvSpPr>
        <p:spPr>
          <a:xfrm>
            <a:off x="10326415" y="4229100"/>
            <a:ext cx="1290470" cy="646112"/>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Mean 4</a:t>
            </a:r>
          </a:p>
        </p:txBody>
      </p:sp>
    </p:spTree>
    <p:extLst>
      <p:ext uri="{BB962C8B-B14F-4D97-AF65-F5344CB8AC3E}">
        <p14:creationId xmlns:p14="http://schemas.microsoft.com/office/powerpoint/2010/main" val="119401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1013"/>
            <a:ext cx="10515600" cy="671195"/>
          </a:xfrm>
          <a:solidFill>
            <a:srgbClr val="00B0F0"/>
          </a:solidFill>
        </p:spPr>
        <p:txBody>
          <a:bodyPr>
            <a:normAutofit fontScale="90000"/>
          </a:bodyPr>
          <a:lstStyle/>
          <a:p>
            <a:pPr algn="ctr"/>
            <a:r>
              <a:rPr lang="en-IN" b="1" dirty="0"/>
              <a:t>STEPS IN SAMPLE DESIGN</a:t>
            </a:r>
          </a:p>
        </p:txBody>
      </p:sp>
      <p:sp>
        <p:nvSpPr>
          <p:cNvPr id="3" name="Content Placeholder 2"/>
          <p:cNvSpPr>
            <a:spLocks noGrp="1"/>
          </p:cNvSpPr>
          <p:nvPr>
            <p:ph idx="1"/>
          </p:nvPr>
        </p:nvSpPr>
        <p:spPr>
          <a:xfrm>
            <a:off x="509016" y="1094104"/>
            <a:ext cx="11475720" cy="5379847"/>
          </a:xfrm>
        </p:spPr>
        <p:txBody>
          <a:bodyPr>
            <a:normAutofit fontScale="92500" lnSpcReduction="10000"/>
          </a:bodyPr>
          <a:lstStyle/>
          <a:p>
            <a:pPr algn="just"/>
            <a:r>
              <a:rPr lang="en-US" dirty="0"/>
              <a:t>(</a:t>
            </a:r>
            <a:r>
              <a:rPr lang="en-US" dirty="0" err="1"/>
              <a:t>i</a:t>
            </a:r>
            <a:r>
              <a:rPr lang="en-US" dirty="0"/>
              <a:t>) </a:t>
            </a:r>
            <a:r>
              <a:rPr lang="en-US" b="1" dirty="0"/>
              <a:t>Type of universe: </a:t>
            </a:r>
            <a:r>
              <a:rPr lang="en-US" dirty="0"/>
              <a:t>The universe can be finite or </a:t>
            </a:r>
            <a:r>
              <a:rPr lang="en-IN" dirty="0"/>
              <a:t>infinite.</a:t>
            </a:r>
          </a:p>
          <a:p>
            <a:pPr algn="just"/>
            <a:r>
              <a:rPr lang="en-IN" dirty="0"/>
              <a:t>(ii) </a:t>
            </a:r>
            <a:r>
              <a:rPr lang="en-IN" b="1" dirty="0"/>
              <a:t>Sampling unit:</a:t>
            </a:r>
            <a:r>
              <a:rPr lang="en-US" dirty="0"/>
              <a:t>Sampling unit may be a geographical one such as state, district, village, etc., or a construction unit such as house, flat, etc., or it may be a social unit such as family, club, school, etc., or it may be an individual.</a:t>
            </a:r>
          </a:p>
          <a:p>
            <a:pPr algn="just"/>
            <a:r>
              <a:rPr lang="en-US" dirty="0"/>
              <a:t>(iii) </a:t>
            </a:r>
            <a:r>
              <a:rPr lang="en-US" b="1" dirty="0"/>
              <a:t>Source list: </a:t>
            </a:r>
            <a:r>
              <a:rPr lang="en-US" dirty="0"/>
              <a:t>It is also known as ‘sampling frame’ from which sample is to be drawn</a:t>
            </a:r>
          </a:p>
          <a:p>
            <a:pPr algn="just"/>
            <a:r>
              <a:rPr lang="en-US" dirty="0"/>
              <a:t>(iv) </a:t>
            </a:r>
            <a:r>
              <a:rPr lang="en-US" b="1" dirty="0"/>
              <a:t>Size of sample: </a:t>
            </a:r>
            <a:r>
              <a:rPr lang="en-US" dirty="0"/>
              <a:t>This refers to the number of items to be selected from the universe to </a:t>
            </a:r>
            <a:r>
              <a:rPr lang="en-IN" dirty="0"/>
              <a:t>constitute a sample.</a:t>
            </a:r>
          </a:p>
          <a:p>
            <a:pPr algn="just"/>
            <a:r>
              <a:rPr lang="en-US" dirty="0"/>
              <a:t>(v) </a:t>
            </a:r>
            <a:r>
              <a:rPr lang="en-US" b="1" dirty="0"/>
              <a:t>Parameters of interest: </a:t>
            </a:r>
            <a:r>
              <a:rPr lang="en-US" dirty="0"/>
              <a:t>In determining the sample design, one must consider the question of the specific population parameters which are of interest. Example – average height of people</a:t>
            </a:r>
          </a:p>
          <a:p>
            <a:pPr algn="just"/>
            <a:r>
              <a:rPr lang="en-IN" dirty="0"/>
              <a:t>(vi) </a:t>
            </a:r>
            <a:r>
              <a:rPr lang="en-IN" b="1" dirty="0"/>
              <a:t>Budgetary constraint</a:t>
            </a:r>
          </a:p>
          <a:p>
            <a:pPr algn="just"/>
            <a:r>
              <a:rPr lang="en-IN" dirty="0"/>
              <a:t>(vii) </a:t>
            </a:r>
            <a:r>
              <a:rPr lang="en-IN" b="1" dirty="0"/>
              <a:t>Sampling procedure</a:t>
            </a:r>
            <a:endParaRPr lang="en-IN" dirty="0"/>
          </a:p>
        </p:txBody>
      </p:sp>
    </p:spTree>
    <p:extLst>
      <p:ext uri="{BB962C8B-B14F-4D97-AF65-F5344CB8AC3E}">
        <p14:creationId xmlns:p14="http://schemas.microsoft.com/office/powerpoint/2010/main" val="2834691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CRITERIA FOR SELECTING A SAMPLING PROCEDURE</a:t>
            </a:r>
            <a:endParaRPr lang="en-IN" b="1" dirty="0"/>
          </a:p>
        </p:txBody>
      </p:sp>
      <p:sp>
        <p:nvSpPr>
          <p:cNvPr id="3" name="Content Placeholder 2"/>
          <p:cNvSpPr>
            <a:spLocks noGrp="1"/>
          </p:cNvSpPr>
          <p:nvPr>
            <p:ph idx="1"/>
          </p:nvPr>
        </p:nvSpPr>
        <p:spPr/>
        <p:txBody>
          <a:bodyPr>
            <a:normAutofit fontScale="92500" lnSpcReduction="20000"/>
          </a:bodyPr>
          <a:lstStyle/>
          <a:p>
            <a:pPr algn="just"/>
            <a:r>
              <a:rPr lang="en-US" b="1" dirty="0"/>
              <a:t>1. Inappropriate sampling frame: </a:t>
            </a:r>
            <a:r>
              <a:rPr lang="en-US" dirty="0"/>
              <a:t>If the sampling frame is inappropriate i.e., a biased representation of the universe, it will result in a systematic bias.</a:t>
            </a:r>
          </a:p>
          <a:p>
            <a:pPr algn="just"/>
            <a:r>
              <a:rPr lang="en-US" b="1" dirty="0"/>
              <a:t>2. Defective measuring device: </a:t>
            </a:r>
            <a:r>
              <a:rPr lang="en-US" dirty="0"/>
              <a:t>If the measuring device is constantly in error, it will result in </a:t>
            </a:r>
            <a:r>
              <a:rPr lang="en-IN" dirty="0"/>
              <a:t>systematic bias.</a:t>
            </a:r>
          </a:p>
          <a:p>
            <a:pPr algn="just"/>
            <a:r>
              <a:rPr lang="en-US" b="1" dirty="0"/>
              <a:t>3. Non-respondents: </a:t>
            </a:r>
            <a:r>
              <a:rPr lang="en-US" dirty="0"/>
              <a:t>If we are unable to sample all the individuals initially included in the sample, there may arise a systematic bias.</a:t>
            </a:r>
          </a:p>
          <a:p>
            <a:pPr algn="just"/>
            <a:r>
              <a:rPr lang="en-US" b="1" dirty="0"/>
              <a:t>4. </a:t>
            </a:r>
            <a:r>
              <a:rPr lang="en-US" b="1" dirty="0" err="1"/>
              <a:t>Indeterminancy</a:t>
            </a:r>
            <a:r>
              <a:rPr lang="en-US" b="1" dirty="0"/>
              <a:t> principle: </a:t>
            </a:r>
            <a:r>
              <a:rPr lang="en-US" dirty="0"/>
              <a:t>Sometimes we find that individuals act differently when kept under observation than what they do when kept in non-observed situations.</a:t>
            </a:r>
          </a:p>
          <a:p>
            <a:pPr algn="just"/>
            <a:r>
              <a:rPr lang="en-US" b="1" dirty="0"/>
              <a:t>5. Natural bias in the reporting of data: </a:t>
            </a:r>
            <a:r>
              <a:rPr lang="en-US" dirty="0"/>
              <a:t>Natural bias of respondents in the reporting of data is often the cause of a systematic bias</a:t>
            </a:r>
            <a:endParaRPr lang="en-IN" dirty="0"/>
          </a:p>
        </p:txBody>
      </p:sp>
    </p:spTree>
    <p:extLst>
      <p:ext uri="{BB962C8B-B14F-4D97-AF65-F5344CB8AC3E}">
        <p14:creationId xmlns:p14="http://schemas.microsoft.com/office/powerpoint/2010/main" val="2749853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669"/>
            <a:ext cx="10515600" cy="744347"/>
          </a:xfrm>
          <a:solidFill>
            <a:srgbClr val="00B0F0"/>
          </a:solidFill>
        </p:spPr>
        <p:txBody>
          <a:bodyPr/>
          <a:lstStyle/>
          <a:p>
            <a:pPr algn="ctr"/>
            <a:r>
              <a:rPr lang="en-US" b="1" dirty="0"/>
              <a:t>Sampling errors</a:t>
            </a:r>
            <a:endParaRPr lang="en-IN" b="1" dirty="0"/>
          </a:p>
        </p:txBody>
      </p:sp>
      <p:sp>
        <p:nvSpPr>
          <p:cNvPr id="3" name="Content Placeholder 2"/>
          <p:cNvSpPr>
            <a:spLocks noGrp="1"/>
          </p:cNvSpPr>
          <p:nvPr>
            <p:ph idx="1"/>
          </p:nvPr>
        </p:nvSpPr>
        <p:spPr>
          <a:xfrm>
            <a:off x="521208" y="1094104"/>
            <a:ext cx="11280648" cy="5343271"/>
          </a:xfrm>
        </p:spPr>
        <p:txBody>
          <a:bodyPr>
            <a:normAutofit/>
          </a:bodyPr>
          <a:lstStyle/>
          <a:p>
            <a:pPr algn="just"/>
            <a:r>
              <a:rPr lang="en-US" i="1" dirty="0"/>
              <a:t>Sampling errors </a:t>
            </a:r>
            <a:r>
              <a:rPr lang="en-US" dirty="0"/>
              <a:t>are the random variations in the sample estimates around the true population </a:t>
            </a:r>
            <a:r>
              <a:rPr lang="en-IN" dirty="0"/>
              <a:t>parameters.</a:t>
            </a:r>
          </a:p>
          <a:p>
            <a:pPr algn="just"/>
            <a:r>
              <a:rPr lang="en-US" i="1" dirty="0"/>
              <a:t>Sampling error </a:t>
            </a:r>
            <a:r>
              <a:rPr lang="en-US" dirty="0"/>
              <a:t>can be measured for a given sample design and size. </a:t>
            </a:r>
          </a:p>
          <a:p>
            <a:pPr algn="just"/>
            <a:r>
              <a:rPr lang="en-US" dirty="0"/>
              <a:t>The measurement of sampling error is usually called the ‘precision of the sampling plan’. </a:t>
            </a:r>
          </a:p>
          <a:p>
            <a:pPr algn="just"/>
            <a:r>
              <a:rPr lang="en-US" dirty="0"/>
              <a:t>If we increase the sample size, the precision can be improved. </a:t>
            </a:r>
          </a:p>
          <a:p>
            <a:pPr algn="just"/>
            <a:r>
              <a:rPr lang="en-US" dirty="0"/>
              <a:t>But increasing the size of the sample has its own limitations viz., a large sized sample increases the cost of collecting data and also enhances the systematic bias. </a:t>
            </a:r>
          </a:p>
          <a:p>
            <a:pPr algn="just"/>
            <a:r>
              <a:rPr lang="en-US" dirty="0"/>
              <a:t>The effective way to increase precision is usually to select a better sampling design which has a smaller sampling error for a given sample size at a given cost.</a:t>
            </a:r>
            <a:endParaRPr lang="en-IN" dirty="0"/>
          </a:p>
        </p:txBody>
      </p:sp>
    </p:spTree>
    <p:extLst>
      <p:ext uri="{BB962C8B-B14F-4D97-AF65-F5344CB8AC3E}">
        <p14:creationId xmlns:p14="http://schemas.microsoft.com/office/powerpoint/2010/main" val="725930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IMPORTANT SAMPLING DISTRIBUTIONS</a:t>
            </a:r>
          </a:p>
        </p:txBody>
      </p:sp>
      <p:sp>
        <p:nvSpPr>
          <p:cNvPr id="3" name="Content Placeholder 2"/>
          <p:cNvSpPr>
            <a:spLocks noGrp="1"/>
          </p:cNvSpPr>
          <p:nvPr>
            <p:ph idx="1"/>
          </p:nvPr>
        </p:nvSpPr>
        <p:spPr/>
        <p:txBody>
          <a:bodyPr/>
          <a:lstStyle/>
          <a:p>
            <a:pPr marL="0" indent="0">
              <a:buNone/>
            </a:pPr>
            <a:r>
              <a:rPr lang="en-IN" dirty="0"/>
              <a:t>(1) sampling distribution of </a:t>
            </a:r>
            <a:r>
              <a:rPr lang="en-US" dirty="0"/>
              <a:t>mean; </a:t>
            </a:r>
          </a:p>
          <a:p>
            <a:pPr marL="0" indent="0">
              <a:buNone/>
            </a:pPr>
            <a:r>
              <a:rPr lang="en-US" dirty="0"/>
              <a:t>(2) sampling distribution of proportion; </a:t>
            </a:r>
          </a:p>
          <a:p>
            <a:pPr marL="0" indent="0">
              <a:buNone/>
            </a:pPr>
            <a:r>
              <a:rPr lang="en-US" dirty="0"/>
              <a:t>(3) student’s ‘</a:t>
            </a:r>
            <a:r>
              <a:rPr lang="en-US" i="1" dirty="0"/>
              <a:t>t</a:t>
            </a:r>
            <a:r>
              <a:rPr lang="en-US" dirty="0"/>
              <a:t>’ distribution; </a:t>
            </a:r>
          </a:p>
          <a:p>
            <a:pPr marL="0" indent="0">
              <a:buNone/>
            </a:pPr>
            <a:r>
              <a:rPr lang="en-US" dirty="0"/>
              <a:t>(4) </a:t>
            </a:r>
            <a:r>
              <a:rPr lang="en-US" i="1" dirty="0"/>
              <a:t>F </a:t>
            </a:r>
            <a:r>
              <a:rPr lang="en-US" dirty="0"/>
              <a:t>distribution; and</a:t>
            </a:r>
          </a:p>
          <a:p>
            <a:pPr marL="0" indent="0">
              <a:buNone/>
            </a:pPr>
            <a:r>
              <a:rPr lang="en-IN" dirty="0"/>
              <a:t>(5) Chi-square distribution</a:t>
            </a:r>
          </a:p>
        </p:txBody>
      </p:sp>
    </p:spTree>
    <p:extLst>
      <p:ext uri="{BB962C8B-B14F-4D97-AF65-F5344CB8AC3E}">
        <p14:creationId xmlns:p14="http://schemas.microsoft.com/office/powerpoint/2010/main" val="26432150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(1) sampling distribution of </a:t>
            </a:r>
            <a:r>
              <a:rPr lang="en-US" b="1" dirty="0"/>
              <a:t>mean</a:t>
            </a:r>
            <a:endParaRPr lang="en-IN" b="1" dirty="0"/>
          </a:p>
        </p:txBody>
      </p:sp>
      <p:sp>
        <p:nvSpPr>
          <p:cNvPr id="3" name="Content Placeholder 2"/>
          <p:cNvSpPr>
            <a:spLocks noGrp="1"/>
          </p:cNvSpPr>
          <p:nvPr>
            <p:ph idx="1"/>
          </p:nvPr>
        </p:nvSpPr>
        <p:spPr/>
        <p:txBody>
          <a:bodyPr>
            <a:normAutofit/>
          </a:bodyPr>
          <a:lstStyle/>
          <a:p>
            <a:pPr algn="just"/>
            <a:r>
              <a:rPr lang="en-US" dirty="0"/>
              <a:t>Measurable data, where mean can be computed. </a:t>
            </a:r>
          </a:p>
          <a:p>
            <a:pPr algn="just"/>
            <a:r>
              <a:rPr lang="en-US" dirty="0"/>
              <a:t>Sampling distribution of mean refers to the probability distribution of all the possible means of random samples of a given size that we take from a population</a:t>
            </a:r>
          </a:p>
          <a:p>
            <a:pPr algn="just"/>
            <a:r>
              <a:rPr lang="en-IN" dirty="0"/>
              <a:t>If </a:t>
            </a:r>
            <a:r>
              <a:rPr lang="en-US" dirty="0"/>
              <a:t>samples are taken from a normal population, the sampling distribution of mean would also </a:t>
            </a:r>
            <a:r>
              <a:rPr lang="en-IN" dirty="0"/>
              <a:t>be normal</a:t>
            </a:r>
          </a:p>
          <a:p>
            <a:pPr algn="just"/>
            <a:r>
              <a:rPr lang="en-US" dirty="0"/>
              <a:t>If sampling is from a population which is not normal even then the sampling distribution of mean tends quite closer to the normal distribution, provided the number of sample items is large</a:t>
            </a:r>
            <a:endParaRPr lang="en-IN" dirty="0"/>
          </a:p>
        </p:txBody>
      </p:sp>
    </p:spTree>
    <p:extLst>
      <p:ext uri="{BB962C8B-B14F-4D97-AF65-F5344CB8AC3E}">
        <p14:creationId xmlns:p14="http://schemas.microsoft.com/office/powerpoint/2010/main" val="720458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(2) sampling distribution of proportion</a:t>
            </a:r>
            <a:endParaRPr lang="en-IN" b="1" dirty="0"/>
          </a:p>
        </p:txBody>
      </p:sp>
      <p:sp>
        <p:nvSpPr>
          <p:cNvPr id="3" name="Content Placeholder 2"/>
          <p:cNvSpPr>
            <a:spLocks noGrp="1"/>
          </p:cNvSpPr>
          <p:nvPr>
            <p:ph idx="1"/>
          </p:nvPr>
        </p:nvSpPr>
        <p:spPr/>
        <p:txBody>
          <a:bodyPr/>
          <a:lstStyle/>
          <a:p>
            <a:pPr algn="just"/>
            <a:r>
              <a:rPr lang="en-US" dirty="0"/>
              <a:t>In case of attribute data (good / bad, go/ no-go, defective/non-defective data)</a:t>
            </a:r>
          </a:p>
          <a:p>
            <a:pPr algn="just"/>
            <a:r>
              <a:rPr lang="en-US" dirty="0"/>
              <a:t>Example - proportion of defective parts in large number of samples that have been taken from an infinite population</a:t>
            </a:r>
          </a:p>
          <a:p>
            <a:pPr algn="just"/>
            <a:r>
              <a:rPr lang="en-US" dirty="0"/>
              <a:t>The probability distribution of these proportions known as the sampling distribution of the proportions</a:t>
            </a:r>
          </a:p>
          <a:p>
            <a:pPr algn="just"/>
            <a:r>
              <a:rPr lang="en-IN" dirty="0"/>
              <a:t>For attribute data, the sampling distribution is B</a:t>
            </a:r>
            <a:r>
              <a:rPr lang="en-US" dirty="0" err="1"/>
              <a:t>inomial</a:t>
            </a:r>
            <a:r>
              <a:rPr lang="en-US" dirty="0"/>
              <a:t> distribution. But when the sample size (n) becomes larger and larger, the sampling distribution tends to become normal distribution  </a:t>
            </a:r>
            <a:endParaRPr lang="en-IN" dirty="0"/>
          </a:p>
        </p:txBody>
      </p:sp>
    </p:spTree>
    <p:extLst>
      <p:ext uri="{BB962C8B-B14F-4D97-AF65-F5344CB8AC3E}">
        <p14:creationId xmlns:p14="http://schemas.microsoft.com/office/powerpoint/2010/main" val="3149040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(3) student’s ‘</a:t>
            </a:r>
            <a:r>
              <a:rPr lang="en-US" b="1" i="1" dirty="0"/>
              <a:t>t</a:t>
            </a:r>
            <a:r>
              <a:rPr lang="en-US" b="1" dirty="0"/>
              <a:t>’ distribution</a:t>
            </a:r>
            <a:endParaRPr lang="en-IN" b="1" dirty="0"/>
          </a:p>
        </p:txBody>
      </p:sp>
      <p:sp>
        <p:nvSpPr>
          <p:cNvPr id="3" name="Content Placeholder 2"/>
          <p:cNvSpPr>
            <a:spLocks noGrp="1"/>
          </p:cNvSpPr>
          <p:nvPr>
            <p:ph idx="1"/>
          </p:nvPr>
        </p:nvSpPr>
        <p:spPr/>
        <p:txBody>
          <a:bodyPr/>
          <a:lstStyle/>
          <a:p>
            <a:pPr algn="just"/>
            <a:r>
              <a:rPr lang="en-US" dirty="0"/>
              <a:t>When population standard deviation is not known and the sample size is small size (</a:t>
            </a:r>
            <a:r>
              <a:rPr lang="en-US" i="1" dirty="0"/>
              <a:t>n </a:t>
            </a:r>
            <a:r>
              <a:rPr lang="en-US" dirty="0"/>
              <a:t>&lt; 30), we use </a:t>
            </a:r>
            <a:r>
              <a:rPr lang="en-US" i="1" dirty="0"/>
              <a:t>t </a:t>
            </a:r>
            <a:r>
              <a:rPr lang="en-US" dirty="0"/>
              <a:t>distribution for the sampling distribution of mean</a:t>
            </a:r>
          </a:p>
          <a:p>
            <a:pPr algn="just"/>
            <a:r>
              <a:rPr lang="en-US" dirty="0"/>
              <a:t>t-distribution is symmetrical</a:t>
            </a:r>
          </a:p>
          <a:p>
            <a:r>
              <a:rPr lang="en-IN" dirty="0"/>
              <a:t>As sample size (n) </a:t>
            </a:r>
            <a:r>
              <a:rPr lang="en-US" dirty="0"/>
              <a:t>gets larger, the shape of the </a:t>
            </a:r>
            <a:r>
              <a:rPr lang="en-US" i="1" dirty="0"/>
              <a:t>t </a:t>
            </a:r>
            <a:r>
              <a:rPr lang="en-US" dirty="0"/>
              <a:t>distribution becomes approximately equal to the normal distribution.  </a:t>
            </a:r>
            <a:endParaRPr lang="en-IN" dirty="0"/>
          </a:p>
        </p:txBody>
      </p:sp>
    </p:spTree>
    <p:extLst>
      <p:ext uri="{BB962C8B-B14F-4D97-AF65-F5344CB8AC3E}">
        <p14:creationId xmlns:p14="http://schemas.microsoft.com/office/powerpoint/2010/main" val="1375970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0189"/>
            <a:ext cx="10515600" cy="841375"/>
          </a:xfrm>
          <a:solidFill>
            <a:srgbClr val="00B0F0"/>
          </a:solidFill>
        </p:spPr>
        <p:txBody>
          <a:bodyPr/>
          <a:lstStyle/>
          <a:p>
            <a:pPr algn="ctr"/>
            <a:r>
              <a:rPr lang="en-US" b="1" dirty="0"/>
              <a:t>(4) </a:t>
            </a:r>
            <a:r>
              <a:rPr lang="en-US" b="1" i="1" dirty="0"/>
              <a:t>F </a:t>
            </a:r>
            <a:r>
              <a:rPr lang="en-US" b="1" dirty="0"/>
              <a:t>distribution</a:t>
            </a:r>
            <a:endParaRPr lang="en-IN" b="1" dirty="0"/>
          </a:p>
        </p:txBody>
      </p:sp>
      <p:sp>
        <p:nvSpPr>
          <p:cNvPr id="3" name="Content Placeholder 2"/>
          <p:cNvSpPr>
            <a:spLocks noGrp="1"/>
          </p:cNvSpPr>
          <p:nvPr>
            <p:ph idx="1"/>
          </p:nvPr>
        </p:nvSpPr>
        <p:spPr>
          <a:xfrm>
            <a:off x="185623" y="2040732"/>
            <a:ext cx="4178300" cy="4351338"/>
          </a:xfrm>
        </p:spPr>
        <p:txBody>
          <a:bodyPr>
            <a:noAutofit/>
          </a:bodyPr>
          <a:lstStyle/>
          <a:p>
            <a:pPr algn="just"/>
            <a:r>
              <a:rPr lang="en-IN" sz="2000" dirty="0"/>
              <a:t>Consider 2 different populations; these populations follow normal distribution and have same variance.</a:t>
            </a:r>
          </a:p>
          <a:p>
            <a:pPr algn="just"/>
            <a:r>
              <a:rPr lang="en-IN" sz="2000" dirty="0"/>
              <a:t>Sample 1 is drawn from population 1 and sample 2 is drawn from population 2.</a:t>
            </a:r>
          </a:p>
          <a:p>
            <a:pPr algn="just"/>
            <a:r>
              <a:rPr lang="en-IN" sz="2000" dirty="0"/>
              <a:t>Sample variance 1 is computed for sample 1 and sample variance 2 is computed for sample 2.</a:t>
            </a:r>
          </a:p>
          <a:p>
            <a:pPr algn="just"/>
            <a:r>
              <a:rPr lang="en-IN" sz="2000" dirty="0"/>
              <a:t>To analyse the differences between these sample variances, F- distribution is used. </a:t>
            </a:r>
          </a:p>
        </p:txBody>
      </p:sp>
      <p:sp>
        <p:nvSpPr>
          <p:cNvPr id="4" name="TextBox 3"/>
          <p:cNvSpPr txBox="1"/>
          <p:nvPr/>
        </p:nvSpPr>
        <p:spPr>
          <a:xfrm>
            <a:off x="5461000" y="2705100"/>
            <a:ext cx="1473200" cy="2308324"/>
          </a:xfrm>
          <a:prstGeom prst="rect">
            <a:avLst/>
          </a:prstGeom>
          <a:solidFill>
            <a:schemeClr val="accent2"/>
          </a:solidFill>
          <a:ln>
            <a:solidFill>
              <a:schemeClr val="accent6">
                <a:lumMod val="50000"/>
              </a:schemeClr>
            </a:solidFill>
          </a:ln>
        </p:spPr>
        <p:txBody>
          <a:bodyPr wrap="square" rtlCol="0">
            <a:spAutoFit/>
          </a:bodyPr>
          <a:lstStyle/>
          <a:p>
            <a:r>
              <a:rPr lang="en-IN" dirty="0"/>
              <a:t>Normal Population 1</a:t>
            </a:r>
          </a:p>
          <a:p>
            <a:endParaRPr lang="en-IN" dirty="0"/>
          </a:p>
          <a:p>
            <a:endParaRPr lang="en-IN" dirty="0"/>
          </a:p>
          <a:p>
            <a:endParaRPr lang="en-IN" dirty="0"/>
          </a:p>
          <a:p>
            <a:endParaRPr lang="en-IN" dirty="0"/>
          </a:p>
          <a:p>
            <a:endParaRPr lang="en-IN" dirty="0"/>
          </a:p>
          <a:p>
            <a:endParaRPr lang="en-IN" dirty="0"/>
          </a:p>
        </p:txBody>
      </p:sp>
      <p:sp>
        <p:nvSpPr>
          <p:cNvPr id="5" name="TextBox 4"/>
          <p:cNvSpPr txBox="1"/>
          <p:nvPr/>
        </p:nvSpPr>
        <p:spPr>
          <a:xfrm>
            <a:off x="7658100" y="2705100"/>
            <a:ext cx="1473200" cy="2308324"/>
          </a:xfrm>
          <a:prstGeom prst="rect">
            <a:avLst/>
          </a:prstGeom>
          <a:solidFill>
            <a:schemeClr val="accent2">
              <a:lumMod val="60000"/>
              <a:lumOff val="40000"/>
            </a:schemeClr>
          </a:solidFill>
          <a:ln>
            <a:solidFill>
              <a:schemeClr val="accent6">
                <a:lumMod val="50000"/>
              </a:schemeClr>
            </a:solidFill>
          </a:ln>
        </p:spPr>
        <p:txBody>
          <a:bodyPr wrap="square" rtlCol="0">
            <a:spAutoFit/>
          </a:bodyPr>
          <a:lstStyle/>
          <a:p>
            <a:r>
              <a:rPr lang="en-IN" dirty="0"/>
              <a:t>Normal Population 2</a:t>
            </a:r>
          </a:p>
          <a:p>
            <a:endParaRPr lang="en-IN" dirty="0"/>
          </a:p>
          <a:p>
            <a:endParaRPr lang="en-IN" dirty="0"/>
          </a:p>
          <a:p>
            <a:endParaRPr lang="en-IN" dirty="0"/>
          </a:p>
          <a:p>
            <a:endParaRPr lang="en-IN" dirty="0"/>
          </a:p>
          <a:p>
            <a:endParaRPr lang="en-IN" dirty="0"/>
          </a:p>
          <a:p>
            <a:endParaRPr lang="en-IN" dirty="0"/>
          </a:p>
        </p:txBody>
      </p:sp>
      <p:sp>
        <p:nvSpPr>
          <p:cNvPr id="6" name="TextBox 5"/>
          <p:cNvSpPr txBox="1"/>
          <p:nvPr/>
        </p:nvSpPr>
        <p:spPr>
          <a:xfrm>
            <a:off x="5461000" y="5325228"/>
            <a:ext cx="3987800" cy="369332"/>
          </a:xfrm>
          <a:prstGeom prst="rect">
            <a:avLst/>
          </a:prstGeom>
          <a:noFill/>
        </p:spPr>
        <p:txBody>
          <a:bodyPr wrap="square" rtlCol="0">
            <a:spAutoFit/>
          </a:bodyPr>
          <a:lstStyle/>
          <a:p>
            <a:r>
              <a:rPr lang="en-IN" dirty="0"/>
              <a:t>These 2 populations have same variance</a:t>
            </a:r>
          </a:p>
        </p:txBody>
      </p:sp>
      <p:sp>
        <p:nvSpPr>
          <p:cNvPr id="7" name="Cloud 6"/>
          <p:cNvSpPr/>
          <p:nvPr/>
        </p:nvSpPr>
        <p:spPr>
          <a:xfrm>
            <a:off x="4629610" y="2108200"/>
            <a:ext cx="1606090" cy="596900"/>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1</a:t>
            </a:r>
          </a:p>
        </p:txBody>
      </p:sp>
      <p:sp>
        <p:nvSpPr>
          <p:cNvPr id="8" name="Cloud 7"/>
          <p:cNvSpPr/>
          <p:nvPr/>
        </p:nvSpPr>
        <p:spPr>
          <a:xfrm>
            <a:off x="8645755" y="2108200"/>
            <a:ext cx="1606090" cy="596900"/>
          </a:xfrm>
          <a:prstGeom prst="cloud">
            <a:avLst/>
          </a:prstGeom>
          <a:solidFill>
            <a:schemeClr val="bg1"/>
          </a:solidFill>
          <a:ln w="635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a:solidFill>
                  <a:srgbClr val="FF0000"/>
                </a:solidFill>
              </a:rPr>
              <a:t>Sample 2</a:t>
            </a:r>
          </a:p>
        </p:txBody>
      </p:sp>
      <p:sp>
        <p:nvSpPr>
          <p:cNvPr id="9" name="Oval 8"/>
          <p:cNvSpPr/>
          <p:nvPr/>
        </p:nvSpPr>
        <p:spPr>
          <a:xfrm>
            <a:off x="3948280" y="1394620"/>
            <a:ext cx="1690520" cy="64611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Sample variance 1</a:t>
            </a:r>
          </a:p>
        </p:txBody>
      </p:sp>
      <p:sp>
        <p:nvSpPr>
          <p:cNvPr id="10" name="Oval 9"/>
          <p:cNvSpPr/>
          <p:nvPr/>
        </p:nvSpPr>
        <p:spPr>
          <a:xfrm>
            <a:off x="9663280" y="1412876"/>
            <a:ext cx="1690520" cy="646112"/>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Sample variance 2</a:t>
            </a:r>
          </a:p>
        </p:txBody>
      </p:sp>
    </p:spTree>
    <p:extLst>
      <p:ext uri="{BB962C8B-B14F-4D97-AF65-F5344CB8AC3E}">
        <p14:creationId xmlns:p14="http://schemas.microsoft.com/office/powerpoint/2010/main" val="33999751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(5) Chi-square distribution</a:t>
            </a:r>
          </a:p>
        </p:txBody>
      </p:sp>
      <p:sp>
        <p:nvSpPr>
          <p:cNvPr id="3" name="Content Placeholder 2"/>
          <p:cNvSpPr>
            <a:spLocks noGrp="1"/>
          </p:cNvSpPr>
          <p:nvPr>
            <p:ph idx="1"/>
          </p:nvPr>
        </p:nvSpPr>
        <p:spPr/>
        <p:txBody>
          <a:bodyPr/>
          <a:lstStyle/>
          <a:p>
            <a:pPr algn="just"/>
            <a:r>
              <a:rPr lang="en-US" dirty="0"/>
              <a:t>Chi-square distribution is not symmetrical </a:t>
            </a:r>
          </a:p>
          <a:p>
            <a:pPr algn="just"/>
            <a:r>
              <a:rPr lang="en-US" dirty="0"/>
              <a:t>all the </a:t>
            </a:r>
            <a:r>
              <a:rPr lang="en-IN" dirty="0"/>
              <a:t>values are positive</a:t>
            </a:r>
          </a:p>
          <a:p>
            <a:pPr algn="just"/>
            <a:r>
              <a:rPr lang="en-US" dirty="0"/>
              <a:t>variances of samples require us to add a collection of squared quantities and thus have distributions related to chi-square distribution. </a:t>
            </a:r>
            <a:r>
              <a:rPr lang="en-IN" dirty="0"/>
              <a:t> </a:t>
            </a:r>
          </a:p>
          <a:p>
            <a:pPr algn="just"/>
            <a:r>
              <a:rPr lang="en-US" dirty="0"/>
              <a:t>This distribution is used for judging the significance of difference between observed and expected frequencies </a:t>
            </a:r>
          </a:p>
          <a:p>
            <a:pPr algn="just"/>
            <a:r>
              <a:rPr lang="en-US" dirty="0"/>
              <a:t>To test the goodness of fit (how well the assumed probability distribution fits the data)</a:t>
            </a:r>
            <a:endParaRPr lang="en-IN" dirty="0"/>
          </a:p>
        </p:txBody>
      </p:sp>
    </p:spTree>
    <p:extLst>
      <p:ext uri="{BB962C8B-B14F-4D97-AF65-F5344CB8AC3E}">
        <p14:creationId xmlns:p14="http://schemas.microsoft.com/office/powerpoint/2010/main" val="34889492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CENTRAL LIMIT THEOREM</a:t>
            </a:r>
          </a:p>
        </p:txBody>
      </p:sp>
      <p:sp>
        <p:nvSpPr>
          <p:cNvPr id="3" name="Content Placeholder 2"/>
          <p:cNvSpPr>
            <a:spLocks noGrp="1"/>
          </p:cNvSpPr>
          <p:nvPr>
            <p:ph idx="1"/>
          </p:nvPr>
        </p:nvSpPr>
        <p:spPr>
          <a:xfrm>
            <a:off x="838200" y="2410841"/>
            <a:ext cx="10515600" cy="3270631"/>
          </a:xfrm>
        </p:spPr>
        <p:txBody>
          <a:bodyPr/>
          <a:lstStyle/>
          <a:p>
            <a:pPr algn="just"/>
            <a:r>
              <a:rPr lang="en-US" dirty="0"/>
              <a:t>When sampling is from a normal population, the means of samples drawn from such a population are themselves normally distributed. </a:t>
            </a:r>
          </a:p>
          <a:p>
            <a:pPr algn="just"/>
            <a:r>
              <a:rPr lang="en-US" dirty="0"/>
              <a:t>But when sampling is not from a normal population, the size of the sample plays a critical role.</a:t>
            </a:r>
          </a:p>
          <a:p>
            <a:pPr algn="just"/>
            <a:r>
              <a:rPr lang="en-US" dirty="0"/>
              <a:t>Whether the population follows normal distribution or not, the means of the samples drawn from that population follow normal distribution. (for sample size, n&gt;30)</a:t>
            </a:r>
            <a:endParaRPr lang="en-IN" dirty="0"/>
          </a:p>
        </p:txBody>
      </p:sp>
    </p:spTree>
    <p:extLst>
      <p:ext uri="{BB962C8B-B14F-4D97-AF65-F5344CB8AC3E}">
        <p14:creationId xmlns:p14="http://schemas.microsoft.com/office/powerpoint/2010/main" val="23461727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IN" b="1" dirty="0"/>
              <a:t>STANDARD ERROR</a:t>
            </a:r>
          </a:p>
        </p:txBody>
      </p:sp>
      <p:sp>
        <p:nvSpPr>
          <p:cNvPr id="3" name="Content Placeholder 2"/>
          <p:cNvSpPr>
            <a:spLocks noGrp="1"/>
          </p:cNvSpPr>
          <p:nvPr>
            <p:ph idx="1"/>
          </p:nvPr>
        </p:nvSpPr>
        <p:spPr/>
        <p:txBody>
          <a:bodyPr/>
          <a:lstStyle/>
          <a:p>
            <a:r>
              <a:rPr lang="en-US" dirty="0"/>
              <a:t>The standard deviation of sampling distribution of a statistic is known as its standard error (S.E)</a:t>
            </a:r>
          </a:p>
          <a:p>
            <a:pPr algn="just"/>
            <a:r>
              <a:rPr lang="en-US" dirty="0"/>
              <a:t>helps in testing whether the difference between observed and expected frequencies could arise due to chance (inherent) causes in the process.</a:t>
            </a:r>
          </a:p>
          <a:p>
            <a:pPr algn="just"/>
            <a:r>
              <a:rPr lang="en-US" dirty="0"/>
              <a:t>gives an idea about the reliability and precision of a sample</a:t>
            </a:r>
          </a:p>
          <a:p>
            <a:pPr algn="just"/>
            <a:r>
              <a:rPr lang="en-US" dirty="0"/>
              <a:t>enables us to specify the limits within which the parameters of the population </a:t>
            </a:r>
            <a:r>
              <a:rPr lang="en-IN" dirty="0"/>
              <a:t>are expected to lie</a:t>
            </a:r>
          </a:p>
        </p:txBody>
      </p:sp>
    </p:spTree>
    <p:extLst>
      <p:ext uri="{BB962C8B-B14F-4D97-AF65-F5344CB8AC3E}">
        <p14:creationId xmlns:p14="http://schemas.microsoft.com/office/powerpoint/2010/main" val="19399834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00B0F0"/>
          </a:solidFill>
        </p:spPr>
        <p:txBody>
          <a:bodyPr/>
          <a:lstStyle/>
          <a:p>
            <a:pPr algn="ctr"/>
            <a:r>
              <a:rPr lang="en-US" b="1" dirty="0"/>
              <a:t>CHARACTERISTICS OF A GOOD SAMPLE DESIGN</a:t>
            </a:r>
            <a:endParaRPr lang="en-IN" b="1" dirty="0"/>
          </a:p>
        </p:txBody>
      </p:sp>
      <p:sp>
        <p:nvSpPr>
          <p:cNvPr id="3" name="Content Placeholder 2"/>
          <p:cNvSpPr>
            <a:spLocks noGrp="1"/>
          </p:cNvSpPr>
          <p:nvPr>
            <p:ph idx="1"/>
          </p:nvPr>
        </p:nvSpPr>
        <p:spPr>
          <a:xfrm>
            <a:off x="687324" y="1996313"/>
            <a:ext cx="10817352" cy="4351338"/>
          </a:xfrm>
        </p:spPr>
        <p:txBody>
          <a:bodyPr>
            <a:normAutofit/>
          </a:bodyPr>
          <a:lstStyle/>
          <a:p>
            <a:pPr marL="0" indent="0" algn="just">
              <a:buNone/>
            </a:pPr>
            <a:r>
              <a:rPr lang="en-US" dirty="0"/>
              <a:t>(a) Sample design must result in a truly representative sample.</a:t>
            </a:r>
          </a:p>
          <a:p>
            <a:pPr marL="0" indent="0" algn="just">
              <a:buNone/>
            </a:pPr>
            <a:r>
              <a:rPr lang="en-US" dirty="0"/>
              <a:t>(b) Sample design must be such which results in a small sampling error.</a:t>
            </a:r>
          </a:p>
          <a:p>
            <a:pPr marL="0" indent="0" algn="just">
              <a:buNone/>
            </a:pPr>
            <a:r>
              <a:rPr lang="en-US" dirty="0"/>
              <a:t>(c) Sample design must be viable in the context of funds available for the research study.</a:t>
            </a:r>
          </a:p>
          <a:p>
            <a:pPr marL="0" indent="0" algn="just">
              <a:buNone/>
            </a:pPr>
            <a:r>
              <a:rPr lang="en-US" dirty="0"/>
              <a:t>(d) Sample design must be such so that systematic bias can be controlled in a better way.</a:t>
            </a:r>
          </a:p>
          <a:p>
            <a:pPr marL="0" indent="0" algn="just">
              <a:buNone/>
            </a:pPr>
            <a:r>
              <a:rPr lang="en-US" dirty="0"/>
              <a:t>(e) Sample should be such that the results of the sample study can be applied, in general, for the universe with a reasonable level of confidence.</a:t>
            </a:r>
            <a:endParaRPr lang="en-IN" dirty="0"/>
          </a:p>
        </p:txBody>
      </p:sp>
    </p:spTree>
    <p:extLst>
      <p:ext uri="{BB962C8B-B14F-4D97-AF65-F5344CB8AC3E}">
        <p14:creationId xmlns:p14="http://schemas.microsoft.com/office/powerpoint/2010/main" val="31382298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6629"/>
            <a:ext cx="10515600" cy="829691"/>
          </a:xfrm>
          <a:solidFill>
            <a:srgbClr val="00B0F0"/>
          </a:solidFill>
        </p:spPr>
        <p:txBody>
          <a:bodyPr/>
          <a:lstStyle/>
          <a:p>
            <a:pPr algn="ctr"/>
            <a:r>
              <a:rPr lang="en-US" b="1" dirty="0"/>
              <a:t>Types of Sample Design</a:t>
            </a:r>
            <a:endParaRPr lang="en-IN" b="1" dirty="0"/>
          </a:p>
        </p:txBody>
      </p:sp>
      <p:sp>
        <p:nvSpPr>
          <p:cNvPr id="3" name="Content Placeholder 2"/>
          <p:cNvSpPr>
            <a:spLocks noGrp="1"/>
          </p:cNvSpPr>
          <p:nvPr>
            <p:ph idx="1"/>
          </p:nvPr>
        </p:nvSpPr>
        <p:spPr>
          <a:xfrm>
            <a:off x="167640" y="1532192"/>
            <a:ext cx="5769864" cy="4978336"/>
          </a:xfrm>
        </p:spPr>
        <p:txBody>
          <a:bodyPr>
            <a:normAutofit fontScale="77500" lnSpcReduction="20000"/>
          </a:bodyPr>
          <a:lstStyle/>
          <a:p>
            <a:pPr algn="just"/>
            <a:r>
              <a:rPr lang="en-US" dirty="0"/>
              <a:t>There are different types of sample designs based on two factors </a:t>
            </a:r>
          </a:p>
          <a:p>
            <a:pPr marL="457200" lvl="1" indent="0" algn="just">
              <a:buNone/>
            </a:pPr>
            <a:r>
              <a:rPr lang="en-US" sz="2600" dirty="0"/>
              <a:t>-the representation basis </a:t>
            </a:r>
          </a:p>
          <a:p>
            <a:pPr marL="457200" lvl="1" indent="0" algn="just">
              <a:buNone/>
            </a:pPr>
            <a:r>
              <a:rPr lang="en-US" sz="2600" dirty="0"/>
              <a:t>- the element selection technique</a:t>
            </a:r>
          </a:p>
          <a:p>
            <a:pPr algn="just"/>
            <a:endParaRPr lang="en-US" dirty="0"/>
          </a:p>
          <a:p>
            <a:pPr algn="just"/>
            <a:r>
              <a:rPr lang="en-US" dirty="0">
                <a:solidFill>
                  <a:srgbClr val="0070C0"/>
                </a:solidFill>
              </a:rPr>
              <a:t>Representation basis - probability sampling or non-probability sampling</a:t>
            </a:r>
          </a:p>
          <a:p>
            <a:pPr lvl="1" algn="just"/>
            <a:r>
              <a:rPr lang="en-US" dirty="0">
                <a:solidFill>
                  <a:srgbClr val="0070C0"/>
                </a:solidFill>
              </a:rPr>
              <a:t>Probability sampling is based on the concept of random selection</a:t>
            </a:r>
          </a:p>
          <a:p>
            <a:pPr lvl="1" algn="just"/>
            <a:r>
              <a:rPr lang="en-US" dirty="0">
                <a:solidFill>
                  <a:srgbClr val="0070C0"/>
                </a:solidFill>
              </a:rPr>
              <a:t>non-probability sampling is ‘non-random’ sampling </a:t>
            </a:r>
          </a:p>
          <a:p>
            <a:pPr marL="457200" lvl="1" indent="0" algn="just">
              <a:buNone/>
            </a:pPr>
            <a:endParaRPr lang="en-US" dirty="0">
              <a:solidFill>
                <a:srgbClr val="FF0000"/>
              </a:solidFill>
            </a:endParaRPr>
          </a:p>
          <a:p>
            <a:pPr algn="just"/>
            <a:r>
              <a:rPr lang="en-US" dirty="0"/>
              <a:t>Element selection basis, the sample may be either unrestricted or restricted. </a:t>
            </a:r>
          </a:p>
          <a:p>
            <a:pPr lvl="1" algn="just"/>
            <a:r>
              <a:rPr lang="en-US" dirty="0"/>
              <a:t>‘unrestricted sample’ - each sample element is drawn individually from the population at large</a:t>
            </a:r>
          </a:p>
          <a:p>
            <a:pPr lvl="1" algn="just"/>
            <a:r>
              <a:rPr lang="en-US" dirty="0"/>
              <a:t>‘restricted sampling’ – all other forms of sampling</a:t>
            </a:r>
          </a:p>
        </p:txBody>
      </p:sp>
      <p:pic>
        <p:nvPicPr>
          <p:cNvPr id="4" name="Picture 3"/>
          <p:cNvPicPr>
            <a:picLocks noChangeAspect="1"/>
          </p:cNvPicPr>
          <p:nvPr/>
        </p:nvPicPr>
        <p:blipFill>
          <a:blip r:embed="rId2"/>
          <a:stretch>
            <a:fillRect/>
          </a:stretch>
        </p:blipFill>
        <p:spPr>
          <a:xfrm>
            <a:off x="6096000" y="1239584"/>
            <a:ext cx="5974080" cy="3564064"/>
          </a:xfrm>
          <a:prstGeom prst="rect">
            <a:avLst/>
          </a:prstGeom>
        </p:spPr>
      </p:pic>
    </p:spTree>
    <p:extLst>
      <p:ext uri="{BB962C8B-B14F-4D97-AF65-F5344CB8AC3E}">
        <p14:creationId xmlns:p14="http://schemas.microsoft.com/office/powerpoint/2010/main" val="29448645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9093"/>
            <a:ext cx="10515600" cy="951611"/>
          </a:xfrm>
          <a:solidFill>
            <a:srgbClr val="00B0F0"/>
          </a:solidFill>
        </p:spPr>
        <p:txBody>
          <a:bodyPr/>
          <a:lstStyle/>
          <a:p>
            <a:pPr algn="ctr"/>
            <a:r>
              <a:rPr lang="en-US" b="1" dirty="0"/>
              <a:t>Non-probability sampling</a:t>
            </a:r>
            <a:endParaRPr lang="en-IN" dirty="0"/>
          </a:p>
        </p:txBody>
      </p:sp>
      <p:sp>
        <p:nvSpPr>
          <p:cNvPr id="3" name="Content Placeholder 2"/>
          <p:cNvSpPr>
            <a:spLocks noGrp="1"/>
          </p:cNvSpPr>
          <p:nvPr>
            <p:ph idx="1"/>
          </p:nvPr>
        </p:nvSpPr>
        <p:spPr>
          <a:xfrm>
            <a:off x="335280" y="1423288"/>
            <a:ext cx="11521440" cy="5270119"/>
          </a:xfrm>
        </p:spPr>
        <p:txBody>
          <a:bodyPr>
            <a:normAutofit fontScale="92500" lnSpcReduction="20000"/>
          </a:bodyPr>
          <a:lstStyle/>
          <a:p>
            <a:pPr algn="just"/>
            <a:r>
              <a:rPr lang="en-US" dirty="0"/>
              <a:t>It</a:t>
            </a:r>
            <a:r>
              <a:rPr lang="en-US" b="1" dirty="0"/>
              <a:t> </a:t>
            </a:r>
            <a:r>
              <a:rPr lang="en-US" dirty="0"/>
              <a:t>is the sampling procedure which does not have basis for estimating the probability that each item in the population has of being included in the sample. </a:t>
            </a:r>
          </a:p>
          <a:p>
            <a:pPr algn="just"/>
            <a:r>
              <a:rPr lang="en-US" dirty="0"/>
              <a:t>It is also known as deliberate sampling, purposive sampling and judgement sampling. </a:t>
            </a:r>
          </a:p>
          <a:p>
            <a:pPr algn="just"/>
            <a:r>
              <a:rPr lang="en-US" dirty="0"/>
              <a:t>Items for the sample are selected deliberately by the researcher</a:t>
            </a:r>
          </a:p>
          <a:p>
            <a:pPr algn="just"/>
            <a:r>
              <a:rPr lang="en-US" dirty="0"/>
              <a:t>His choice concerning the items remains supreme. </a:t>
            </a:r>
          </a:p>
          <a:p>
            <a:pPr algn="just"/>
            <a:r>
              <a:rPr lang="en-US" dirty="0"/>
              <a:t>the organizers of the inquiry purposively choose the particular units of the universe in the sample. </a:t>
            </a:r>
          </a:p>
          <a:p>
            <a:pPr algn="just"/>
            <a:r>
              <a:rPr lang="en-US" dirty="0"/>
              <a:t>It will be typical or representative of the whole population.</a:t>
            </a:r>
          </a:p>
          <a:p>
            <a:pPr algn="just"/>
            <a:r>
              <a:rPr lang="en-US" dirty="0"/>
              <a:t>the judgement of the organizers of the study plays an important part in this sampling design.</a:t>
            </a:r>
          </a:p>
          <a:p>
            <a:pPr algn="just"/>
            <a:r>
              <a:rPr lang="en-US" dirty="0"/>
              <a:t>Example - if economic conditions of people living in a state are to be studied, a few towns and villages may be purposively selected for intensive study on the principle that they can be representative of the entire state.  </a:t>
            </a:r>
          </a:p>
          <a:p>
            <a:pPr algn="just"/>
            <a:endParaRPr lang="en-IN" dirty="0"/>
          </a:p>
        </p:txBody>
      </p:sp>
    </p:spTree>
    <p:extLst>
      <p:ext uri="{BB962C8B-B14F-4D97-AF65-F5344CB8AC3E}">
        <p14:creationId xmlns:p14="http://schemas.microsoft.com/office/powerpoint/2010/main" val="22427210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6136" y="1222121"/>
            <a:ext cx="11365992" cy="5635879"/>
          </a:xfrm>
        </p:spPr>
        <p:txBody>
          <a:bodyPr>
            <a:noAutofit/>
          </a:bodyPr>
          <a:lstStyle/>
          <a:p>
            <a:pPr algn="just"/>
            <a:r>
              <a:rPr lang="en-US" sz="2000" dirty="0"/>
              <a:t>Personal element (organizer’s bias) has a great chance of entering into the selection of the sample. </a:t>
            </a:r>
          </a:p>
          <a:p>
            <a:pPr algn="just"/>
            <a:r>
              <a:rPr lang="en-US" sz="2000" dirty="0"/>
              <a:t>The investigator may select a sample which shall yield results favorable to his point of view</a:t>
            </a:r>
          </a:p>
          <a:p>
            <a:pPr algn="just"/>
            <a:r>
              <a:rPr lang="en-US" sz="2000" dirty="0"/>
              <a:t>there is always the danger of bias entering into this type of sampling technique. </a:t>
            </a:r>
          </a:p>
          <a:p>
            <a:pPr algn="just"/>
            <a:r>
              <a:rPr lang="en-US" sz="2000" dirty="0"/>
              <a:t>If the investigators are impartial, work without bias and have the necessary experience so as to take sound judgement, the results obtained may be tolerably reliable. </a:t>
            </a:r>
          </a:p>
          <a:p>
            <a:pPr algn="just"/>
            <a:r>
              <a:rPr lang="en-US" sz="2000" dirty="0"/>
              <a:t>Sampling error cannot be estimated; the element of bias, great or small, is always there. </a:t>
            </a:r>
          </a:p>
          <a:p>
            <a:pPr algn="just"/>
            <a:r>
              <a:rPr lang="en-US" sz="2000" dirty="0"/>
              <a:t>In small inquiries and researches by individuals, this design may be adopted because of the relative advantage of time and money </a:t>
            </a:r>
          </a:p>
          <a:p>
            <a:pPr algn="just"/>
            <a:r>
              <a:rPr lang="en-US" sz="2000" b="1" dirty="0">
                <a:solidFill>
                  <a:srgbClr val="0070C0"/>
                </a:solidFill>
              </a:rPr>
              <a:t>Quota sampling </a:t>
            </a:r>
            <a:r>
              <a:rPr lang="en-US" sz="2000" dirty="0"/>
              <a:t>is also an example of non-probability sampling. Here, the interviewers are simply given quotas to be filled from the different strata, with some restrictions on how they are to be filled. </a:t>
            </a:r>
          </a:p>
          <a:p>
            <a:pPr algn="just"/>
            <a:r>
              <a:rPr lang="en-US" sz="2000" dirty="0"/>
              <a:t>The actual selection of the items for the sample is left to the interviewer’s discretion. </a:t>
            </a:r>
          </a:p>
          <a:p>
            <a:pPr algn="just"/>
            <a:r>
              <a:rPr lang="en-US" sz="2000" dirty="0"/>
              <a:t>This type of sampling is very convenient and is relatively inexpensive. </a:t>
            </a:r>
          </a:p>
          <a:p>
            <a:pPr algn="just"/>
            <a:r>
              <a:rPr lang="en-US" sz="2000" dirty="0"/>
              <a:t>The samples so selected certainly do not possess the characteristic of random samples. </a:t>
            </a:r>
          </a:p>
          <a:p>
            <a:pPr algn="just"/>
            <a:r>
              <a:rPr lang="en-US" sz="2000" dirty="0"/>
              <a:t>Quota samples are essentially judgement samples and inferences drawn on their basis are not amenable to statistical treatment in a formal way.</a:t>
            </a:r>
            <a:endParaRPr lang="en-IN" sz="2000" dirty="0"/>
          </a:p>
        </p:txBody>
      </p:sp>
      <p:sp>
        <p:nvSpPr>
          <p:cNvPr id="4" name="Title 1"/>
          <p:cNvSpPr txBox="1">
            <a:spLocks/>
          </p:cNvSpPr>
          <p:nvPr/>
        </p:nvSpPr>
        <p:spPr>
          <a:xfrm>
            <a:off x="838200" y="109093"/>
            <a:ext cx="10515600" cy="951611"/>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t>Non-probability sampling</a:t>
            </a:r>
            <a:endParaRPr lang="en-IN" dirty="0"/>
          </a:p>
        </p:txBody>
      </p:sp>
    </p:spTree>
    <p:extLst>
      <p:ext uri="{BB962C8B-B14F-4D97-AF65-F5344CB8AC3E}">
        <p14:creationId xmlns:p14="http://schemas.microsoft.com/office/powerpoint/2010/main" val="20950030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3477"/>
            <a:ext cx="10515600" cy="780923"/>
          </a:xfrm>
          <a:solidFill>
            <a:srgbClr val="00B0F0"/>
          </a:solidFill>
        </p:spPr>
        <p:txBody>
          <a:bodyPr>
            <a:normAutofit/>
          </a:bodyPr>
          <a:lstStyle/>
          <a:p>
            <a:pPr algn="ctr"/>
            <a:r>
              <a:rPr lang="en-US" b="1" dirty="0"/>
              <a:t>Probability sampling</a:t>
            </a:r>
            <a:endParaRPr lang="en-IN" dirty="0"/>
          </a:p>
        </p:txBody>
      </p:sp>
      <p:sp>
        <p:nvSpPr>
          <p:cNvPr id="3" name="Content Placeholder 2"/>
          <p:cNvSpPr>
            <a:spLocks noGrp="1"/>
          </p:cNvSpPr>
          <p:nvPr>
            <p:ph idx="1"/>
          </p:nvPr>
        </p:nvSpPr>
        <p:spPr>
          <a:xfrm>
            <a:off x="388620" y="1240409"/>
            <a:ext cx="11414760" cy="5404232"/>
          </a:xfrm>
        </p:spPr>
        <p:txBody>
          <a:bodyPr>
            <a:noAutofit/>
          </a:bodyPr>
          <a:lstStyle/>
          <a:p>
            <a:pPr algn="just"/>
            <a:r>
              <a:rPr lang="en-US" sz="2400" dirty="0"/>
              <a:t>It is also known as ‘random sampling’ or ‘chance sampling’. </a:t>
            </a:r>
          </a:p>
          <a:p>
            <a:pPr algn="just"/>
            <a:r>
              <a:rPr lang="en-US" sz="2400" dirty="0"/>
              <a:t>every item of the universe has an equal chance of inclusion in the sample. </a:t>
            </a:r>
          </a:p>
          <a:p>
            <a:pPr algn="just"/>
            <a:r>
              <a:rPr lang="en-US" sz="2400" dirty="0"/>
              <a:t>It is, so to say, a lottery method in which individual units are picked up from the whole group not deliberately but by some mechanical process. </a:t>
            </a:r>
          </a:p>
          <a:p>
            <a:pPr algn="just"/>
            <a:r>
              <a:rPr lang="en-US" sz="2400" dirty="0"/>
              <a:t>It is blind chance alone that determines whether one item or the other is selected. </a:t>
            </a:r>
          </a:p>
          <a:p>
            <a:pPr algn="just"/>
            <a:r>
              <a:rPr lang="en-US" sz="2400" dirty="0"/>
              <a:t>The results obtained from probability or random sampling can be assured in terms of probability i.e., we can measure the errors of estimation or the significance of results obtained from a random sample. Hence, the </a:t>
            </a:r>
            <a:r>
              <a:rPr lang="en-US" sz="2400" b="1" dirty="0">
                <a:solidFill>
                  <a:srgbClr val="0070C0"/>
                </a:solidFill>
              </a:rPr>
              <a:t>superiority of random sampling design over the deliberate sampling </a:t>
            </a:r>
            <a:r>
              <a:rPr lang="en-US" sz="2400" dirty="0"/>
              <a:t>design. </a:t>
            </a:r>
          </a:p>
          <a:p>
            <a:pPr algn="just"/>
            <a:r>
              <a:rPr lang="en-US" sz="2400" dirty="0"/>
              <a:t>It ensures the law of Statistical Regularity - if on an average </a:t>
            </a:r>
            <a:r>
              <a:rPr lang="en-US" sz="2400" dirty="0">
                <a:solidFill>
                  <a:srgbClr val="0070C0"/>
                </a:solidFill>
              </a:rPr>
              <a:t>the sample chosen is a random one, the sample will have the same composition and characteristics as the universe</a:t>
            </a:r>
            <a:r>
              <a:rPr lang="en-US" sz="2400" dirty="0"/>
              <a:t>. </a:t>
            </a:r>
          </a:p>
          <a:p>
            <a:pPr algn="just"/>
            <a:r>
              <a:rPr lang="en-US" sz="2400" dirty="0"/>
              <a:t>This is the reason why random sampling is considered as the best technique of selecting a representative sample.</a:t>
            </a:r>
            <a:endParaRPr lang="en-IN" sz="2400" dirty="0"/>
          </a:p>
        </p:txBody>
      </p:sp>
    </p:spTree>
    <p:extLst>
      <p:ext uri="{BB962C8B-B14F-4D97-AF65-F5344CB8AC3E}">
        <p14:creationId xmlns:p14="http://schemas.microsoft.com/office/powerpoint/2010/main" val="17453478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4236" y="1240408"/>
            <a:ext cx="11463528" cy="5282311"/>
          </a:xfrm>
        </p:spPr>
        <p:txBody>
          <a:bodyPr>
            <a:normAutofit lnSpcReduction="10000"/>
          </a:bodyPr>
          <a:lstStyle/>
          <a:p>
            <a:pPr algn="just"/>
            <a:r>
              <a:rPr lang="en-US" dirty="0"/>
              <a:t>A method of sample selection which gives each possible sample combination an equal probability of being picked up and each item in the entire population to have an equal chance of being included in the sample. </a:t>
            </a:r>
          </a:p>
          <a:p>
            <a:pPr algn="just"/>
            <a:r>
              <a:rPr lang="en-US" dirty="0"/>
              <a:t>This applies to </a:t>
            </a:r>
            <a:r>
              <a:rPr lang="en-US" b="1" dirty="0">
                <a:solidFill>
                  <a:srgbClr val="0070C0"/>
                </a:solidFill>
              </a:rPr>
              <a:t>sampling without replacement </a:t>
            </a:r>
            <a:r>
              <a:rPr lang="en-US" dirty="0"/>
              <a:t>i.e., once an item is selected for the sample, it cannot appear in another sample again</a:t>
            </a:r>
          </a:p>
          <a:p>
            <a:pPr algn="just"/>
            <a:r>
              <a:rPr lang="en-US" dirty="0"/>
              <a:t>Implications of probability or random sampling are:</a:t>
            </a:r>
          </a:p>
          <a:p>
            <a:pPr lvl="1" algn="just"/>
            <a:r>
              <a:rPr lang="en-US" dirty="0"/>
              <a:t>(a) It gives each element in the population an equal probability of getting into the sample; and all choices are independent of one another.</a:t>
            </a:r>
          </a:p>
          <a:p>
            <a:pPr lvl="1" algn="just"/>
            <a:r>
              <a:rPr lang="en-US" dirty="0"/>
              <a:t>(b) It gives each possible sample combination an equal probability of being chosen.</a:t>
            </a:r>
          </a:p>
          <a:p>
            <a:pPr algn="just"/>
            <a:endParaRPr lang="en-US" dirty="0"/>
          </a:p>
          <a:p>
            <a:pPr algn="just"/>
            <a:r>
              <a:rPr lang="en-US" dirty="0"/>
              <a:t>Note: Sampling with replacement – the item selected for the sample is returned to the population before the next item is selected for the sample. The same item could appear twice in the same sample).</a:t>
            </a:r>
            <a:endParaRPr lang="en-IN" dirty="0"/>
          </a:p>
        </p:txBody>
      </p:sp>
      <p:sp>
        <p:nvSpPr>
          <p:cNvPr id="4" name="Title 1"/>
          <p:cNvSpPr txBox="1">
            <a:spLocks/>
          </p:cNvSpPr>
          <p:nvPr/>
        </p:nvSpPr>
        <p:spPr>
          <a:xfrm>
            <a:off x="838200" y="133477"/>
            <a:ext cx="10515600" cy="780923"/>
          </a:xfrm>
          <a:prstGeom prst="rect">
            <a:avLst/>
          </a:prstGeom>
          <a:solidFill>
            <a:srgbClr val="00B0F0"/>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Probability sampling</a:t>
            </a:r>
            <a:endParaRPr lang="en-IN" dirty="0"/>
          </a:p>
        </p:txBody>
      </p:sp>
    </p:spTree>
    <p:extLst>
      <p:ext uri="{BB962C8B-B14F-4D97-AF65-F5344CB8AC3E}">
        <p14:creationId xmlns:p14="http://schemas.microsoft.com/office/powerpoint/2010/main" val="12953825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1624" y="1913509"/>
            <a:ext cx="10515600" cy="2499995"/>
          </a:xfrm>
          <a:solidFill>
            <a:schemeClr val="accent2"/>
          </a:solidFill>
        </p:spPr>
        <p:txBody>
          <a:bodyPr>
            <a:noAutofit/>
          </a:bodyPr>
          <a:lstStyle/>
          <a:p>
            <a:pPr algn="ctr"/>
            <a:r>
              <a:rPr lang="en-IN" sz="7200" b="1" dirty="0"/>
              <a:t>Measurement and Scaling Techniques</a:t>
            </a:r>
          </a:p>
        </p:txBody>
      </p:sp>
    </p:spTree>
    <p:extLst>
      <p:ext uri="{BB962C8B-B14F-4D97-AF65-F5344CB8AC3E}">
        <p14:creationId xmlns:p14="http://schemas.microsoft.com/office/powerpoint/2010/main" val="4471048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normAutofit/>
          </a:bodyPr>
          <a:lstStyle/>
          <a:p>
            <a:pPr algn="ctr"/>
            <a:r>
              <a:rPr lang="en-IN" b="1" dirty="0"/>
              <a:t>MEASUREMENT IN RESEARCH</a:t>
            </a:r>
          </a:p>
        </p:txBody>
      </p:sp>
      <p:sp>
        <p:nvSpPr>
          <p:cNvPr id="3" name="Content Placeholder 2"/>
          <p:cNvSpPr>
            <a:spLocks noGrp="1"/>
          </p:cNvSpPr>
          <p:nvPr>
            <p:ph idx="1"/>
          </p:nvPr>
        </p:nvSpPr>
        <p:spPr/>
        <p:txBody>
          <a:bodyPr>
            <a:normAutofit/>
          </a:bodyPr>
          <a:lstStyle/>
          <a:p>
            <a:r>
              <a:rPr lang="en-US" dirty="0"/>
              <a:t>We measure physical objects as well as abstract concepts.  </a:t>
            </a:r>
          </a:p>
          <a:p>
            <a:pPr algn="just"/>
            <a:r>
              <a:rPr lang="en-US" dirty="0"/>
              <a:t>By measurement we mean the process of assigning numbers to objects or observations </a:t>
            </a:r>
          </a:p>
          <a:p>
            <a:r>
              <a:rPr lang="en-US" dirty="0"/>
              <a:t>measurement is a process of mapping aspects of a domain onto other aspects of a range according to some rule </a:t>
            </a:r>
          </a:p>
          <a:p>
            <a:pPr marL="0" indent="0">
              <a:buNone/>
            </a:pPr>
            <a:endParaRPr lang="en-IN" dirty="0"/>
          </a:p>
        </p:txBody>
      </p:sp>
    </p:spTree>
    <p:extLst>
      <p:ext uri="{BB962C8B-B14F-4D97-AF65-F5344CB8AC3E}">
        <p14:creationId xmlns:p14="http://schemas.microsoft.com/office/powerpoint/2010/main" val="28553927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Levels of statistical measurement</a:t>
            </a:r>
          </a:p>
        </p:txBody>
      </p:sp>
      <p:sp>
        <p:nvSpPr>
          <p:cNvPr id="3" name="Content Placeholder 2"/>
          <p:cNvSpPr>
            <a:spLocks noGrp="1"/>
          </p:cNvSpPr>
          <p:nvPr>
            <p:ph idx="1"/>
          </p:nvPr>
        </p:nvSpPr>
        <p:spPr/>
        <p:txBody>
          <a:bodyPr/>
          <a:lstStyle/>
          <a:p>
            <a:r>
              <a:rPr lang="en-IN" dirty="0"/>
              <a:t>Nominal Scale</a:t>
            </a:r>
          </a:p>
          <a:p>
            <a:r>
              <a:rPr lang="en-IN" dirty="0"/>
              <a:t>Ordinal Scale</a:t>
            </a:r>
          </a:p>
          <a:p>
            <a:r>
              <a:rPr lang="en-IN" dirty="0"/>
              <a:t>Interval Scale</a:t>
            </a:r>
          </a:p>
          <a:p>
            <a:r>
              <a:rPr lang="en-IN" dirty="0"/>
              <a:t>Ratio Scale</a:t>
            </a:r>
          </a:p>
          <a:p>
            <a:endParaRPr lang="en-IN" dirty="0"/>
          </a:p>
        </p:txBody>
      </p:sp>
    </p:spTree>
    <p:extLst>
      <p:ext uri="{BB962C8B-B14F-4D97-AF65-F5344CB8AC3E}">
        <p14:creationId xmlns:p14="http://schemas.microsoft.com/office/powerpoint/2010/main" val="22596313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669"/>
            <a:ext cx="10515600" cy="695579"/>
          </a:xfrm>
          <a:solidFill>
            <a:schemeClr val="accent6">
              <a:lumMod val="60000"/>
              <a:lumOff val="40000"/>
            </a:schemeClr>
          </a:solidFill>
        </p:spPr>
        <p:txBody>
          <a:bodyPr/>
          <a:lstStyle/>
          <a:p>
            <a:pPr algn="ctr"/>
            <a:r>
              <a:rPr lang="en-IN" b="1" dirty="0"/>
              <a:t>Nominal Scale</a:t>
            </a:r>
          </a:p>
        </p:txBody>
      </p:sp>
      <p:sp>
        <p:nvSpPr>
          <p:cNvPr id="3" name="Content Placeholder 2"/>
          <p:cNvSpPr>
            <a:spLocks noGrp="1"/>
          </p:cNvSpPr>
          <p:nvPr>
            <p:ph idx="1"/>
          </p:nvPr>
        </p:nvSpPr>
        <p:spPr>
          <a:xfrm>
            <a:off x="509016" y="1024794"/>
            <a:ext cx="11268456" cy="1234567"/>
          </a:xfrm>
        </p:spPr>
        <p:txBody>
          <a:bodyPr>
            <a:normAutofit lnSpcReduction="10000"/>
          </a:bodyPr>
          <a:lstStyle/>
          <a:p>
            <a:pPr algn="just"/>
            <a:r>
              <a:rPr lang="en-US" dirty="0"/>
              <a:t>Also called the categorical variable scale, is defined as a scale that labels variables into distinct classifications and doesn’t involve a quantitative value or order.</a:t>
            </a:r>
            <a:endParaRPr lang="en-IN" dirty="0"/>
          </a:p>
          <a:p>
            <a:pPr algn="just"/>
            <a:endParaRPr lang="en-IN" dirty="0"/>
          </a:p>
        </p:txBody>
      </p:sp>
      <p:pic>
        <p:nvPicPr>
          <p:cNvPr id="4" name="Picture 3"/>
          <p:cNvPicPr>
            <a:picLocks noChangeAspect="1"/>
          </p:cNvPicPr>
          <p:nvPr/>
        </p:nvPicPr>
        <p:blipFill>
          <a:blip r:embed="rId2"/>
          <a:stretch>
            <a:fillRect/>
          </a:stretch>
        </p:blipFill>
        <p:spPr>
          <a:xfrm>
            <a:off x="3071622" y="2101532"/>
            <a:ext cx="7658100" cy="4448175"/>
          </a:xfrm>
          <a:prstGeom prst="rect">
            <a:avLst/>
          </a:prstGeom>
        </p:spPr>
      </p:pic>
    </p:spTree>
    <p:extLst>
      <p:ext uri="{BB962C8B-B14F-4D97-AF65-F5344CB8AC3E}">
        <p14:creationId xmlns:p14="http://schemas.microsoft.com/office/powerpoint/2010/main" val="39399770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Ordinal Scale</a:t>
            </a:r>
          </a:p>
        </p:txBody>
      </p:sp>
      <p:sp>
        <p:nvSpPr>
          <p:cNvPr id="3" name="Content Placeholder 2"/>
          <p:cNvSpPr>
            <a:spLocks noGrp="1"/>
          </p:cNvSpPr>
          <p:nvPr>
            <p:ph idx="1"/>
          </p:nvPr>
        </p:nvSpPr>
        <p:spPr>
          <a:xfrm>
            <a:off x="838200" y="1825625"/>
            <a:ext cx="5635752" cy="3941191"/>
          </a:xfrm>
        </p:spPr>
        <p:txBody>
          <a:bodyPr>
            <a:noAutofit/>
          </a:bodyPr>
          <a:lstStyle/>
          <a:p>
            <a:pPr algn="just"/>
            <a:r>
              <a:rPr lang="en-US" sz="2400" dirty="0"/>
              <a:t>A variable measurement scale used to simply depict the order of variables and not the difference between each variable.</a:t>
            </a:r>
          </a:p>
          <a:p>
            <a:pPr algn="just"/>
            <a:r>
              <a:rPr lang="en-US" sz="2400" dirty="0"/>
              <a:t>the order of variables is of prime importance</a:t>
            </a:r>
          </a:p>
          <a:p>
            <a:pPr algn="just"/>
            <a:r>
              <a:rPr lang="en-US" sz="2400" dirty="0"/>
              <a:t>Analyzing results based on the order along with the name becomes a convenient process for the researcher</a:t>
            </a:r>
          </a:p>
          <a:p>
            <a:pPr algn="just"/>
            <a:r>
              <a:rPr lang="en-US" sz="2400" dirty="0"/>
              <a:t>Example – Likert Scale as shown </a:t>
            </a:r>
            <a:endParaRPr lang="en-IN" sz="2400" dirty="0"/>
          </a:p>
        </p:txBody>
      </p:sp>
      <p:pic>
        <p:nvPicPr>
          <p:cNvPr id="4" name="Picture 3"/>
          <p:cNvPicPr>
            <a:picLocks noChangeAspect="1"/>
          </p:cNvPicPr>
          <p:nvPr/>
        </p:nvPicPr>
        <p:blipFill>
          <a:blip r:embed="rId2"/>
          <a:stretch>
            <a:fillRect/>
          </a:stretch>
        </p:blipFill>
        <p:spPr>
          <a:xfrm>
            <a:off x="7460986" y="1951545"/>
            <a:ext cx="4139512" cy="2925255"/>
          </a:xfrm>
          <a:prstGeom prst="rect">
            <a:avLst/>
          </a:prstGeom>
        </p:spPr>
      </p:pic>
    </p:spTree>
    <p:extLst>
      <p:ext uri="{BB962C8B-B14F-4D97-AF65-F5344CB8AC3E}">
        <p14:creationId xmlns:p14="http://schemas.microsoft.com/office/powerpoint/2010/main" val="27910946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Interval Scale</a:t>
            </a:r>
          </a:p>
        </p:txBody>
      </p:sp>
      <p:sp>
        <p:nvSpPr>
          <p:cNvPr id="3" name="Content Placeholder 2"/>
          <p:cNvSpPr>
            <a:spLocks noGrp="1"/>
          </p:cNvSpPr>
          <p:nvPr>
            <p:ph idx="1"/>
          </p:nvPr>
        </p:nvSpPr>
        <p:spPr>
          <a:xfrm>
            <a:off x="838200" y="1825625"/>
            <a:ext cx="10515600" cy="4294759"/>
          </a:xfrm>
        </p:spPr>
        <p:txBody>
          <a:bodyPr>
            <a:normAutofit/>
          </a:bodyPr>
          <a:lstStyle/>
          <a:p>
            <a:pPr algn="just"/>
            <a:r>
              <a:rPr lang="en-US" dirty="0"/>
              <a:t>a numerical scale where the variables’ order is known and the difference between these variables. </a:t>
            </a:r>
          </a:p>
          <a:p>
            <a:pPr algn="just"/>
            <a:r>
              <a:rPr lang="en-US" dirty="0"/>
              <a:t>Variables that have familiar, constant, and computable differences are classified using the Interval scale.</a:t>
            </a:r>
          </a:p>
          <a:p>
            <a:pPr algn="just"/>
            <a:r>
              <a:rPr lang="en-US" dirty="0"/>
              <a:t>Example: Eighty degrees is always higher than 50 degrees, and the difference between these two temperatures is the same as the difference between 70 degrees and 40 degrees</a:t>
            </a:r>
            <a:endParaRPr lang="en-IN" dirty="0"/>
          </a:p>
        </p:txBody>
      </p:sp>
    </p:spTree>
    <p:extLst>
      <p:ext uri="{BB962C8B-B14F-4D97-AF65-F5344CB8AC3E}">
        <p14:creationId xmlns:p14="http://schemas.microsoft.com/office/powerpoint/2010/main" val="39011562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Ratio Scale</a:t>
            </a:r>
          </a:p>
        </p:txBody>
      </p:sp>
      <p:sp>
        <p:nvSpPr>
          <p:cNvPr id="3" name="Content Placeholder 2"/>
          <p:cNvSpPr>
            <a:spLocks noGrp="1"/>
          </p:cNvSpPr>
          <p:nvPr>
            <p:ph idx="1"/>
          </p:nvPr>
        </p:nvSpPr>
        <p:spPr>
          <a:xfrm>
            <a:off x="838200" y="1825625"/>
            <a:ext cx="4841176" cy="4351338"/>
          </a:xfrm>
        </p:spPr>
        <p:txBody>
          <a:bodyPr/>
          <a:lstStyle/>
          <a:p>
            <a:pPr algn="just"/>
            <a:r>
              <a:rPr lang="en-US" dirty="0"/>
              <a:t>variable measurement scale that not only produces the order of variables but also makes the difference between variables known, along with information on the value of true zero. </a:t>
            </a:r>
            <a:endParaRPr lang="en-IN" dirty="0"/>
          </a:p>
        </p:txBody>
      </p:sp>
      <p:pic>
        <p:nvPicPr>
          <p:cNvPr id="4" name="Picture 3"/>
          <p:cNvPicPr>
            <a:picLocks noChangeAspect="1"/>
          </p:cNvPicPr>
          <p:nvPr/>
        </p:nvPicPr>
        <p:blipFill>
          <a:blip r:embed="rId2"/>
          <a:stretch>
            <a:fillRect/>
          </a:stretch>
        </p:blipFill>
        <p:spPr>
          <a:xfrm>
            <a:off x="6523672" y="1690688"/>
            <a:ext cx="3985832" cy="4710112"/>
          </a:xfrm>
          <a:prstGeom prst="rect">
            <a:avLst/>
          </a:prstGeom>
        </p:spPr>
      </p:pic>
    </p:spTree>
    <p:extLst>
      <p:ext uri="{BB962C8B-B14F-4D97-AF65-F5344CB8AC3E}">
        <p14:creationId xmlns:p14="http://schemas.microsoft.com/office/powerpoint/2010/main" val="25175263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544640"/>
            <a:ext cx="4730496" cy="4015168"/>
          </a:xfrm>
          <a:prstGeom prst="rect">
            <a:avLst/>
          </a:prstGeom>
        </p:spPr>
      </p:pic>
      <p:pic>
        <p:nvPicPr>
          <p:cNvPr id="2050" name="Picture 2" descr="Types of measurements scales innfographi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3377" y="117920"/>
            <a:ext cx="7046976" cy="6571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33542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US" b="1" dirty="0"/>
              <a:t>Sources of Error in Measurement</a:t>
            </a:r>
            <a:endParaRPr lang="en-IN" b="1" dirty="0"/>
          </a:p>
        </p:txBody>
      </p:sp>
      <p:sp>
        <p:nvSpPr>
          <p:cNvPr id="3" name="Content Placeholder 2"/>
          <p:cNvSpPr>
            <a:spLocks noGrp="1"/>
          </p:cNvSpPr>
          <p:nvPr>
            <p:ph idx="1"/>
          </p:nvPr>
        </p:nvSpPr>
        <p:spPr/>
        <p:txBody>
          <a:bodyPr/>
          <a:lstStyle/>
          <a:p>
            <a:r>
              <a:rPr lang="en-US" b="1" dirty="0"/>
              <a:t>(a) Respondent: </a:t>
            </a:r>
            <a:r>
              <a:rPr lang="en-US" dirty="0"/>
              <a:t>At times the respondent may be reluctant to express strong negative feelings or it is just possible that he may have very little knowledge but may not admit his ignorance</a:t>
            </a:r>
          </a:p>
          <a:p>
            <a:r>
              <a:rPr lang="en-IN" b="1" dirty="0"/>
              <a:t>(b) Situation: </a:t>
            </a:r>
            <a:r>
              <a:rPr lang="en-IN" dirty="0"/>
              <a:t>Any condition </a:t>
            </a:r>
            <a:r>
              <a:rPr lang="en-US" dirty="0"/>
              <a:t>which places a strain on interview can have serious effects on the interviewer-respondent rapport. Example - if someone else is present</a:t>
            </a:r>
          </a:p>
          <a:p>
            <a:r>
              <a:rPr lang="en-US" b="1" dirty="0"/>
              <a:t>(c) Measurer: </a:t>
            </a:r>
            <a:r>
              <a:rPr lang="en-US" dirty="0"/>
              <a:t>The interviewer can distort responses by rewording or reordering questions</a:t>
            </a:r>
          </a:p>
          <a:p>
            <a:r>
              <a:rPr lang="en-US" b="1" dirty="0"/>
              <a:t>(d) Instrument: </a:t>
            </a:r>
            <a:r>
              <a:rPr lang="en-US" dirty="0"/>
              <a:t>Error may arise because of the defective measuring instrument</a:t>
            </a:r>
            <a:endParaRPr lang="en-IN" dirty="0"/>
          </a:p>
        </p:txBody>
      </p:sp>
    </p:spTree>
    <p:extLst>
      <p:ext uri="{BB962C8B-B14F-4D97-AF65-F5344CB8AC3E}">
        <p14:creationId xmlns:p14="http://schemas.microsoft.com/office/powerpoint/2010/main" val="36477006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6">
              <a:lumMod val="60000"/>
              <a:lumOff val="40000"/>
            </a:schemeClr>
          </a:solidFill>
        </p:spPr>
        <p:txBody>
          <a:bodyPr/>
          <a:lstStyle/>
          <a:p>
            <a:pPr algn="ctr"/>
            <a:r>
              <a:rPr lang="en-IN" b="1" dirty="0"/>
              <a:t>Meaning of Scaling</a:t>
            </a:r>
          </a:p>
        </p:txBody>
      </p:sp>
      <p:sp>
        <p:nvSpPr>
          <p:cNvPr id="3" name="Content Placeholder 2"/>
          <p:cNvSpPr>
            <a:spLocks noGrp="1"/>
          </p:cNvSpPr>
          <p:nvPr>
            <p:ph idx="1"/>
          </p:nvPr>
        </p:nvSpPr>
        <p:spPr/>
        <p:txBody>
          <a:bodyPr>
            <a:normAutofit/>
          </a:bodyPr>
          <a:lstStyle/>
          <a:p>
            <a:pPr algn="just"/>
            <a:r>
              <a:rPr lang="en-US" dirty="0"/>
              <a:t>Scaling describes the procedures of assigning numbers to various degrees of opinion, attitude and other concepts. </a:t>
            </a:r>
          </a:p>
          <a:p>
            <a:r>
              <a:rPr lang="en-US" dirty="0"/>
              <a:t>This can be done in two ways viz., (</a:t>
            </a:r>
            <a:r>
              <a:rPr lang="en-US" dirty="0" err="1"/>
              <a:t>i</a:t>
            </a:r>
            <a:r>
              <a:rPr lang="en-US" dirty="0"/>
              <a:t>) making a judgement about some characteristic of an individual </a:t>
            </a:r>
            <a:r>
              <a:rPr lang="en-IN" dirty="0"/>
              <a:t>(ii) constructing questionnaires</a:t>
            </a:r>
          </a:p>
        </p:txBody>
      </p:sp>
    </p:spTree>
    <p:extLst>
      <p:ext uri="{BB962C8B-B14F-4D97-AF65-F5344CB8AC3E}">
        <p14:creationId xmlns:p14="http://schemas.microsoft.com/office/powerpoint/2010/main" val="34873518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392" y="194437"/>
            <a:ext cx="10515600" cy="1134491"/>
          </a:xfrm>
          <a:solidFill>
            <a:schemeClr val="accent6">
              <a:lumMod val="60000"/>
              <a:lumOff val="40000"/>
            </a:schemeClr>
          </a:solidFill>
        </p:spPr>
        <p:txBody>
          <a:bodyPr>
            <a:normAutofit/>
          </a:bodyPr>
          <a:lstStyle/>
          <a:p>
            <a:pPr algn="ctr"/>
            <a:r>
              <a:rPr lang="en-IN" b="1" dirty="0"/>
              <a:t>Scaling Technique - </a:t>
            </a:r>
            <a:r>
              <a:rPr lang="en-US" b="1" dirty="0"/>
              <a:t>Rating scale </a:t>
            </a:r>
            <a:endParaRPr lang="en-IN" b="1" dirty="0"/>
          </a:p>
        </p:txBody>
      </p:sp>
      <p:sp>
        <p:nvSpPr>
          <p:cNvPr id="3" name="Content Placeholder 2"/>
          <p:cNvSpPr>
            <a:spLocks noGrp="1"/>
          </p:cNvSpPr>
          <p:nvPr>
            <p:ph idx="1"/>
          </p:nvPr>
        </p:nvSpPr>
        <p:spPr>
          <a:xfrm>
            <a:off x="752856" y="1625728"/>
            <a:ext cx="10515600" cy="3007232"/>
          </a:xfrm>
        </p:spPr>
        <p:txBody>
          <a:bodyPr>
            <a:normAutofit fontScale="92500" lnSpcReduction="20000"/>
          </a:bodyPr>
          <a:lstStyle/>
          <a:p>
            <a:pPr algn="just"/>
            <a:r>
              <a:rPr lang="en-US" b="1" dirty="0"/>
              <a:t>Rating scale : </a:t>
            </a:r>
            <a:r>
              <a:rPr lang="en-US" dirty="0"/>
              <a:t>involves qualitative description of a limited number of aspects of a thing or of traits of a person. When we use rating scales (or categorical scales), we judge an object in absolute terms against some specified criteria </a:t>
            </a:r>
          </a:p>
          <a:p>
            <a:pPr algn="just"/>
            <a:r>
              <a:rPr lang="en-US" dirty="0"/>
              <a:t>The results obtained from their use, compare favorably with alternative methods. </a:t>
            </a:r>
          </a:p>
          <a:p>
            <a:pPr algn="just"/>
            <a:r>
              <a:rPr lang="en-US" dirty="0"/>
              <a:t>They require less time, are interesting to use and have a wide range of applications. </a:t>
            </a:r>
          </a:p>
          <a:p>
            <a:pPr algn="just"/>
            <a:r>
              <a:rPr lang="en-US" dirty="0"/>
              <a:t>They may be used with a large number of properties or variables. </a:t>
            </a:r>
            <a:endParaRPr lang="en-IN" dirty="0"/>
          </a:p>
        </p:txBody>
      </p:sp>
      <p:pic>
        <p:nvPicPr>
          <p:cNvPr id="4" name="Picture 3"/>
          <p:cNvPicPr>
            <a:picLocks noChangeAspect="1"/>
          </p:cNvPicPr>
          <p:nvPr/>
        </p:nvPicPr>
        <p:blipFill>
          <a:blip r:embed="rId2"/>
          <a:stretch>
            <a:fillRect/>
          </a:stretch>
        </p:blipFill>
        <p:spPr>
          <a:xfrm>
            <a:off x="3373755" y="5023929"/>
            <a:ext cx="5948940" cy="1706055"/>
          </a:xfrm>
          <a:prstGeom prst="rect">
            <a:avLst/>
          </a:prstGeom>
        </p:spPr>
      </p:pic>
    </p:spTree>
    <p:extLst>
      <p:ext uri="{BB962C8B-B14F-4D97-AF65-F5344CB8AC3E}">
        <p14:creationId xmlns:p14="http://schemas.microsoft.com/office/powerpoint/2010/main" val="12365292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280" y="2096389"/>
            <a:ext cx="10515600" cy="1987931"/>
          </a:xfrm>
          <a:solidFill>
            <a:schemeClr val="accent2"/>
          </a:solidFill>
        </p:spPr>
        <p:txBody>
          <a:bodyPr>
            <a:normAutofit/>
          </a:bodyPr>
          <a:lstStyle/>
          <a:p>
            <a:pPr algn="ctr"/>
            <a:r>
              <a:rPr lang="en-IN" sz="7200" b="1" dirty="0"/>
              <a:t>Data Analysis</a:t>
            </a:r>
          </a:p>
        </p:txBody>
      </p:sp>
    </p:spTree>
    <p:extLst>
      <p:ext uri="{BB962C8B-B14F-4D97-AF65-F5344CB8AC3E}">
        <p14:creationId xmlns:p14="http://schemas.microsoft.com/office/powerpoint/2010/main" val="9383865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664" y="109093"/>
            <a:ext cx="10515600" cy="975995"/>
          </a:xfrm>
          <a:solidFill>
            <a:srgbClr val="FF66FF"/>
          </a:solidFill>
        </p:spPr>
        <p:txBody>
          <a:bodyPr>
            <a:normAutofit/>
          </a:bodyPr>
          <a:lstStyle/>
          <a:p>
            <a:pPr algn="ctr"/>
            <a:r>
              <a:rPr lang="en-IN" b="1" dirty="0"/>
              <a:t>Testing of Hypotheses</a:t>
            </a:r>
          </a:p>
        </p:txBody>
      </p:sp>
      <p:sp>
        <p:nvSpPr>
          <p:cNvPr id="3" name="Content Placeholder 2"/>
          <p:cNvSpPr>
            <a:spLocks noGrp="1"/>
          </p:cNvSpPr>
          <p:nvPr>
            <p:ph idx="1"/>
          </p:nvPr>
        </p:nvSpPr>
        <p:spPr>
          <a:xfrm>
            <a:off x="231648" y="1362328"/>
            <a:ext cx="11484864" cy="5184775"/>
          </a:xfrm>
        </p:spPr>
        <p:txBody>
          <a:bodyPr>
            <a:noAutofit/>
          </a:bodyPr>
          <a:lstStyle/>
          <a:p>
            <a:pPr algn="just"/>
            <a:r>
              <a:rPr lang="en-US" sz="3200" dirty="0"/>
              <a:t>Hypothesis - a mere assumption or some supposition to be proved or disproved</a:t>
            </a:r>
          </a:p>
          <a:p>
            <a:pPr algn="just"/>
            <a:r>
              <a:rPr lang="en-US" sz="3200" dirty="0"/>
              <a:t>For a researcher, hypothesis is a formal question that he intends to resolve</a:t>
            </a:r>
          </a:p>
          <a:p>
            <a:pPr algn="just"/>
            <a:r>
              <a:rPr lang="en-US" sz="3200" dirty="0"/>
              <a:t>Hypothesis may be defined as a proposition or a set of propositions put forth as an explanation for the occurrence of some phenomena </a:t>
            </a:r>
            <a:r>
              <a:rPr lang="en-IN" sz="3200" dirty="0"/>
              <a:t> </a:t>
            </a:r>
          </a:p>
          <a:p>
            <a:pPr algn="just"/>
            <a:r>
              <a:rPr lang="en-IN" sz="3200" dirty="0"/>
              <a:t>Examples –</a:t>
            </a:r>
          </a:p>
          <a:p>
            <a:pPr lvl="1" algn="just"/>
            <a:r>
              <a:rPr lang="en-US" sz="2800" dirty="0"/>
              <a:t>“Students who receive counselling will show a greater increase in creativity than students not </a:t>
            </a:r>
            <a:r>
              <a:rPr lang="en-IN" sz="2800" dirty="0"/>
              <a:t>receiving counselling” </a:t>
            </a:r>
          </a:p>
          <a:p>
            <a:pPr lvl="1" algn="just"/>
            <a:r>
              <a:rPr lang="en-US" sz="2800" dirty="0"/>
              <a:t>“the automobile </a:t>
            </a:r>
            <a:r>
              <a:rPr lang="en-US" sz="2800" i="1" dirty="0"/>
              <a:t>A </a:t>
            </a:r>
            <a:r>
              <a:rPr lang="en-US" sz="2800" dirty="0"/>
              <a:t>is performing as well as automobile </a:t>
            </a:r>
            <a:r>
              <a:rPr lang="en-US" sz="2800" i="1" dirty="0"/>
              <a:t>B</a:t>
            </a:r>
            <a:r>
              <a:rPr lang="en-US" sz="2800" dirty="0"/>
              <a:t>.”</a:t>
            </a:r>
            <a:endParaRPr lang="en-IN" sz="2800" dirty="0"/>
          </a:p>
        </p:txBody>
      </p:sp>
    </p:spTree>
    <p:extLst>
      <p:ext uri="{BB962C8B-B14F-4D97-AF65-F5344CB8AC3E}">
        <p14:creationId xmlns:p14="http://schemas.microsoft.com/office/powerpoint/2010/main" val="31002064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664" y="157861"/>
            <a:ext cx="10515600" cy="927227"/>
          </a:xfrm>
          <a:solidFill>
            <a:srgbClr val="FF66FF"/>
          </a:solidFill>
        </p:spPr>
        <p:txBody>
          <a:bodyPr>
            <a:normAutofit/>
          </a:bodyPr>
          <a:lstStyle/>
          <a:p>
            <a:pPr algn="ctr"/>
            <a:r>
              <a:rPr lang="en-US" b="1" dirty="0"/>
              <a:t>Null hypothesis and alternative hypothesis</a:t>
            </a:r>
            <a:endParaRPr lang="en-IN" b="1" dirty="0"/>
          </a:p>
        </p:txBody>
      </p:sp>
      <p:sp>
        <p:nvSpPr>
          <p:cNvPr id="3" name="Content Placeholder 2"/>
          <p:cNvSpPr>
            <a:spLocks noGrp="1"/>
          </p:cNvSpPr>
          <p:nvPr>
            <p:ph idx="1"/>
          </p:nvPr>
        </p:nvSpPr>
        <p:spPr>
          <a:xfrm>
            <a:off x="448056" y="1484249"/>
            <a:ext cx="11426952" cy="4351338"/>
          </a:xfrm>
        </p:spPr>
        <p:txBody>
          <a:bodyPr>
            <a:normAutofit lnSpcReduction="10000"/>
          </a:bodyPr>
          <a:lstStyle/>
          <a:p>
            <a:r>
              <a:rPr lang="en-US" dirty="0"/>
              <a:t> </a:t>
            </a:r>
            <a:r>
              <a:rPr lang="en-US" b="1" dirty="0"/>
              <a:t>Null Hypothesis (H</a:t>
            </a:r>
            <a:r>
              <a:rPr lang="en-US" b="1" baseline="-25000" dirty="0"/>
              <a:t>0</a:t>
            </a:r>
            <a:r>
              <a:rPr lang="en-US" b="1" dirty="0"/>
              <a:t>)</a:t>
            </a:r>
            <a:r>
              <a:rPr lang="en-US" dirty="0"/>
              <a:t> </a:t>
            </a:r>
          </a:p>
          <a:p>
            <a:pPr lvl="1"/>
            <a:r>
              <a:rPr lang="en-US" dirty="0"/>
              <a:t>This can be thought of as the implied hypothesis. </a:t>
            </a:r>
          </a:p>
          <a:p>
            <a:pPr lvl="1"/>
            <a:r>
              <a:rPr lang="en-US" dirty="0"/>
              <a:t>“Null” meaning “nothing.”  </a:t>
            </a:r>
          </a:p>
          <a:p>
            <a:pPr lvl="1"/>
            <a:r>
              <a:rPr lang="en-US" dirty="0"/>
              <a:t>This hypothesis states that there is no difference between groups or no relationship between variables. </a:t>
            </a:r>
          </a:p>
          <a:p>
            <a:pPr lvl="1"/>
            <a:r>
              <a:rPr lang="en-US" dirty="0"/>
              <a:t>The null hypothesis is a presumption of status quo or no change.</a:t>
            </a:r>
          </a:p>
          <a:p>
            <a:pPr lvl="1"/>
            <a:r>
              <a:rPr lang="en-US" dirty="0"/>
              <a:t>The researcher wishes to </a:t>
            </a:r>
            <a:r>
              <a:rPr lang="en-IN" dirty="0"/>
              <a:t>disprove null hypothesis</a:t>
            </a:r>
            <a:endParaRPr lang="en-US" dirty="0"/>
          </a:p>
          <a:p>
            <a:r>
              <a:rPr lang="en-US" b="1" dirty="0"/>
              <a:t>Alternative Hypothesis (H</a:t>
            </a:r>
            <a:r>
              <a:rPr lang="en-US" b="1" baseline="-25000" dirty="0"/>
              <a:t>a</a:t>
            </a:r>
            <a:r>
              <a:rPr lang="en-US" b="1" dirty="0"/>
              <a:t>) </a:t>
            </a:r>
            <a:endParaRPr lang="en-US" dirty="0"/>
          </a:p>
          <a:p>
            <a:pPr lvl="1"/>
            <a:r>
              <a:rPr lang="en-US" dirty="0"/>
              <a:t>This is also known as the claim</a:t>
            </a:r>
          </a:p>
          <a:p>
            <a:pPr lvl="1"/>
            <a:r>
              <a:rPr lang="en-US" dirty="0"/>
              <a:t>This hypothesis should state what you expect the data to show</a:t>
            </a:r>
          </a:p>
          <a:p>
            <a:pPr lvl="1"/>
            <a:r>
              <a:rPr lang="en-US" dirty="0"/>
              <a:t>This is your answer to your research question</a:t>
            </a:r>
          </a:p>
          <a:p>
            <a:pPr algn="just"/>
            <a:endParaRPr lang="en-IN" dirty="0"/>
          </a:p>
        </p:txBody>
      </p:sp>
    </p:spTree>
    <p:extLst>
      <p:ext uri="{BB962C8B-B14F-4D97-AF65-F5344CB8AC3E}">
        <p14:creationId xmlns:p14="http://schemas.microsoft.com/office/powerpoint/2010/main" val="8904773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IN" dirty="0"/>
          </a:p>
          <a:p>
            <a:endParaRPr lang="en-IN" dirty="0"/>
          </a:p>
        </p:txBody>
      </p:sp>
      <p:sp>
        <p:nvSpPr>
          <p:cNvPr id="4" name="Title 1"/>
          <p:cNvSpPr txBox="1">
            <a:spLocks/>
          </p:cNvSpPr>
          <p:nvPr/>
        </p:nvSpPr>
        <p:spPr>
          <a:xfrm>
            <a:off x="740664" y="157861"/>
            <a:ext cx="10515600" cy="1427377"/>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t>Null hypothesis and alternative hypothesis</a:t>
            </a:r>
          </a:p>
          <a:p>
            <a:pPr algn="ctr"/>
            <a:r>
              <a:rPr lang="en-US" b="1" dirty="0"/>
              <a:t>Example</a:t>
            </a:r>
            <a:endParaRPr lang="en-IN" b="1" dirty="0"/>
          </a:p>
        </p:txBody>
      </p:sp>
      <p:pic>
        <p:nvPicPr>
          <p:cNvPr id="6" name="Picture 5"/>
          <p:cNvPicPr>
            <a:picLocks noChangeAspect="1"/>
          </p:cNvPicPr>
          <p:nvPr/>
        </p:nvPicPr>
        <p:blipFill>
          <a:blip r:embed="rId2"/>
          <a:stretch>
            <a:fillRect/>
          </a:stretch>
        </p:blipFill>
        <p:spPr>
          <a:xfrm>
            <a:off x="3346132" y="2568456"/>
            <a:ext cx="2368952" cy="657193"/>
          </a:xfrm>
          <a:prstGeom prst="rect">
            <a:avLst/>
          </a:prstGeom>
        </p:spPr>
      </p:pic>
      <p:pic>
        <p:nvPicPr>
          <p:cNvPr id="7" name="Picture 6"/>
          <p:cNvPicPr>
            <a:picLocks noChangeAspect="1"/>
          </p:cNvPicPr>
          <p:nvPr/>
        </p:nvPicPr>
        <p:blipFill>
          <a:blip r:embed="rId3"/>
          <a:stretch>
            <a:fillRect/>
          </a:stretch>
        </p:blipFill>
        <p:spPr>
          <a:xfrm>
            <a:off x="740664" y="1934370"/>
            <a:ext cx="9209744" cy="393699"/>
          </a:xfrm>
          <a:prstGeom prst="rect">
            <a:avLst/>
          </a:prstGeom>
        </p:spPr>
      </p:pic>
      <p:pic>
        <p:nvPicPr>
          <p:cNvPr id="8" name="Picture 7"/>
          <p:cNvPicPr>
            <a:picLocks noChangeAspect="1"/>
          </p:cNvPicPr>
          <p:nvPr/>
        </p:nvPicPr>
        <p:blipFill>
          <a:blip r:embed="rId4"/>
          <a:stretch>
            <a:fillRect/>
          </a:stretch>
        </p:blipFill>
        <p:spPr>
          <a:xfrm>
            <a:off x="838200" y="3408044"/>
            <a:ext cx="7952232" cy="2824633"/>
          </a:xfrm>
          <a:prstGeom prst="rect">
            <a:avLst/>
          </a:prstGeom>
        </p:spPr>
      </p:pic>
      <p:sp>
        <p:nvSpPr>
          <p:cNvPr id="9" name="TextBox 8"/>
          <p:cNvSpPr txBox="1"/>
          <p:nvPr/>
        </p:nvSpPr>
        <p:spPr>
          <a:xfrm>
            <a:off x="1219200" y="6327648"/>
            <a:ext cx="7729728" cy="365760"/>
          </a:xfrm>
          <a:prstGeom prst="rect">
            <a:avLst/>
          </a:prstGeom>
          <a:noFill/>
        </p:spPr>
        <p:txBody>
          <a:bodyPr wrap="square" rtlCol="0">
            <a:spAutoFit/>
          </a:bodyPr>
          <a:lstStyle/>
          <a:p>
            <a:r>
              <a:rPr lang="en-IN" dirty="0"/>
              <a:t>Select the relevant alternative hypothesis for the research</a:t>
            </a:r>
          </a:p>
        </p:txBody>
      </p:sp>
    </p:spTree>
    <p:extLst>
      <p:ext uri="{BB962C8B-B14F-4D97-AF65-F5344CB8AC3E}">
        <p14:creationId xmlns:p14="http://schemas.microsoft.com/office/powerpoint/2010/main" val="32059737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66FF"/>
          </a:solidFill>
        </p:spPr>
        <p:txBody>
          <a:bodyPr>
            <a:normAutofit/>
          </a:bodyPr>
          <a:lstStyle/>
          <a:p>
            <a:pPr algn="ctr"/>
            <a:r>
              <a:rPr lang="en-IN" b="1" dirty="0"/>
              <a:t>level of significance</a:t>
            </a:r>
          </a:p>
        </p:txBody>
      </p:sp>
      <p:sp>
        <p:nvSpPr>
          <p:cNvPr id="3" name="Content Placeholder 2"/>
          <p:cNvSpPr>
            <a:spLocks noGrp="1"/>
          </p:cNvSpPr>
          <p:nvPr>
            <p:ph idx="1"/>
          </p:nvPr>
        </p:nvSpPr>
        <p:spPr/>
        <p:txBody>
          <a:bodyPr/>
          <a:lstStyle/>
          <a:p>
            <a:r>
              <a:rPr lang="en-IN" dirty="0"/>
              <a:t>The </a:t>
            </a:r>
            <a:r>
              <a:rPr lang="en-US" dirty="0"/>
              <a:t>significance level is the maximum value of the probability of rejecting </a:t>
            </a:r>
            <a:r>
              <a:rPr lang="en-US" i="1" dirty="0"/>
              <a:t>H</a:t>
            </a:r>
            <a:r>
              <a:rPr lang="en-US" dirty="0"/>
              <a:t>0 when it is true </a:t>
            </a:r>
          </a:p>
          <a:p>
            <a:pPr marL="0" indent="0">
              <a:buNone/>
            </a:pPr>
            <a:endParaRPr lang="en-US" dirty="0"/>
          </a:p>
          <a:p>
            <a:r>
              <a:rPr lang="en-US" dirty="0"/>
              <a:t>In case we take the significance level at 5 per cent, then this implies that </a:t>
            </a:r>
            <a:r>
              <a:rPr lang="en-US" i="1" dirty="0"/>
              <a:t>H</a:t>
            </a:r>
            <a:r>
              <a:rPr lang="en-US" dirty="0"/>
              <a:t>0 will be rejected when the sampling result (i.e., observed evidence) has a less than 0.05 probability of occurring if </a:t>
            </a:r>
            <a:r>
              <a:rPr lang="en-US" i="1" dirty="0"/>
              <a:t>H</a:t>
            </a:r>
            <a:r>
              <a:rPr lang="en-US" dirty="0"/>
              <a:t>0 </a:t>
            </a:r>
            <a:r>
              <a:rPr lang="en-IN" dirty="0"/>
              <a:t>is true.</a:t>
            </a:r>
          </a:p>
          <a:p>
            <a:endParaRPr lang="en-IN" dirty="0"/>
          </a:p>
          <a:p>
            <a:r>
              <a:rPr lang="en-US" dirty="0"/>
              <a:t>It is usually determined in advance before testing the hypothesis.</a:t>
            </a:r>
            <a:endParaRPr lang="en-IN" dirty="0"/>
          </a:p>
        </p:txBody>
      </p:sp>
    </p:spTree>
    <p:extLst>
      <p:ext uri="{BB962C8B-B14F-4D97-AF65-F5344CB8AC3E}">
        <p14:creationId xmlns:p14="http://schemas.microsoft.com/office/powerpoint/2010/main" val="9021615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66FF"/>
          </a:solidFill>
        </p:spPr>
        <p:txBody>
          <a:bodyPr>
            <a:normAutofit/>
          </a:bodyPr>
          <a:lstStyle/>
          <a:p>
            <a:pPr algn="ctr"/>
            <a:r>
              <a:rPr lang="en-IN" b="1" dirty="0"/>
              <a:t>Type I and Type II Errors</a:t>
            </a:r>
          </a:p>
        </p:txBody>
      </p:sp>
      <p:sp>
        <p:nvSpPr>
          <p:cNvPr id="3" name="Content Placeholder 2"/>
          <p:cNvSpPr>
            <a:spLocks noGrp="1"/>
          </p:cNvSpPr>
          <p:nvPr>
            <p:ph idx="1"/>
          </p:nvPr>
        </p:nvSpPr>
        <p:spPr>
          <a:xfrm>
            <a:off x="838200" y="1825625"/>
            <a:ext cx="10515600" cy="1173607"/>
          </a:xfrm>
        </p:spPr>
        <p:txBody>
          <a:bodyPr/>
          <a:lstStyle/>
          <a:p>
            <a:r>
              <a:rPr lang="en-US" dirty="0"/>
              <a:t>Type I error: We may reject </a:t>
            </a:r>
            <a:r>
              <a:rPr lang="en-US" i="1" dirty="0"/>
              <a:t>H</a:t>
            </a:r>
            <a:r>
              <a:rPr lang="en-US" dirty="0"/>
              <a:t>0 when </a:t>
            </a:r>
            <a:r>
              <a:rPr lang="en-US" i="1" dirty="0"/>
              <a:t>H</a:t>
            </a:r>
            <a:r>
              <a:rPr lang="en-US" dirty="0"/>
              <a:t>0 is true</a:t>
            </a:r>
          </a:p>
          <a:p>
            <a:r>
              <a:rPr lang="en-US" dirty="0"/>
              <a:t>Type II error: We may accept </a:t>
            </a:r>
            <a:r>
              <a:rPr lang="en-US" i="1" dirty="0"/>
              <a:t>H</a:t>
            </a:r>
            <a:r>
              <a:rPr lang="en-US" dirty="0"/>
              <a:t>0 when in fact </a:t>
            </a:r>
            <a:r>
              <a:rPr lang="en-US" i="1" dirty="0"/>
              <a:t>H</a:t>
            </a:r>
            <a:r>
              <a:rPr lang="en-US" dirty="0"/>
              <a:t>0 is </a:t>
            </a:r>
            <a:r>
              <a:rPr lang="en-IN" dirty="0"/>
              <a:t>not true</a:t>
            </a:r>
          </a:p>
        </p:txBody>
      </p:sp>
      <p:pic>
        <p:nvPicPr>
          <p:cNvPr id="4" name="Picture 3"/>
          <p:cNvPicPr>
            <a:picLocks noChangeAspect="1"/>
          </p:cNvPicPr>
          <p:nvPr/>
        </p:nvPicPr>
        <p:blipFill>
          <a:blip r:embed="rId2"/>
          <a:stretch>
            <a:fillRect/>
          </a:stretch>
        </p:blipFill>
        <p:spPr>
          <a:xfrm>
            <a:off x="1677542" y="3134169"/>
            <a:ext cx="6373701" cy="2822639"/>
          </a:xfrm>
          <a:prstGeom prst="rect">
            <a:avLst/>
          </a:prstGeom>
        </p:spPr>
      </p:pic>
    </p:spTree>
    <p:extLst>
      <p:ext uri="{BB962C8B-B14F-4D97-AF65-F5344CB8AC3E}">
        <p14:creationId xmlns:p14="http://schemas.microsoft.com/office/powerpoint/2010/main" val="16575840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9704" y="97631"/>
            <a:ext cx="10515600" cy="880999"/>
          </a:xfrm>
          <a:solidFill>
            <a:srgbClr val="FF66FF"/>
          </a:solidFill>
        </p:spPr>
        <p:txBody>
          <a:bodyPr>
            <a:normAutofit/>
          </a:bodyPr>
          <a:lstStyle/>
          <a:p>
            <a:pPr algn="ctr"/>
            <a:r>
              <a:rPr lang="en-IN" b="1" dirty="0"/>
              <a:t>Two-tailed and One-tailed tests</a:t>
            </a:r>
          </a:p>
        </p:txBody>
      </p:sp>
      <p:sp>
        <p:nvSpPr>
          <p:cNvPr id="3" name="Content Placeholder 2"/>
          <p:cNvSpPr>
            <a:spLocks noGrp="1"/>
          </p:cNvSpPr>
          <p:nvPr>
            <p:ph idx="1"/>
          </p:nvPr>
        </p:nvSpPr>
        <p:spPr>
          <a:xfrm>
            <a:off x="838200" y="1825625"/>
            <a:ext cx="5660136" cy="1685671"/>
          </a:xfrm>
        </p:spPr>
        <p:txBody>
          <a:bodyPr/>
          <a:lstStyle/>
          <a:p>
            <a:pPr marL="0" indent="0" algn="just">
              <a:buNone/>
            </a:pPr>
            <a:r>
              <a:rPr lang="en-US" dirty="0"/>
              <a:t>A </a:t>
            </a:r>
            <a:r>
              <a:rPr lang="en-US" b="1" dirty="0">
                <a:solidFill>
                  <a:srgbClr val="FF0000"/>
                </a:solidFill>
              </a:rPr>
              <a:t>two-tailed test </a:t>
            </a:r>
            <a:r>
              <a:rPr lang="en-US" dirty="0"/>
              <a:t>rejects the null hypothesis if the sample mean is significantly higher or lower than the hypothesized value</a:t>
            </a:r>
          </a:p>
          <a:p>
            <a:endParaRPr lang="en-IN" dirty="0"/>
          </a:p>
        </p:txBody>
      </p:sp>
      <p:pic>
        <p:nvPicPr>
          <p:cNvPr id="4" name="Picture 3"/>
          <p:cNvPicPr>
            <a:picLocks noChangeAspect="1"/>
          </p:cNvPicPr>
          <p:nvPr/>
        </p:nvPicPr>
        <p:blipFill>
          <a:blip r:embed="rId2"/>
          <a:stretch>
            <a:fillRect/>
          </a:stretch>
        </p:blipFill>
        <p:spPr>
          <a:xfrm>
            <a:off x="1118108" y="4090797"/>
            <a:ext cx="4443014" cy="603124"/>
          </a:xfrm>
          <a:prstGeom prst="rect">
            <a:avLst/>
          </a:prstGeom>
        </p:spPr>
      </p:pic>
      <p:pic>
        <p:nvPicPr>
          <p:cNvPr id="5" name="Picture 4"/>
          <p:cNvPicPr>
            <a:picLocks noChangeAspect="1"/>
          </p:cNvPicPr>
          <p:nvPr/>
        </p:nvPicPr>
        <p:blipFill>
          <a:blip r:embed="rId3"/>
          <a:stretch>
            <a:fillRect/>
          </a:stretch>
        </p:blipFill>
        <p:spPr>
          <a:xfrm>
            <a:off x="6925057" y="1027398"/>
            <a:ext cx="4876800" cy="5622019"/>
          </a:xfrm>
          <a:prstGeom prst="rect">
            <a:avLst/>
          </a:prstGeom>
        </p:spPr>
      </p:pic>
    </p:spTree>
    <p:extLst>
      <p:ext uri="{BB962C8B-B14F-4D97-AF65-F5344CB8AC3E}">
        <p14:creationId xmlns:p14="http://schemas.microsoft.com/office/powerpoint/2010/main" val="7168695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6824" y="1328800"/>
            <a:ext cx="4892040" cy="2914016"/>
          </a:xfrm>
        </p:spPr>
        <p:txBody>
          <a:bodyPr>
            <a:normAutofit/>
          </a:bodyPr>
          <a:lstStyle/>
          <a:p>
            <a:pPr marL="0" indent="0" algn="just">
              <a:buNone/>
            </a:pPr>
            <a:r>
              <a:rPr lang="en-IN" dirty="0"/>
              <a:t>A </a:t>
            </a:r>
            <a:r>
              <a:rPr lang="en-IN" b="1" dirty="0">
                <a:solidFill>
                  <a:srgbClr val="FF0000"/>
                </a:solidFill>
              </a:rPr>
              <a:t>one-tailed test </a:t>
            </a:r>
            <a:r>
              <a:rPr lang="en-US" dirty="0"/>
              <a:t>would be used when we are to test, say, whether the population mean is either lower than or higher </a:t>
            </a:r>
            <a:r>
              <a:rPr lang="en-IN" dirty="0"/>
              <a:t>than some hypothesised value.</a:t>
            </a:r>
          </a:p>
          <a:p>
            <a:pPr marL="0" indent="0" algn="just">
              <a:buNone/>
            </a:pPr>
            <a:r>
              <a:rPr lang="en-IN" dirty="0"/>
              <a:t>It can be left tailed or right tailed test.</a:t>
            </a:r>
          </a:p>
        </p:txBody>
      </p:sp>
      <p:sp>
        <p:nvSpPr>
          <p:cNvPr id="4" name="Title 1"/>
          <p:cNvSpPr txBox="1">
            <a:spLocks/>
          </p:cNvSpPr>
          <p:nvPr/>
        </p:nvSpPr>
        <p:spPr>
          <a:xfrm>
            <a:off x="679704" y="97631"/>
            <a:ext cx="10515600" cy="880999"/>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t>Two-tailed and One-tailed tests</a:t>
            </a:r>
            <a:endParaRPr lang="en-IN" b="1" dirty="0"/>
          </a:p>
        </p:txBody>
      </p:sp>
      <p:pic>
        <p:nvPicPr>
          <p:cNvPr id="6" name="Picture 5"/>
          <p:cNvPicPr>
            <a:picLocks noChangeAspect="1"/>
          </p:cNvPicPr>
          <p:nvPr/>
        </p:nvPicPr>
        <p:blipFill>
          <a:blip r:embed="rId2"/>
          <a:stretch>
            <a:fillRect/>
          </a:stretch>
        </p:blipFill>
        <p:spPr>
          <a:xfrm>
            <a:off x="679704" y="5516308"/>
            <a:ext cx="3762375" cy="409575"/>
          </a:xfrm>
          <a:prstGeom prst="rect">
            <a:avLst/>
          </a:prstGeom>
        </p:spPr>
      </p:pic>
      <p:pic>
        <p:nvPicPr>
          <p:cNvPr id="7" name="Picture 6"/>
          <p:cNvPicPr>
            <a:picLocks noChangeAspect="1"/>
          </p:cNvPicPr>
          <p:nvPr/>
        </p:nvPicPr>
        <p:blipFill>
          <a:blip r:embed="rId3"/>
          <a:stretch>
            <a:fillRect/>
          </a:stretch>
        </p:blipFill>
        <p:spPr>
          <a:xfrm>
            <a:off x="5937504" y="1175956"/>
            <a:ext cx="4695825" cy="5286375"/>
          </a:xfrm>
          <a:prstGeom prst="rect">
            <a:avLst/>
          </a:prstGeom>
        </p:spPr>
      </p:pic>
      <p:sp>
        <p:nvSpPr>
          <p:cNvPr id="8" name="TextBox 7"/>
          <p:cNvSpPr txBox="1"/>
          <p:nvPr/>
        </p:nvSpPr>
        <p:spPr>
          <a:xfrm>
            <a:off x="679704" y="4876800"/>
            <a:ext cx="4160520" cy="461665"/>
          </a:xfrm>
          <a:prstGeom prst="rect">
            <a:avLst/>
          </a:prstGeom>
          <a:noFill/>
        </p:spPr>
        <p:txBody>
          <a:bodyPr wrap="square" rtlCol="0">
            <a:spAutoFit/>
          </a:bodyPr>
          <a:lstStyle/>
          <a:p>
            <a:r>
              <a:rPr lang="en-IN" sz="2400" dirty="0"/>
              <a:t>Example of left tailed test</a:t>
            </a:r>
          </a:p>
        </p:txBody>
      </p:sp>
    </p:spTree>
    <p:extLst>
      <p:ext uri="{BB962C8B-B14F-4D97-AF65-F5344CB8AC3E}">
        <p14:creationId xmlns:p14="http://schemas.microsoft.com/office/powerpoint/2010/main" val="23646415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76122" y="3313747"/>
            <a:ext cx="3762286" cy="490157"/>
          </a:xfrm>
          <a:prstGeom prst="rect">
            <a:avLst/>
          </a:prstGeom>
        </p:spPr>
      </p:pic>
      <p:pic>
        <p:nvPicPr>
          <p:cNvPr id="5" name="Picture 4"/>
          <p:cNvPicPr>
            <a:picLocks noChangeAspect="1"/>
          </p:cNvPicPr>
          <p:nvPr/>
        </p:nvPicPr>
        <p:blipFill>
          <a:blip r:embed="rId3"/>
          <a:stretch>
            <a:fillRect/>
          </a:stretch>
        </p:blipFill>
        <p:spPr>
          <a:xfrm>
            <a:off x="6205729" y="1435608"/>
            <a:ext cx="5280088" cy="5181600"/>
          </a:xfrm>
          <a:prstGeom prst="rect">
            <a:avLst/>
          </a:prstGeom>
        </p:spPr>
      </p:pic>
      <p:sp>
        <p:nvSpPr>
          <p:cNvPr id="6" name="Title 1"/>
          <p:cNvSpPr txBox="1">
            <a:spLocks/>
          </p:cNvSpPr>
          <p:nvPr/>
        </p:nvSpPr>
        <p:spPr>
          <a:xfrm>
            <a:off x="679704" y="97631"/>
            <a:ext cx="10515600" cy="880999"/>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t>Two-tailed and One-tailed tests</a:t>
            </a:r>
            <a:endParaRPr lang="en-IN" b="1" dirty="0"/>
          </a:p>
        </p:txBody>
      </p:sp>
      <p:sp>
        <p:nvSpPr>
          <p:cNvPr id="7" name="TextBox 6"/>
          <p:cNvSpPr txBox="1"/>
          <p:nvPr/>
        </p:nvSpPr>
        <p:spPr>
          <a:xfrm>
            <a:off x="976122" y="2657856"/>
            <a:ext cx="4160520" cy="461665"/>
          </a:xfrm>
          <a:prstGeom prst="rect">
            <a:avLst/>
          </a:prstGeom>
          <a:noFill/>
        </p:spPr>
        <p:txBody>
          <a:bodyPr wrap="square" rtlCol="0">
            <a:spAutoFit/>
          </a:bodyPr>
          <a:lstStyle/>
          <a:p>
            <a:r>
              <a:rPr lang="en-IN" sz="2400" dirty="0"/>
              <a:t>Example of right tailed test</a:t>
            </a:r>
          </a:p>
        </p:txBody>
      </p:sp>
    </p:spTree>
    <p:extLst>
      <p:ext uri="{BB962C8B-B14F-4D97-AF65-F5344CB8AC3E}">
        <p14:creationId xmlns:p14="http://schemas.microsoft.com/office/powerpoint/2010/main" val="35266419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688"/>
            <a:ext cx="10515600" cy="793115"/>
          </a:xfrm>
          <a:solidFill>
            <a:srgbClr val="FF66FF"/>
          </a:solidFill>
        </p:spPr>
        <p:txBody>
          <a:bodyPr/>
          <a:lstStyle/>
          <a:p>
            <a:pPr algn="ctr"/>
            <a:r>
              <a:rPr lang="en-IN" b="1" dirty="0"/>
              <a:t>Procedure For Hypothesis Testing</a:t>
            </a:r>
          </a:p>
        </p:txBody>
      </p:sp>
      <p:sp>
        <p:nvSpPr>
          <p:cNvPr id="3" name="Content Placeholder 2"/>
          <p:cNvSpPr>
            <a:spLocks noGrp="1"/>
          </p:cNvSpPr>
          <p:nvPr>
            <p:ph idx="1"/>
          </p:nvPr>
        </p:nvSpPr>
        <p:spPr>
          <a:xfrm>
            <a:off x="838200" y="1456467"/>
            <a:ext cx="10515600" cy="1295527"/>
          </a:xfrm>
        </p:spPr>
        <p:txBody>
          <a:bodyPr/>
          <a:lstStyle/>
          <a:p>
            <a:pPr marL="0" indent="0" algn="just">
              <a:buNone/>
            </a:pPr>
            <a:r>
              <a:rPr lang="en-US" dirty="0"/>
              <a:t>(</a:t>
            </a:r>
            <a:r>
              <a:rPr lang="en-US" dirty="0" err="1"/>
              <a:t>i</a:t>
            </a:r>
            <a:r>
              <a:rPr lang="en-US" dirty="0"/>
              <a:t>) </a:t>
            </a:r>
            <a:r>
              <a:rPr lang="en-US" i="1" dirty="0"/>
              <a:t>Making a formal statement: </a:t>
            </a:r>
            <a:r>
              <a:rPr lang="en-US" dirty="0"/>
              <a:t>The step consists in making a formal statement of the null hypothesis (</a:t>
            </a:r>
            <a:r>
              <a:rPr lang="en-US" i="1" dirty="0"/>
              <a:t>H</a:t>
            </a:r>
            <a:r>
              <a:rPr lang="en-US" dirty="0"/>
              <a:t>0) and also of the alternative hypothesis (</a:t>
            </a:r>
            <a:r>
              <a:rPr lang="en-US" i="1" dirty="0"/>
              <a:t>Ha</a:t>
            </a:r>
            <a:r>
              <a:rPr lang="en-US" dirty="0"/>
              <a:t>).</a:t>
            </a:r>
            <a:endParaRPr lang="en-IN" dirty="0"/>
          </a:p>
        </p:txBody>
      </p:sp>
      <p:pic>
        <p:nvPicPr>
          <p:cNvPr id="4" name="Picture 3"/>
          <p:cNvPicPr>
            <a:picLocks noChangeAspect="1"/>
          </p:cNvPicPr>
          <p:nvPr/>
        </p:nvPicPr>
        <p:blipFill>
          <a:blip r:embed="rId2"/>
          <a:stretch>
            <a:fillRect/>
          </a:stretch>
        </p:blipFill>
        <p:spPr>
          <a:xfrm>
            <a:off x="1714118" y="2906458"/>
            <a:ext cx="4671019" cy="1019366"/>
          </a:xfrm>
          <a:prstGeom prst="rect">
            <a:avLst/>
          </a:prstGeom>
        </p:spPr>
      </p:pic>
      <p:sp>
        <p:nvSpPr>
          <p:cNvPr id="5" name="Rectangle 4"/>
          <p:cNvSpPr/>
          <p:nvPr/>
        </p:nvSpPr>
        <p:spPr>
          <a:xfrm>
            <a:off x="728472" y="4080288"/>
            <a:ext cx="10515600" cy="2246769"/>
          </a:xfrm>
          <a:prstGeom prst="rect">
            <a:avLst/>
          </a:prstGeom>
        </p:spPr>
        <p:txBody>
          <a:bodyPr wrap="square">
            <a:spAutoFit/>
          </a:bodyPr>
          <a:lstStyle/>
          <a:p>
            <a:pPr algn="just"/>
            <a:r>
              <a:rPr lang="en-US" sz="2800" dirty="0"/>
              <a:t>(ii) Selecting a significance level: The hypotheses are tested on a pre-determined level of significance and as such the same should be specified. </a:t>
            </a:r>
          </a:p>
          <a:p>
            <a:r>
              <a:rPr lang="en-US" sz="2800" dirty="0"/>
              <a:t>Generally, in practice, either 5% level or 1% level is </a:t>
            </a:r>
            <a:r>
              <a:rPr lang="en-IN" sz="2800" dirty="0"/>
              <a:t>adopted for the purpose.</a:t>
            </a:r>
          </a:p>
        </p:txBody>
      </p:sp>
    </p:spTree>
    <p:extLst>
      <p:ext uri="{BB962C8B-B14F-4D97-AF65-F5344CB8AC3E}">
        <p14:creationId xmlns:p14="http://schemas.microsoft.com/office/powerpoint/2010/main" val="33397708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16025"/>
            <a:ext cx="10515600" cy="4351338"/>
          </a:xfrm>
        </p:spPr>
        <p:txBody>
          <a:bodyPr>
            <a:normAutofit/>
          </a:bodyPr>
          <a:lstStyle/>
          <a:p>
            <a:pPr marL="0" indent="0" algn="just">
              <a:buNone/>
            </a:pPr>
            <a:r>
              <a:rPr lang="en-US" dirty="0"/>
              <a:t>(iii) </a:t>
            </a:r>
            <a:r>
              <a:rPr lang="en-US" i="1" dirty="0"/>
              <a:t>Deciding the distribution to use: </a:t>
            </a:r>
            <a:r>
              <a:rPr lang="en-US" dirty="0"/>
              <a:t>to determine the appropriate sampling distribution. </a:t>
            </a:r>
          </a:p>
          <a:p>
            <a:pPr marL="0" indent="0" algn="just">
              <a:buNone/>
            </a:pPr>
            <a:r>
              <a:rPr lang="en-US" dirty="0"/>
              <a:t>The choice generally remains between normal distribution and the </a:t>
            </a:r>
            <a:r>
              <a:rPr lang="en-US" i="1" dirty="0"/>
              <a:t>t</a:t>
            </a:r>
            <a:r>
              <a:rPr lang="en-US" dirty="0"/>
              <a:t>-distribution.</a:t>
            </a:r>
          </a:p>
          <a:p>
            <a:pPr marL="0" indent="0">
              <a:buNone/>
            </a:pPr>
            <a:r>
              <a:rPr lang="en-US" dirty="0"/>
              <a:t>(iv) </a:t>
            </a:r>
            <a:r>
              <a:rPr lang="en-US" i="1" dirty="0"/>
              <a:t>Selecting a random sample and computing an appropriate value: </a:t>
            </a:r>
            <a:r>
              <a:rPr lang="en-US" dirty="0"/>
              <a:t>to select a random sample(s) and compute an appropriate value from the sample data concerning the test statistic</a:t>
            </a:r>
          </a:p>
          <a:p>
            <a:pPr marL="0" indent="0" algn="just">
              <a:buNone/>
            </a:pPr>
            <a:r>
              <a:rPr lang="en-US" dirty="0"/>
              <a:t>(v) </a:t>
            </a:r>
            <a:r>
              <a:rPr lang="en-US" i="1" dirty="0"/>
              <a:t>Calculation of the probability: </a:t>
            </a:r>
            <a:r>
              <a:rPr lang="en-US" dirty="0"/>
              <a:t>to calculate the probability that the sample result would diverge as widely as it has from expectations, if the null hypothesis were in fact true.</a:t>
            </a:r>
            <a:endParaRPr lang="en-IN" dirty="0"/>
          </a:p>
        </p:txBody>
      </p:sp>
      <p:sp>
        <p:nvSpPr>
          <p:cNvPr id="4" name="Title 1"/>
          <p:cNvSpPr txBox="1">
            <a:spLocks/>
          </p:cNvSpPr>
          <p:nvPr/>
        </p:nvSpPr>
        <p:spPr>
          <a:xfrm>
            <a:off x="838200" y="170688"/>
            <a:ext cx="10515600" cy="79311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Procedure For Hypothesis Testing</a:t>
            </a:r>
          </a:p>
        </p:txBody>
      </p:sp>
    </p:spTree>
    <p:extLst>
      <p:ext uri="{BB962C8B-B14F-4D97-AF65-F5344CB8AC3E}">
        <p14:creationId xmlns:p14="http://schemas.microsoft.com/office/powerpoint/2010/main" val="17130995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dirty="0"/>
              <a:t>(vi) </a:t>
            </a:r>
            <a:r>
              <a:rPr lang="en-US" i="1" dirty="0"/>
              <a:t>Comparing the probability: </a:t>
            </a:r>
            <a:r>
              <a:rPr lang="en-US" dirty="0"/>
              <a:t>comparing the probability thus calculated with the specified value for the significance level. </a:t>
            </a:r>
          </a:p>
          <a:p>
            <a:pPr marL="0" indent="0" algn="just">
              <a:buNone/>
            </a:pPr>
            <a:endParaRPr lang="en-US" dirty="0"/>
          </a:p>
          <a:p>
            <a:pPr marL="0" indent="0" algn="just">
              <a:buNone/>
            </a:pPr>
            <a:r>
              <a:rPr lang="en-US" dirty="0"/>
              <a:t>If the calculated probability is equal to or smaller than the </a:t>
            </a:r>
            <a:r>
              <a:rPr lang="el-GR" dirty="0"/>
              <a:t>α</a:t>
            </a:r>
            <a:r>
              <a:rPr lang="en-US" dirty="0"/>
              <a:t> value in case of one-tailed test (and a /2 in case of two-tailed test), then reject the null hypothesis (i.e., accept the alternative hypothesis)</a:t>
            </a:r>
          </a:p>
          <a:p>
            <a:pPr marL="0" indent="0" algn="just">
              <a:buNone/>
            </a:pPr>
            <a:endParaRPr lang="en-US" dirty="0"/>
          </a:p>
          <a:p>
            <a:pPr marL="0" indent="0" algn="just">
              <a:buNone/>
            </a:pPr>
            <a:r>
              <a:rPr lang="en-US" dirty="0"/>
              <a:t>if the calculated probability is greater, then accept the null hypothesis.</a:t>
            </a:r>
            <a:endParaRPr lang="en-IN" dirty="0"/>
          </a:p>
        </p:txBody>
      </p:sp>
      <p:sp>
        <p:nvSpPr>
          <p:cNvPr id="4" name="Title 1"/>
          <p:cNvSpPr txBox="1">
            <a:spLocks/>
          </p:cNvSpPr>
          <p:nvPr/>
        </p:nvSpPr>
        <p:spPr>
          <a:xfrm>
            <a:off x="838200" y="451104"/>
            <a:ext cx="10515600" cy="79311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Procedure For Hypothesis Testing</a:t>
            </a:r>
          </a:p>
        </p:txBody>
      </p:sp>
    </p:spTree>
    <p:extLst>
      <p:ext uri="{BB962C8B-B14F-4D97-AF65-F5344CB8AC3E}">
        <p14:creationId xmlns:p14="http://schemas.microsoft.com/office/powerpoint/2010/main" val="10490833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38200" y="1840992"/>
            <a:ext cx="4477512" cy="2194560"/>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Procedure For Hypothesis Testing</a:t>
            </a:r>
          </a:p>
        </p:txBody>
      </p:sp>
      <p:pic>
        <p:nvPicPr>
          <p:cNvPr id="5" name="Picture 4"/>
          <p:cNvPicPr>
            <a:picLocks noChangeAspect="1"/>
          </p:cNvPicPr>
          <p:nvPr/>
        </p:nvPicPr>
        <p:blipFill>
          <a:blip r:embed="rId2"/>
          <a:stretch>
            <a:fillRect/>
          </a:stretch>
        </p:blipFill>
        <p:spPr>
          <a:xfrm>
            <a:off x="6510528" y="0"/>
            <a:ext cx="4498848" cy="6695109"/>
          </a:xfrm>
          <a:prstGeom prst="rect">
            <a:avLst/>
          </a:prstGeom>
        </p:spPr>
      </p:pic>
    </p:spTree>
    <p:extLst>
      <p:ext uri="{BB962C8B-B14F-4D97-AF65-F5344CB8AC3E}">
        <p14:creationId xmlns:p14="http://schemas.microsoft.com/office/powerpoint/2010/main" val="32372701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8472" y="1377949"/>
            <a:ext cx="10515600" cy="4351338"/>
          </a:xfrm>
        </p:spPr>
        <p:txBody>
          <a:bodyPr/>
          <a:lstStyle/>
          <a:p>
            <a:pPr algn="just"/>
            <a:r>
              <a:rPr lang="en-US" dirty="0"/>
              <a:t>Population normal, population infinite, sample size may be large or small but variance of the population is known, Ha may be one-sided or two-sided</a:t>
            </a:r>
          </a:p>
          <a:p>
            <a:pPr algn="just"/>
            <a:r>
              <a:rPr lang="en-US" dirty="0"/>
              <a:t>In such a situation </a:t>
            </a:r>
            <a:r>
              <a:rPr lang="en-US" i="1" dirty="0"/>
              <a:t>z</a:t>
            </a:r>
            <a:r>
              <a:rPr lang="en-US" dirty="0"/>
              <a:t>-test is used for testing hypothesis of mean</a:t>
            </a:r>
          </a:p>
          <a:p>
            <a:pPr algn="just"/>
            <a:endParaRPr lang="en-US" dirty="0"/>
          </a:p>
          <a:p>
            <a:pPr algn="just"/>
            <a:endParaRPr lang="en-US" dirty="0"/>
          </a:p>
          <a:p>
            <a:pPr marL="0" indent="0" algn="just">
              <a:buNone/>
            </a:pPr>
            <a:endParaRPr lang="en-US" dirty="0"/>
          </a:p>
          <a:p>
            <a:pPr marL="0" indent="0" algn="just">
              <a:buNone/>
            </a:pPr>
            <a:r>
              <a:rPr lang="en-US" dirty="0"/>
              <a:t>   X-bar is the sample mean, µ is the population’s assumed mean, </a:t>
            </a:r>
            <a:r>
              <a:rPr lang="el-GR" dirty="0"/>
              <a:t>σ</a:t>
            </a:r>
            <a:r>
              <a:rPr lang="en-IN" sz="1800" dirty="0"/>
              <a:t>p</a:t>
            </a:r>
            <a:r>
              <a:rPr lang="en-IN" dirty="0"/>
              <a:t> is the population standard deviation, n is the sample size</a:t>
            </a:r>
            <a:endParaRPr lang="en-US" dirty="0"/>
          </a:p>
          <a:p>
            <a:pPr algn="just"/>
            <a:endParaRPr lang="en-IN" dirty="0"/>
          </a:p>
        </p:txBody>
      </p:sp>
      <p:sp>
        <p:nvSpPr>
          <p:cNvPr id="2" name="Title 1"/>
          <p:cNvSpPr>
            <a:spLocks noGrp="1"/>
          </p:cNvSpPr>
          <p:nvPr>
            <p:ph type="title"/>
          </p:nvPr>
        </p:nvSpPr>
        <p:spPr>
          <a:xfrm>
            <a:off x="838200" y="365125"/>
            <a:ext cx="10515600" cy="732155"/>
          </a:xfrm>
          <a:solidFill>
            <a:srgbClr val="FF66FF"/>
          </a:solidFill>
        </p:spPr>
        <p:txBody>
          <a:bodyPr/>
          <a:lstStyle/>
          <a:p>
            <a:pPr algn="ctr"/>
            <a:r>
              <a:rPr lang="en-IN" b="1" dirty="0"/>
              <a:t>HYPOTHESIS TESTING OF MEANS</a:t>
            </a:r>
          </a:p>
        </p:txBody>
      </p:sp>
      <p:pic>
        <p:nvPicPr>
          <p:cNvPr id="4" name="Picture 3"/>
          <p:cNvPicPr>
            <a:picLocks noChangeAspect="1"/>
          </p:cNvPicPr>
          <p:nvPr/>
        </p:nvPicPr>
        <p:blipFill>
          <a:blip r:embed="rId2"/>
          <a:stretch>
            <a:fillRect/>
          </a:stretch>
        </p:blipFill>
        <p:spPr>
          <a:xfrm>
            <a:off x="1516950" y="3187858"/>
            <a:ext cx="2640521" cy="1434734"/>
          </a:xfrm>
          <a:prstGeom prst="rect">
            <a:avLst/>
          </a:prstGeom>
        </p:spPr>
      </p:pic>
    </p:spTree>
    <p:extLst>
      <p:ext uri="{BB962C8B-B14F-4D97-AF65-F5344CB8AC3E}">
        <p14:creationId xmlns:p14="http://schemas.microsoft.com/office/powerpoint/2010/main" val="36916379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96313"/>
            <a:ext cx="10515600" cy="4351338"/>
          </a:xfrm>
        </p:spPr>
        <p:txBody>
          <a:bodyPr/>
          <a:lstStyle/>
          <a:p>
            <a:r>
              <a:rPr lang="en-US" dirty="0"/>
              <a:t>Population normal, population infinite, sample size small and variance of the population unknown, Ha may be one-sided or two-sided</a:t>
            </a:r>
          </a:p>
          <a:p>
            <a:r>
              <a:rPr lang="en-US" dirty="0"/>
              <a:t>In such a situation </a:t>
            </a:r>
            <a:r>
              <a:rPr lang="en-US" i="1" dirty="0"/>
              <a:t>t</a:t>
            </a:r>
            <a:r>
              <a:rPr lang="en-US" dirty="0"/>
              <a:t>-test is used</a:t>
            </a:r>
          </a:p>
          <a:p>
            <a:endParaRPr lang="en-IN" dirty="0"/>
          </a:p>
        </p:txBody>
      </p:sp>
      <p:pic>
        <p:nvPicPr>
          <p:cNvPr id="4" name="Picture 3"/>
          <p:cNvPicPr>
            <a:picLocks noChangeAspect="1"/>
          </p:cNvPicPr>
          <p:nvPr/>
        </p:nvPicPr>
        <p:blipFill>
          <a:blip r:embed="rId2"/>
          <a:stretch>
            <a:fillRect/>
          </a:stretch>
        </p:blipFill>
        <p:spPr>
          <a:xfrm>
            <a:off x="2113978" y="3456812"/>
            <a:ext cx="2513696" cy="1237107"/>
          </a:xfrm>
          <a:prstGeom prst="rect">
            <a:avLst/>
          </a:prstGeom>
        </p:spPr>
      </p:pic>
      <p:pic>
        <p:nvPicPr>
          <p:cNvPr id="5" name="Picture 4"/>
          <p:cNvPicPr>
            <a:picLocks noChangeAspect="1"/>
          </p:cNvPicPr>
          <p:nvPr/>
        </p:nvPicPr>
        <p:blipFill>
          <a:blip r:embed="rId3"/>
          <a:stretch>
            <a:fillRect/>
          </a:stretch>
        </p:blipFill>
        <p:spPr>
          <a:xfrm>
            <a:off x="5599961" y="3456812"/>
            <a:ext cx="2739367" cy="1276916"/>
          </a:xfrm>
          <a:prstGeom prst="rect">
            <a:avLst/>
          </a:prstGeom>
        </p:spPr>
      </p:pic>
      <p:sp>
        <p:nvSpPr>
          <p:cNvPr id="6" name="Rectangle 5"/>
          <p:cNvSpPr/>
          <p:nvPr/>
        </p:nvSpPr>
        <p:spPr>
          <a:xfrm>
            <a:off x="1767950" y="5131548"/>
            <a:ext cx="6437266" cy="523220"/>
          </a:xfrm>
          <a:prstGeom prst="rect">
            <a:avLst/>
          </a:prstGeom>
        </p:spPr>
        <p:txBody>
          <a:bodyPr wrap="square">
            <a:spAutoFit/>
          </a:bodyPr>
          <a:lstStyle/>
          <a:p>
            <a:r>
              <a:rPr lang="el-GR" sz="2800" dirty="0"/>
              <a:t>σ</a:t>
            </a:r>
            <a:r>
              <a:rPr lang="en-IN" dirty="0"/>
              <a:t>s</a:t>
            </a:r>
            <a:r>
              <a:rPr lang="en-IN" sz="2800" dirty="0"/>
              <a:t> is the sample standard deviation</a:t>
            </a:r>
          </a:p>
        </p:txBody>
      </p:sp>
      <p:sp>
        <p:nvSpPr>
          <p:cNvPr id="7" name="Title 1"/>
          <p:cNvSpPr txBox="1">
            <a:spLocks/>
          </p:cNvSpPr>
          <p:nvPr/>
        </p:nvSpPr>
        <p:spPr>
          <a:xfrm>
            <a:off x="838200" y="365125"/>
            <a:ext cx="10515600" cy="73215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a:t>HYPOTHESIS TESTING OF MEANS</a:t>
            </a:r>
            <a:endParaRPr lang="en-IN" b="1" dirty="0"/>
          </a:p>
        </p:txBody>
      </p:sp>
    </p:spTree>
    <p:extLst>
      <p:ext uri="{BB962C8B-B14F-4D97-AF65-F5344CB8AC3E}">
        <p14:creationId xmlns:p14="http://schemas.microsoft.com/office/powerpoint/2010/main" val="1956309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5"/>
            <a:ext cx="10515600" cy="598043"/>
          </a:xfrm>
          <a:solidFill>
            <a:srgbClr val="FF66FF"/>
          </a:solidFill>
        </p:spPr>
        <p:txBody>
          <a:bodyPr>
            <a:normAutofit fontScale="90000"/>
          </a:bodyPr>
          <a:lstStyle/>
          <a:p>
            <a:pPr algn="ctr"/>
            <a:r>
              <a:rPr lang="en-IN" b="1" dirty="0"/>
              <a:t>HYPOTHESIS TESTING OF PROPORTIONS</a:t>
            </a:r>
          </a:p>
        </p:txBody>
      </p:sp>
      <p:sp>
        <p:nvSpPr>
          <p:cNvPr id="3" name="Content Placeholder 2"/>
          <p:cNvSpPr>
            <a:spLocks noGrp="1"/>
          </p:cNvSpPr>
          <p:nvPr>
            <p:ph idx="1"/>
          </p:nvPr>
        </p:nvSpPr>
        <p:spPr>
          <a:xfrm>
            <a:off x="838200" y="2740025"/>
            <a:ext cx="10515600" cy="1210183"/>
          </a:xfrm>
        </p:spPr>
        <p:txBody>
          <a:bodyPr>
            <a:normAutofit lnSpcReduction="10000"/>
          </a:bodyPr>
          <a:lstStyle/>
          <a:p>
            <a:pPr algn="just"/>
            <a:r>
              <a:rPr lang="en-US" dirty="0"/>
              <a:t>If </a:t>
            </a:r>
            <a:r>
              <a:rPr lang="en-US" i="1" dirty="0"/>
              <a:t>n </a:t>
            </a:r>
            <a:r>
              <a:rPr lang="en-US" dirty="0"/>
              <a:t>is large, the binomial distribution tends to become normal distribution, and as such for proportion testing purposes we make use of the test statistic </a:t>
            </a:r>
            <a:r>
              <a:rPr lang="en-US" i="1" dirty="0"/>
              <a:t>z </a:t>
            </a:r>
            <a:r>
              <a:rPr lang="en-US" dirty="0"/>
              <a:t> </a:t>
            </a:r>
            <a:endParaRPr lang="en-IN" dirty="0"/>
          </a:p>
        </p:txBody>
      </p:sp>
      <p:pic>
        <p:nvPicPr>
          <p:cNvPr id="4" name="Picture 3"/>
          <p:cNvPicPr>
            <a:picLocks noChangeAspect="1"/>
          </p:cNvPicPr>
          <p:nvPr/>
        </p:nvPicPr>
        <p:blipFill>
          <a:blip r:embed="rId2"/>
          <a:stretch>
            <a:fillRect/>
          </a:stretch>
        </p:blipFill>
        <p:spPr>
          <a:xfrm>
            <a:off x="1106424" y="1177162"/>
            <a:ext cx="6854952" cy="1415554"/>
          </a:xfrm>
          <a:prstGeom prst="rect">
            <a:avLst/>
          </a:prstGeom>
        </p:spPr>
      </p:pic>
      <p:pic>
        <p:nvPicPr>
          <p:cNvPr id="5" name="Picture 4"/>
          <p:cNvPicPr>
            <a:picLocks noChangeAspect="1"/>
          </p:cNvPicPr>
          <p:nvPr/>
        </p:nvPicPr>
        <p:blipFill>
          <a:blip r:embed="rId3"/>
          <a:stretch>
            <a:fillRect/>
          </a:stretch>
        </p:blipFill>
        <p:spPr>
          <a:xfrm>
            <a:off x="2271331" y="3950208"/>
            <a:ext cx="1724025" cy="1476375"/>
          </a:xfrm>
          <a:prstGeom prst="rect">
            <a:avLst/>
          </a:prstGeom>
        </p:spPr>
      </p:pic>
      <p:pic>
        <p:nvPicPr>
          <p:cNvPr id="6" name="Picture 5"/>
          <p:cNvPicPr>
            <a:picLocks noChangeAspect="1"/>
          </p:cNvPicPr>
          <p:nvPr/>
        </p:nvPicPr>
        <p:blipFill>
          <a:blip r:embed="rId4"/>
          <a:stretch>
            <a:fillRect/>
          </a:stretch>
        </p:blipFill>
        <p:spPr>
          <a:xfrm>
            <a:off x="1568576" y="5626615"/>
            <a:ext cx="3222880" cy="566660"/>
          </a:xfrm>
          <a:prstGeom prst="rect">
            <a:avLst/>
          </a:prstGeom>
        </p:spPr>
      </p:pic>
    </p:spTree>
    <p:extLst>
      <p:ext uri="{BB962C8B-B14F-4D97-AF65-F5344CB8AC3E}">
        <p14:creationId xmlns:p14="http://schemas.microsoft.com/office/powerpoint/2010/main" val="29710365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2856" y="96901"/>
            <a:ext cx="10515600" cy="805307"/>
          </a:xfrm>
          <a:solidFill>
            <a:srgbClr val="FF66FF"/>
          </a:solidFill>
        </p:spPr>
        <p:txBody>
          <a:bodyPr/>
          <a:lstStyle/>
          <a:p>
            <a:pPr algn="ctr"/>
            <a:r>
              <a:rPr lang="en-US" b="1" dirty="0"/>
              <a:t>HYPOTHESIS TESTING OF VARIANCE</a:t>
            </a:r>
            <a:endParaRPr lang="en-IN" b="1" dirty="0"/>
          </a:p>
        </p:txBody>
      </p:sp>
      <p:sp>
        <p:nvSpPr>
          <p:cNvPr id="3" name="Content Placeholder 2"/>
          <p:cNvSpPr>
            <a:spLocks noGrp="1"/>
          </p:cNvSpPr>
          <p:nvPr>
            <p:ph idx="1"/>
          </p:nvPr>
        </p:nvSpPr>
        <p:spPr>
          <a:xfrm>
            <a:off x="752856" y="4474463"/>
            <a:ext cx="10515600" cy="1584961"/>
          </a:xfrm>
        </p:spPr>
        <p:txBody>
          <a:bodyPr>
            <a:normAutofit fontScale="92500"/>
          </a:bodyPr>
          <a:lstStyle/>
          <a:p>
            <a:pPr algn="just"/>
            <a:r>
              <a:rPr lang="en-US" dirty="0"/>
              <a:t>The test we use for comparing a sample variance to some theoretical or hypothesized variance of population is different than </a:t>
            </a:r>
            <a:r>
              <a:rPr lang="en-US" i="1" dirty="0"/>
              <a:t>z</a:t>
            </a:r>
            <a:r>
              <a:rPr lang="en-US" dirty="0"/>
              <a:t>-test or the </a:t>
            </a:r>
            <a:r>
              <a:rPr lang="en-US" i="1" dirty="0"/>
              <a:t>t</a:t>
            </a:r>
            <a:r>
              <a:rPr lang="en-US" dirty="0"/>
              <a:t>-test. </a:t>
            </a:r>
          </a:p>
          <a:p>
            <a:pPr algn="just"/>
            <a:r>
              <a:rPr lang="en-US" dirty="0"/>
              <a:t>The test we use for this purpose is known as chi-square test</a:t>
            </a:r>
            <a:endParaRPr lang="en-IN" dirty="0"/>
          </a:p>
        </p:txBody>
      </p:sp>
      <p:pic>
        <p:nvPicPr>
          <p:cNvPr id="4" name="Picture 3"/>
          <p:cNvPicPr>
            <a:picLocks noChangeAspect="1"/>
          </p:cNvPicPr>
          <p:nvPr/>
        </p:nvPicPr>
        <p:blipFill>
          <a:blip r:embed="rId2"/>
          <a:stretch>
            <a:fillRect/>
          </a:stretch>
        </p:blipFill>
        <p:spPr>
          <a:xfrm>
            <a:off x="1221867" y="1191768"/>
            <a:ext cx="2543874" cy="1258824"/>
          </a:xfrm>
          <a:prstGeom prst="rect">
            <a:avLst/>
          </a:prstGeom>
        </p:spPr>
      </p:pic>
      <p:pic>
        <p:nvPicPr>
          <p:cNvPr id="5" name="Picture 4"/>
          <p:cNvPicPr>
            <a:picLocks noChangeAspect="1"/>
          </p:cNvPicPr>
          <p:nvPr/>
        </p:nvPicPr>
        <p:blipFill>
          <a:blip r:embed="rId3"/>
          <a:stretch>
            <a:fillRect/>
          </a:stretch>
        </p:blipFill>
        <p:spPr>
          <a:xfrm>
            <a:off x="1324165" y="2471928"/>
            <a:ext cx="8088059" cy="1567127"/>
          </a:xfrm>
          <a:prstGeom prst="rect">
            <a:avLst/>
          </a:prstGeom>
        </p:spPr>
      </p:pic>
    </p:spTree>
    <p:extLst>
      <p:ext uri="{BB962C8B-B14F-4D97-AF65-F5344CB8AC3E}">
        <p14:creationId xmlns:p14="http://schemas.microsoft.com/office/powerpoint/2010/main" val="12055559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5669"/>
            <a:ext cx="10515600" cy="854075"/>
          </a:xfrm>
          <a:solidFill>
            <a:srgbClr val="FF66FF"/>
          </a:solidFill>
        </p:spPr>
        <p:txBody>
          <a:bodyPr/>
          <a:lstStyle/>
          <a:p>
            <a:pPr algn="ctr"/>
            <a:r>
              <a:rPr lang="en-IN" b="1" dirty="0"/>
              <a:t>Chi-square test</a:t>
            </a:r>
          </a:p>
        </p:txBody>
      </p:sp>
      <p:sp>
        <p:nvSpPr>
          <p:cNvPr id="3" name="Content Placeholder 2"/>
          <p:cNvSpPr>
            <a:spLocks noGrp="1"/>
          </p:cNvSpPr>
          <p:nvPr>
            <p:ph idx="1"/>
          </p:nvPr>
        </p:nvSpPr>
        <p:spPr>
          <a:xfrm>
            <a:off x="240792" y="1252600"/>
            <a:ext cx="7427976" cy="5452999"/>
          </a:xfrm>
        </p:spPr>
        <p:txBody>
          <a:bodyPr>
            <a:normAutofit/>
          </a:bodyPr>
          <a:lstStyle/>
          <a:p>
            <a:pPr algn="just"/>
            <a:r>
              <a:rPr lang="en-IN" dirty="0"/>
              <a:t>Chi-square test is a statistical </a:t>
            </a:r>
            <a:r>
              <a:rPr lang="en-US" dirty="0"/>
              <a:t>measure used in the context of sampling analysis for comparing a variance to a theoretical variance.</a:t>
            </a:r>
          </a:p>
          <a:p>
            <a:pPr algn="just"/>
            <a:r>
              <a:rPr lang="en-US" dirty="0"/>
              <a:t>Applications - (</a:t>
            </a:r>
            <a:r>
              <a:rPr lang="en-US" dirty="0" err="1"/>
              <a:t>i</a:t>
            </a:r>
            <a:r>
              <a:rPr lang="en-US" dirty="0"/>
              <a:t>) test the goodness of fit; (ii) test the significance of association between two attributes, and (iii) test the homogeneity or the significance of population variance.</a:t>
            </a:r>
          </a:p>
          <a:p>
            <a:pPr algn="just"/>
            <a:r>
              <a:rPr lang="en-US" dirty="0"/>
              <a:t>The </a:t>
            </a:r>
            <a:r>
              <a:rPr lang="en-IN" dirty="0"/>
              <a:t>Chi-square </a:t>
            </a:r>
            <a:r>
              <a:rPr lang="en-US" dirty="0"/>
              <a:t>distribution is not symmetrical and all the values are positive. One should know the degrees of freedom. </a:t>
            </a:r>
          </a:p>
          <a:p>
            <a:pPr algn="just"/>
            <a:r>
              <a:rPr lang="en-US" dirty="0"/>
              <a:t>The smaller the number of degrees of freedom, the more skewed is the </a:t>
            </a:r>
            <a:r>
              <a:rPr lang="en-IN" dirty="0"/>
              <a:t>distribution</a:t>
            </a:r>
          </a:p>
        </p:txBody>
      </p:sp>
      <p:pic>
        <p:nvPicPr>
          <p:cNvPr id="4" name="Picture 3"/>
          <p:cNvPicPr>
            <a:picLocks noChangeAspect="1"/>
          </p:cNvPicPr>
          <p:nvPr/>
        </p:nvPicPr>
        <p:blipFill>
          <a:blip r:embed="rId2"/>
          <a:stretch>
            <a:fillRect/>
          </a:stretch>
        </p:blipFill>
        <p:spPr>
          <a:xfrm>
            <a:off x="8095489" y="1902333"/>
            <a:ext cx="3547872" cy="3018457"/>
          </a:xfrm>
          <a:prstGeom prst="rect">
            <a:avLst/>
          </a:prstGeom>
        </p:spPr>
      </p:pic>
    </p:spTree>
    <p:extLst>
      <p:ext uri="{BB962C8B-B14F-4D97-AF65-F5344CB8AC3E}">
        <p14:creationId xmlns:p14="http://schemas.microsoft.com/office/powerpoint/2010/main" val="29880405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248" y="1276985"/>
            <a:ext cx="11195304" cy="880999"/>
          </a:xfrm>
        </p:spPr>
        <p:txBody>
          <a:bodyPr/>
          <a:lstStyle/>
          <a:p>
            <a:r>
              <a:rPr lang="en-US" dirty="0"/>
              <a:t>The following conditions should be satisfied before chi-square test can be applied:</a:t>
            </a:r>
            <a:endParaRPr lang="en-IN" dirty="0"/>
          </a:p>
        </p:txBody>
      </p:sp>
      <p:sp>
        <p:nvSpPr>
          <p:cNvPr id="4" name="Title 1"/>
          <p:cNvSpPr txBox="1">
            <a:spLocks/>
          </p:cNvSpPr>
          <p:nvPr/>
        </p:nvSpPr>
        <p:spPr>
          <a:xfrm>
            <a:off x="800100" y="170053"/>
            <a:ext cx="10515600" cy="85407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Chi-square test</a:t>
            </a:r>
          </a:p>
        </p:txBody>
      </p:sp>
      <p:pic>
        <p:nvPicPr>
          <p:cNvPr id="6" name="Picture 5"/>
          <p:cNvPicPr>
            <a:picLocks noChangeAspect="1"/>
          </p:cNvPicPr>
          <p:nvPr/>
        </p:nvPicPr>
        <p:blipFill>
          <a:blip r:embed="rId2"/>
          <a:stretch>
            <a:fillRect/>
          </a:stretch>
        </p:blipFill>
        <p:spPr>
          <a:xfrm>
            <a:off x="668464" y="2157984"/>
            <a:ext cx="10719949" cy="4096512"/>
          </a:xfrm>
          <a:prstGeom prst="rect">
            <a:avLst/>
          </a:prstGeom>
        </p:spPr>
      </p:pic>
    </p:spTree>
    <p:extLst>
      <p:ext uri="{BB962C8B-B14F-4D97-AF65-F5344CB8AC3E}">
        <p14:creationId xmlns:p14="http://schemas.microsoft.com/office/powerpoint/2010/main" val="12559982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09828" y="1231392"/>
            <a:ext cx="10026396" cy="5480266"/>
          </a:xfrm>
          <a:prstGeom prst="rect">
            <a:avLst/>
          </a:prstGeom>
        </p:spPr>
      </p:pic>
      <p:sp>
        <p:nvSpPr>
          <p:cNvPr id="5" name="Title 1"/>
          <p:cNvSpPr txBox="1">
            <a:spLocks/>
          </p:cNvSpPr>
          <p:nvPr/>
        </p:nvSpPr>
        <p:spPr>
          <a:xfrm>
            <a:off x="800100" y="170053"/>
            <a:ext cx="10515600" cy="85407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Steps in Chi-square test</a:t>
            </a:r>
          </a:p>
        </p:txBody>
      </p:sp>
    </p:spTree>
    <p:extLst>
      <p:ext uri="{BB962C8B-B14F-4D97-AF65-F5344CB8AC3E}">
        <p14:creationId xmlns:p14="http://schemas.microsoft.com/office/powerpoint/2010/main" val="42876884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800100" y="170053"/>
            <a:ext cx="10515600" cy="854075"/>
          </a:xfrm>
          <a:prstGeom prst="rect">
            <a:avLst/>
          </a:prstGeom>
          <a:solidFill>
            <a:srgbClr val="FF66F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Chi-square test – Important characteristics</a:t>
            </a:r>
          </a:p>
        </p:txBody>
      </p:sp>
      <p:pic>
        <p:nvPicPr>
          <p:cNvPr id="5" name="Picture 4"/>
          <p:cNvPicPr>
            <a:picLocks noChangeAspect="1"/>
          </p:cNvPicPr>
          <p:nvPr/>
        </p:nvPicPr>
        <p:blipFill>
          <a:blip r:embed="rId2"/>
          <a:stretch>
            <a:fillRect/>
          </a:stretch>
        </p:blipFill>
        <p:spPr>
          <a:xfrm>
            <a:off x="599694" y="1530667"/>
            <a:ext cx="10916412" cy="4138613"/>
          </a:xfrm>
          <a:prstGeom prst="rect">
            <a:avLst/>
          </a:prstGeom>
        </p:spPr>
      </p:pic>
    </p:spTree>
    <p:extLst>
      <p:ext uri="{BB962C8B-B14F-4D97-AF65-F5344CB8AC3E}">
        <p14:creationId xmlns:p14="http://schemas.microsoft.com/office/powerpoint/2010/main" val="413790853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966" y="134113"/>
            <a:ext cx="11974068" cy="804671"/>
          </a:xfrm>
          <a:solidFill>
            <a:srgbClr val="FF66FF"/>
          </a:solidFill>
        </p:spPr>
        <p:txBody>
          <a:bodyPr>
            <a:normAutofit fontScale="90000"/>
          </a:bodyPr>
          <a:lstStyle/>
          <a:p>
            <a:pPr algn="ctr"/>
            <a:r>
              <a:rPr lang="en-IN" b="1" dirty="0"/>
              <a:t>Analysis of Variance (ANOVA) and Co-variance (ANOCOVA)</a:t>
            </a:r>
          </a:p>
        </p:txBody>
      </p:sp>
      <p:sp>
        <p:nvSpPr>
          <p:cNvPr id="3" name="Content Placeholder 2"/>
          <p:cNvSpPr>
            <a:spLocks noGrp="1"/>
          </p:cNvSpPr>
          <p:nvPr>
            <p:ph idx="1"/>
          </p:nvPr>
        </p:nvSpPr>
        <p:spPr>
          <a:xfrm>
            <a:off x="217932" y="1203833"/>
            <a:ext cx="11756136" cy="4351338"/>
          </a:xfrm>
        </p:spPr>
        <p:txBody>
          <a:bodyPr>
            <a:noAutofit/>
          </a:bodyPr>
          <a:lstStyle/>
          <a:p>
            <a:pPr algn="just"/>
            <a:r>
              <a:rPr lang="en-US" sz="3200" b="1" dirty="0">
                <a:solidFill>
                  <a:srgbClr val="FF0000"/>
                </a:solidFill>
              </a:rPr>
              <a:t>ANOVA</a:t>
            </a:r>
            <a:r>
              <a:rPr lang="en-US" sz="2400" b="1" dirty="0"/>
              <a:t> </a:t>
            </a:r>
            <a:r>
              <a:rPr lang="en-US" sz="2200" dirty="0"/>
              <a:t>- a procedure for testing the difference among different groups of data for homogeneity. </a:t>
            </a:r>
          </a:p>
          <a:p>
            <a:pPr algn="just"/>
            <a:r>
              <a:rPr lang="en-US" sz="2200" dirty="0"/>
              <a:t>“The essence of ANOVA is that the total amount of variation in a set of data is broken down into two types, that amount which can be attributed to chance and that amount which can be attributed to specified causes.”</a:t>
            </a:r>
          </a:p>
          <a:p>
            <a:pPr algn="just"/>
            <a:r>
              <a:rPr lang="en-US" sz="2200" dirty="0"/>
              <a:t>There may be variation between samples and also within sample items. ANOVA consists in splitting the variance for analytical purposes. </a:t>
            </a:r>
          </a:p>
          <a:p>
            <a:pPr algn="just"/>
            <a:r>
              <a:rPr lang="en-US" sz="2200" dirty="0"/>
              <a:t>A method of analyzing the variance to which a response is subject into its various components corresponding to various sources of variation. </a:t>
            </a:r>
          </a:p>
          <a:p>
            <a:pPr algn="just"/>
            <a:r>
              <a:rPr lang="en-US" sz="2200" dirty="0"/>
              <a:t>Through this technique one can explain whether various varieties of seeds or fertilizers or soils differ significantly in the context of agriculture researches. </a:t>
            </a:r>
          </a:p>
          <a:p>
            <a:pPr algn="just"/>
            <a:r>
              <a:rPr lang="en-US" sz="2200" dirty="0"/>
              <a:t>The differences in various types of feed prepared for a particular class of animal or various types of drugs manufactured for curing a specific disease may be studied and judged to be significant or not through the application of ANOVA technique. </a:t>
            </a:r>
          </a:p>
          <a:p>
            <a:pPr algn="just"/>
            <a:r>
              <a:rPr lang="en-US" sz="2200" dirty="0"/>
              <a:t>A manager of a big concern can analyze the performance of various salesmen of his concern in order to know whether their performances differ significantly.</a:t>
            </a:r>
            <a:endParaRPr lang="en-IN" sz="2200" dirty="0"/>
          </a:p>
        </p:txBody>
      </p:sp>
    </p:spTree>
    <p:extLst>
      <p:ext uri="{BB962C8B-B14F-4D97-AF65-F5344CB8AC3E}">
        <p14:creationId xmlns:p14="http://schemas.microsoft.com/office/powerpoint/2010/main" val="15055781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03833"/>
            <a:ext cx="11414760" cy="4351338"/>
          </a:xfrm>
        </p:spPr>
        <p:txBody>
          <a:bodyPr>
            <a:noAutofit/>
          </a:bodyPr>
          <a:lstStyle/>
          <a:p>
            <a:pPr algn="just"/>
            <a:r>
              <a:rPr lang="en-US" sz="3200" b="1" dirty="0">
                <a:solidFill>
                  <a:srgbClr val="FF0000"/>
                </a:solidFill>
              </a:rPr>
              <a:t>ANOVA</a:t>
            </a:r>
            <a:r>
              <a:rPr lang="en-US" sz="2400" dirty="0"/>
              <a:t>  - to investigate any number of factors which are hypothesized or said to influence the dependent variable. </a:t>
            </a:r>
          </a:p>
          <a:p>
            <a:pPr algn="just"/>
            <a:r>
              <a:rPr lang="en-US" sz="2400" dirty="0"/>
              <a:t>To investigate the differences amongst various categories within each of these factors which may have a large number of possible values. </a:t>
            </a:r>
          </a:p>
          <a:p>
            <a:pPr algn="just"/>
            <a:r>
              <a:rPr lang="en-US" sz="2400" dirty="0"/>
              <a:t>The basic principle of ANOVA is to test for differences among the means of the populations by examining the amount of variation within each of these samples, relative to the amount of variation between the samples. </a:t>
            </a:r>
          </a:p>
          <a:p>
            <a:pPr algn="just"/>
            <a:r>
              <a:rPr lang="en-US" sz="2400" dirty="0"/>
              <a:t>If we take only one factor and investigate the differences amongst its various categories having numerous possible values, we are said to use one-way ANOVA </a:t>
            </a:r>
          </a:p>
          <a:p>
            <a:pPr algn="just"/>
            <a:r>
              <a:rPr lang="en-US" sz="2400" dirty="0"/>
              <a:t>If we investigate two factors at the same time, then we use two-way ANOVA. </a:t>
            </a:r>
          </a:p>
          <a:p>
            <a:pPr algn="just"/>
            <a:r>
              <a:rPr lang="en-US" sz="2400" dirty="0"/>
              <a:t>In a two or more way ANOVA, the interaction (i.e., inter-relation between two independent variables/factors), if any, between two independent variables affecting a dependent variable can as well be studied for better decisions</a:t>
            </a:r>
            <a:endParaRPr lang="en-IN" sz="2400" dirty="0"/>
          </a:p>
        </p:txBody>
      </p:sp>
      <p:sp>
        <p:nvSpPr>
          <p:cNvPr id="4" name="Title 1"/>
          <p:cNvSpPr>
            <a:spLocks noGrp="1"/>
          </p:cNvSpPr>
          <p:nvPr>
            <p:ph type="title"/>
          </p:nvPr>
        </p:nvSpPr>
        <p:spPr>
          <a:xfrm>
            <a:off x="108966" y="243841"/>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p14="http://schemas.microsoft.com/office/powerpoint/2010/main" val="23916308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IN" sz="3600" dirty="0"/>
              <a:t>Assumptions of ANOVA</a:t>
            </a:r>
            <a:endParaRPr lang="en-US" sz="3600" dirty="0"/>
          </a:p>
          <a:p>
            <a:pPr lvl="1"/>
            <a:r>
              <a:rPr lang="en-US" sz="3200" dirty="0"/>
              <a:t>Each group sample is drawn from a normally distributed population</a:t>
            </a:r>
          </a:p>
          <a:p>
            <a:pPr lvl="1"/>
            <a:r>
              <a:rPr lang="en-US" sz="3200" dirty="0"/>
              <a:t>All populations have a common variance</a:t>
            </a:r>
          </a:p>
          <a:p>
            <a:pPr lvl="1"/>
            <a:r>
              <a:rPr lang="en-US" sz="3200" dirty="0"/>
              <a:t>All samples are drawn independently of each other</a:t>
            </a:r>
          </a:p>
          <a:p>
            <a:pPr lvl="1"/>
            <a:r>
              <a:rPr lang="en-US" sz="3200" dirty="0"/>
              <a:t>Within each sample, the observations are sampled randomly and independently of each other</a:t>
            </a:r>
          </a:p>
          <a:p>
            <a:pPr lvl="1"/>
            <a:r>
              <a:rPr lang="en-US" sz="3200" dirty="0"/>
              <a:t>Factor effects are additive</a:t>
            </a:r>
          </a:p>
          <a:p>
            <a:endParaRPr lang="en-US" sz="3600" dirty="0"/>
          </a:p>
        </p:txBody>
      </p:sp>
      <p:sp>
        <p:nvSpPr>
          <p:cNvPr id="4" name="Title 1"/>
          <p:cNvSpPr>
            <a:spLocks noGrp="1"/>
          </p:cNvSpPr>
          <p:nvPr>
            <p:ph type="title"/>
          </p:nvPr>
        </p:nvSpPr>
        <p:spPr>
          <a:xfrm>
            <a:off x="108966" y="524257"/>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p14="http://schemas.microsoft.com/office/powerpoint/2010/main" val="34337866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9288" y="1267968"/>
            <a:ext cx="11512296" cy="4457891"/>
          </a:xfrm>
        </p:spPr>
        <p:txBody>
          <a:bodyPr>
            <a:normAutofit/>
          </a:bodyPr>
          <a:lstStyle/>
          <a:p>
            <a:pPr algn="just"/>
            <a:r>
              <a:rPr lang="en-IN" b="1" dirty="0">
                <a:solidFill>
                  <a:srgbClr val="FF0000"/>
                </a:solidFill>
              </a:rPr>
              <a:t>ANALYSIS OF CO-VARIANCE (ANOCOVA)</a:t>
            </a:r>
          </a:p>
          <a:p>
            <a:pPr algn="just"/>
            <a:r>
              <a:rPr lang="en-US" dirty="0"/>
              <a:t>The object of experimental design is to ensure that the results observed may be attributed to the treatment variable and to no other causal circumstances. </a:t>
            </a:r>
          </a:p>
          <a:p>
            <a:pPr algn="just"/>
            <a:r>
              <a:rPr lang="en-US" dirty="0"/>
              <a:t>Consider an independent variable X and dependent variable Y. </a:t>
            </a:r>
          </a:p>
          <a:p>
            <a:pPr algn="just"/>
            <a:r>
              <a:rPr lang="en-US" dirty="0"/>
              <a:t>Z is an uncontrolled variable and is correlated with Y</a:t>
            </a:r>
          </a:p>
          <a:p>
            <a:pPr algn="just"/>
            <a:r>
              <a:rPr lang="en-US" dirty="0"/>
              <a:t>The researcher may wish to control the influence of </a:t>
            </a:r>
            <a:r>
              <a:rPr lang="en-US" i="1" dirty="0"/>
              <a:t>Z, </a:t>
            </a:r>
            <a:r>
              <a:rPr lang="en-US" dirty="0"/>
              <a:t>then he should use the technique of analysis of covariance for a valid evaluation of the outcome of the experiment.</a:t>
            </a:r>
            <a:endParaRPr lang="en-IN" dirty="0"/>
          </a:p>
        </p:txBody>
      </p:sp>
      <p:sp>
        <p:nvSpPr>
          <p:cNvPr id="4" name="Title 1"/>
          <p:cNvSpPr>
            <a:spLocks noGrp="1"/>
          </p:cNvSpPr>
          <p:nvPr>
            <p:ph type="title"/>
          </p:nvPr>
        </p:nvSpPr>
        <p:spPr>
          <a:xfrm>
            <a:off x="108966" y="243841"/>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p14="http://schemas.microsoft.com/office/powerpoint/2010/main" val="17362293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1896" y="1642744"/>
            <a:ext cx="10515600" cy="4684903"/>
          </a:xfrm>
        </p:spPr>
        <p:txBody>
          <a:bodyPr>
            <a:normAutofit/>
          </a:bodyPr>
          <a:lstStyle/>
          <a:p>
            <a:pPr algn="just"/>
            <a:r>
              <a:rPr lang="en-IN" b="1" dirty="0">
                <a:solidFill>
                  <a:srgbClr val="FF0000"/>
                </a:solidFill>
              </a:rPr>
              <a:t>ANALYSIS OF CO-VARIANCE (ANOCOVA)</a:t>
            </a:r>
          </a:p>
          <a:p>
            <a:pPr algn="just"/>
            <a:r>
              <a:rPr lang="en-US" dirty="0"/>
              <a:t>While applying the ANOCOVA technique, the influence of uncontrolled variable is usually removed by simple linear regression method </a:t>
            </a:r>
          </a:p>
          <a:p>
            <a:pPr algn="just"/>
            <a:r>
              <a:rPr lang="en-US" dirty="0"/>
              <a:t>The residual sums of squares are used to provide variance estimates which in turn are used to make tests of significance. </a:t>
            </a:r>
          </a:p>
          <a:p>
            <a:pPr algn="just"/>
            <a:r>
              <a:rPr lang="en-US" dirty="0"/>
              <a:t>In other words, covariance analysis consists in subtracting from each individual score (</a:t>
            </a:r>
            <a:r>
              <a:rPr lang="en-US" i="1" dirty="0"/>
              <a:t>Yi</a:t>
            </a:r>
            <a:r>
              <a:rPr lang="en-US" dirty="0"/>
              <a:t>) that portion of it </a:t>
            </a:r>
            <a:r>
              <a:rPr lang="en-US" i="1" dirty="0"/>
              <a:t>Yi´ </a:t>
            </a:r>
            <a:r>
              <a:rPr lang="en-US" dirty="0"/>
              <a:t>that is predictable from uncontrolled variable (</a:t>
            </a:r>
            <a:r>
              <a:rPr lang="en-US" i="1" dirty="0" err="1"/>
              <a:t>Zi</a:t>
            </a:r>
            <a:r>
              <a:rPr lang="en-US" dirty="0"/>
              <a:t>) and then computing the usual analysis of variance on the resulting </a:t>
            </a:r>
            <a:r>
              <a:rPr lang="en-IN" dirty="0"/>
              <a:t>(</a:t>
            </a:r>
            <a:r>
              <a:rPr lang="en-IN" i="1" dirty="0"/>
              <a:t>Y </a:t>
            </a:r>
            <a:r>
              <a:rPr lang="en-IN" dirty="0"/>
              <a:t>– </a:t>
            </a:r>
            <a:r>
              <a:rPr lang="en-IN" i="1" dirty="0"/>
              <a:t>Y´</a:t>
            </a:r>
            <a:r>
              <a:rPr lang="en-IN" dirty="0"/>
              <a:t>)’s,</a:t>
            </a:r>
          </a:p>
        </p:txBody>
      </p:sp>
      <p:sp>
        <p:nvSpPr>
          <p:cNvPr id="4" name="Title 1"/>
          <p:cNvSpPr>
            <a:spLocks noGrp="1"/>
          </p:cNvSpPr>
          <p:nvPr>
            <p:ph type="title"/>
          </p:nvPr>
        </p:nvSpPr>
        <p:spPr>
          <a:xfrm>
            <a:off x="108966" y="438913"/>
            <a:ext cx="11974068" cy="804671"/>
          </a:xfrm>
          <a:solidFill>
            <a:srgbClr val="FF66FF"/>
          </a:solidFill>
        </p:spPr>
        <p:txBody>
          <a:bodyPr>
            <a:normAutofit fontScale="90000"/>
          </a:bodyPr>
          <a:lstStyle/>
          <a:p>
            <a:pPr algn="ctr"/>
            <a:r>
              <a:rPr lang="en-IN" b="1" dirty="0"/>
              <a:t>Analysis of Variance (ANOVA) and Co-variance (ANOCOVA)</a:t>
            </a:r>
          </a:p>
        </p:txBody>
      </p:sp>
    </p:spTree>
    <p:extLst>
      <p:ext uri="{BB962C8B-B14F-4D97-AF65-F5344CB8AC3E}">
        <p14:creationId xmlns:p14="http://schemas.microsoft.com/office/powerpoint/2010/main" val="32331998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83336" y="4748149"/>
            <a:ext cx="10515600" cy="1325563"/>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1800" b="1" dirty="0"/>
              <a:t>.</a:t>
            </a:r>
            <a:r>
              <a:rPr lang="en-IN" sz="1800" b="1" dirty="0">
                <a:solidFill>
                  <a:srgbClr val="FF0000"/>
                </a:solidFill>
              </a:rPr>
              <a:t> Note: Unit 3, part 2 consists of problems. Notes of the same in the pdf format will be provided</a:t>
            </a:r>
          </a:p>
        </p:txBody>
      </p:sp>
      <p:sp>
        <p:nvSpPr>
          <p:cNvPr id="2" name="Title 1"/>
          <p:cNvSpPr>
            <a:spLocks noGrp="1"/>
          </p:cNvSpPr>
          <p:nvPr>
            <p:ph type="title"/>
          </p:nvPr>
        </p:nvSpPr>
        <p:spPr>
          <a:xfrm>
            <a:off x="899160" y="1791589"/>
            <a:ext cx="10515600" cy="1325563"/>
          </a:xfrm>
          <a:solidFill>
            <a:schemeClr val="accent4">
              <a:lumMod val="60000"/>
              <a:lumOff val="40000"/>
            </a:schemeClr>
          </a:solidFill>
          <a:ln>
            <a:solidFill>
              <a:schemeClr val="accent2">
                <a:lumMod val="75000"/>
              </a:schemeClr>
            </a:solidFill>
          </a:ln>
        </p:spPr>
        <p:txBody>
          <a:bodyPr>
            <a:normAutofit/>
          </a:bodyPr>
          <a:lstStyle/>
          <a:p>
            <a:pPr algn="ctr"/>
            <a:r>
              <a:rPr lang="en-IN" sz="6000" b="1" dirty="0">
                <a:solidFill>
                  <a:srgbClr val="7030A0"/>
                </a:solidFill>
              </a:rPr>
              <a:t>Thank you</a:t>
            </a:r>
          </a:p>
        </p:txBody>
      </p:sp>
    </p:spTree>
    <p:extLst>
      <p:ext uri="{BB962C8B-B14F-4D97-AF65-F5344CB8AC3E}">
        <p14:creationId xmlns:p14="http://schemas.microsoft.com/office/powerpoint/2010/main" val="1423913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TM02900722[[fn=Ion Boardroom]]</Template>
  <TotalTime>1019</TotalTime>
  <Words>6410</Words>
  <Application>Microsoft Office PowerPoint</Application>
  <PresentationFormat>Widescreen</PresentationFormat>
  <Paragraphs>459</Paragraphs>
  <Slides>82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82</vt:i4>
      </vt:variant>
    </vt:vector>
  </HeadingPairs>
  <TitlesOfParts>
    <vt:vector size="86" baseType="lpstr">
      <vt:lpstr>Arial</vt:lpstr>
      <vt:lpstr>Calibri</vt:lpstr>
      <vt:lpstr>Calibri Light</vt:lpstr>
      <vt:lpstr>Office Theme</vt:lpstr>
      <vt:lpstr>Methods of Data Collection Sampling Design Data Analysis</vt:lpstr>
      <vt:lpstr>Methods of Data Collection</vt:lpstr>
      <vt:lpstr>Data Collection</vt:lpstr>
      <vt:lpstr>Collecting Primary Data</vt:lpstr>
      <vt:lpstr>Methods of collecting primary data</vt:lpstr>
      <vt:lpstr>(i) Observation</vt:lpstr>
      <vt:lpstr>(i) Observation - Example</vt:lpstr>
      <vt:lpstr>PowerPoint Presentation</vt:lpstr>
      <vt:lpstr>(ii) interview method</vt:lpstr>
      <vt:lpstr>(ii) interview method</vt:lpstr>
      <vt:lpstr>Advantages of interview method</vt:lpstr>
      <vt:lpstr>Limitations of interview method</vt:lpstr>
      <vt:lpstr>(iii) questionnaires</vt:lpstr>
      <vt:lpstr>Advantages of questionnaires</vt:lpstr>
      <vt:lpstr>Limitations of questionnaires</vt:lpstr>
      <vt:lpstr>(iv) schedules</vt:lpstr>
      <vt:lpstr>(iv) schedules</vt:lpstr>
      <vt:lpstr>Collecting Secondary Data</vt:lpstr>
      <vt:lpstr>Collecting Secondary Data</vt:lpstr>
      <vt:lpstr>Sampling Design</vt:lpstr>
      <vt:lpstr>Sampling Fundamentals</vt:lpstr>
      <vt:lpstr>NEED FOR SAMPLING</vt:lpstr>
      <vt:lpstr>Important Definitions </vt:lpstr>
      <vt:lpstr>Important Definitions </vt:lpstr>
      <vt:lpstr>Important Definitions </vt:lpstr>
      <vt:lpstr>Important Definitions </vt:lpstr>
      <vt:lpstr>Important Definitions </vt:lpstr>
      <vt:lpstr>STEPS IN SAMPLE DESIGN</vt:lpstr>
      <vt:lpstr>CRITERIA FOR SELECTING A SAMPLING PROCEDURE</vt:lpstr>
      <vt:lpstr>Sampling errors</vt:lpstr>
      <vt:lpstr>IMPORTANT SAMPLING DISTRIBUTIONS</vt:lpstr>
      <vt:lpstr>(1) sampling distribution of mean</vt:lpstr>
      <vt:lpstr>(2) sampling distribution of proportion</vt:lpstr>
      <vt:lpstr>(3) student’s ‘t’ distribution</vt:lpstr>
      <vt:lpstr>(4) F distribution</vt:lpstr>
      <vt:lpstr>(5) Chi-square distribution</vt:lpstr>
      <vt:lpstr>CENTRAL LIMIT THEOREM</vt:lpstr>
      <vt:lpstr>STANDARD ERROR</vt:lpstr>
      <vt:lpstr>CHARACTERISTICS OF A GOOD SAMPLE DESIGN</vt:lpstr>
      <vt:lpstr>Types of Sample Design</vt:lpstr>
      <vt:lpstr>Non-probability sampling</vt:lpstr>
      <vt:lpstr>PowerPoint Presentation</vt:lpstr>
      <vt:lpstr>Probability sampling</vt:lpstr>
      <vt:lpstr>PowerPoint Presentation</vt:lpstr>
      <vt:lpstr>Measurement and Scaling Techniques</vt:lpstr>
      <vt:lpstr>MEASUREMENT IN RESEARCH</vt:lpstr>
      <vt:lpstr>Levels of statistical measurement</vt:lpstr>
      <vt:lpstr>Nominal Scale</vt:lpstr>
      <vt:lpstr>Ordinal Scale</vt:lpstr>
      <vt:lpstr>Interval Scale</vt:lpstr>
      <vt:lpstr>Ratio Scale</vt:lpstr>
      <vt:lpstr>PowerPoint Presentation</vt:lpstr>
      <vt:lpstr>Sources of Error in Measurement</vt:lpstr>
      <vt:lpstr>Meaning of Scaling</vt:lpstr>
      <vt:lpstr>Scaling Technique - Rating scale </vt:lpstr>
      <vt:lpstr>Data Analysis</vt:lpstr>
      <vt:lpstr>Testing of Hypotheses</vt:lpstr>
      <vt:lpstr>Null hypothesis and alternative hypothesis</vt:lpstr>
      <vt:lpstr>PowerPoint Presentation</vt:lpstr>
      <vt:lpstr>level of significance</vt:lpstr>
      <vt:lpstr>Type I and Type II Errors</vt:lpstr>
      <vt:lpstr>Two-tailed and One-tailed tests</vt:lpstr>
      <vt:lpstr>PowerPoint Presentation</vt:lpstr>
      <vt:lpstr>PowerPoint Presentation</vt:lpstr>
      <vt:lpstr>Procedure For Hypothesis Testing</vt:lpstr>
      <vt:lpstr>PowerPoint Presentation</vt:lpstr>
      <vt:lpstr>PowerPoint Presentation</vt:lpstr>
      <vt:lpstr>PowerPoint Presentation</vt:lpstr>
      <vt:lpstr>HYPOTHESIS TESTING OF MEANS</vt:lpstr>
      <vt:lpstr>PowerPoint Presentation</vt:lpstr>
      <vt:lpstr>HYPOTHESIS TESTING OF PROPORTIONS</vt:lpstr>
      <vt:lpstr>HYPOTHESIS TESTING OF VARIANCE</vt:lpstr>
      <vt:lpstr>Chi-square test</vt:lpstr>
      <vt:lpstr>PowerPoint Presentation</vt:lpstr>
      <vt:lpstr>PowerPoint Presentation</vt:lpstr>
      <vt:lpstr>PowerPoint Presentation</vt:lpstr>
      <vt:lpstr>Analysis of Variance (ANOVA) and Co-variance (ANOCOVA)</vt:lpstr>
      <vt:lpstr>Analysis of Variance (ANOVA) and Co-variance (ANOCOVA)</vt:lpstr>
      <vt:lpstr>Analysis of Variance (ANOVA) and Co-variance (ANOCOVA)</vt:lpstr>
      <vt:lpstr>Analysis of Variance (ANOVA) and Co-variance (ANOCOVA)</vt:lpstr>
      <vt:lpstr>Analysis of Variance (ANOVA) and Co-variance (ANOCOVA)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Methods of Data Collection</dc:title>
  <dc:creator>ADMIN</dc:creator>
  <cp:lastModifiedBy>Sandeep Bhayyar</cp:lastModifiedBy>
  <cp:revision>392</cp:revision>
  <dcterms:created xsi:type="dcterms:W3CDTF">2023-10-13T10:16:19Z</dcterms:created>
  <dcterms:modified xsi:type="dcterms:W3CDTF">2024-11-07T07:24:28Z</dcterms:modified>
</cp:coreProperties>
</file>