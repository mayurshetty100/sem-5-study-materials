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256" r:id="rId2"/>
    <p:sldId id="257" r:id="rId3"/>
    <p:sldId id="289" r:id="rId4"/>
    <p:sldId id="290" r:id="rId5"/>
    <p:sldId id="291" r:id="rId6"/>
    <p:sldId id="292" r:id="rId7"/>
    <p:sldId id="325" r:id="rId8"/>
    <p:sldId id="293" r:id="rId9"/>
    <p:sldId id="335" r:id="rId10"/>
    <p:sldId id="326" r:id="rId11"/>
    <p:sldId id="327" r:id="rId12"/>
    <p:sldId id="328" r:id="rId13"/>
    <p:sldId id="294" r:id="rId14"/>
    <p:sldId id="329" r:id="rId15"/>
    <p:sldId id="296" r:id="rId16"/>
    <p:sldId id="297" r:id="rId17"/>
    <p:sldId id="298" r:id="rId18"/>
    <p:sldId id="299" r:id="rId19"/>
    <p:sldId id="336" r:id="rId20"/>
    <p:sldId id="337" r:id="rId21"/>
    <p:sldId id="338" r:id="rId22"/>
    <p:sldId id="339" r:id="rId23"/>
    <p:sldId id="340" r:id="rId24"/>
    <p:sldId id="341" r:id="rId25"/>
    <p:sldId id="342" r:id="rId26"/>
    <p:sldId id="308" r:id="rId27"/>
    <p:sldId id="330" r:id="rId28"/>
    <p:sldId id="331" r:id="rId29"/>
    <p:sldId id="332" r:id="rId30"/>
    <p:sldId id="333" r:id="rId31"/>
    <p:sldId id="318" r:id="rId3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42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39D7F57-0F2B-471F-9B14-442577D7DFF4}" type="datetimeFigureOut">
              <a:rPr lang="en-IN" smtClean="0"/>
              <a:pPr/>
              <a:t>06-10-2023</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E1E26FE-F10D-47C3-BDD3-58EBF3AAD9E7}" type="slidenum">
              <a:rPr lang="en-IN" smtClean="0"/>
              <a:pPr/>
              <a:t>‹#›</a:t>
            </a:fld>
            <a:endParaRPr lang="en-IN"/>
          </a:p>
        </p:txBody>
      </p:sp>
    </p:spTree>
    <p:extLst>
      <p:ext uri="{BB962C8B-B14F-4D97-AF65-F5344CB8AC3E}">
        <p14:creationId xmlns:p14="http://schemas.microsoft.com/office/powerpoint/2010/main" val="2074891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40" dirty="0"/>
              <a:t>Dr.</a:t>
            </a:r>
            <a:r>
              <a:rPr spc="-25" dirty="0"/>
              <a:t> </a:t>
            </a:r>
            <a:r>
              <a:rPr dirty="0"/>
              <a:t>Asir</a:t>
            </a:r>
            <a:r>
              <a:rPr spc="-5" dirty="0"/>
              <a:t> </a:t>
            </a:r>
            <a:r>
              <a:rPr dirty="0"/>
              <a:t>John</a:t>
            </a:r>
            <a:r>
              <a:rPr spc="-20" dirty="0"/>
              <a:t> </a:t>
            </a:r>
            <a:r>
              <a:rPr spc="-5" dirty="0"/>
              <a:t>Samuel</a:t>
            </a:r>
            <a:r>
              <a:rPr spc="-15" dirty="0"/>
              <a:t> </a:t>
            </a:r>
            <a:r>
              <a:rPr spc="-5" dirty="0"/>
              <a:t>(PT),</a:t>
            </a:r>
            <a:r>
              <a:rPr spc="-10" dirty="0"/>
              <a:t> </a:t>
            </a:r>
            <a:r>
              <a:rPr spc="-15" dirty="0"/>
              <a:t>Lecturer,</a:t>
            </a:r>
            <a:r>
              <a:rPr spc="-25" dirty="0"/>
              <a:t> </a:t>
            </a:r>
            <a:r>
              <a:rPr spc="-10" dirty="0"/>
              <a:t>ACP</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5CD7F33-5EC0-4EDC-A04D-3A4061022D0A}" type="datetime1">
              <a:rPr lang="en-US" smtClean="0"/>
              <a:pPr/>
              <a:t>10/6/2023</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40" dirty="0"/>
              <a:t>Dr.</a:t>
            </a:r>
            <a:r>
              <a:rPr spc="-25" dirty="0"/>
              <a:t> </a:t>
            </a:r>
            <a:r>
              <a:rPr dirty="0"/>
              <a:t>Asir</a:t>
            </a:r>
            <a:r>
              <a:rPr spc="-5" dirty="0"/>
              <a:t> </a:t>
            </a:r>
            <a:r>
              <a:rPr dirty="0"/>
              <a:t>John</a:t>
            </a:r>
            <a:r>
              <a:rPr spc="-20" dirty="0"/>
              <a:t> </a:t>
            </a:r>
            <a:r>
              <a:rPr spc="-5" dirty="0"/>
              <a:t>Samuel</a:t>
            </a:r>
            <a:r>
              <a:rPr spc="-15" dirty="0"/>
              <a:t> </a:t>
            </a:r>
            <a:r>
              <a:rPr spc="-5" dirty="0"/>
              <a:t>(PT),</a:t>
            </a:r>
            <a:r>
              <a:rPr spc="-10" dirty="0"/>
              <a:t> </a:t>
            </a:r>
            <a:r>
              <a:rPr spc="-15" dirty="0"/>
              <a:t>Lecturer,</a:t>
            </a:r>
            <a:r>
              <a:rPr spc="-25" dirty="0"/>
              <a:t> </a:t>
            </a:r>
            <a:r>
              <a:rPr spc="-10" dirty="0"/>
              <a:t>ACP</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570F1202-4FBF-41AA-B58B-CC886030EB47}" type="datetime1">
              <a:rPr lang="en-US" smtClean="0"/>
              <a:pPr/>
              <a:t>10/6/2023</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40" dirty="0"/>
              <a:t>Dr.</a:t>
            </a:r>
            <a:r>
              <a:rPr spc="-25" dirty="0"/>
              <a:t> </a:t>
            </a:r>
            <a:r>
              <a:rPr dirty="0"/>
              <a:t>Asir</a:t>
            </a:r>
            <a:r>
              <a:rPr spc="-5" dirty="0"/>
              <a:t> </a:t>
            </a:r>
            <a:r>
              <a:rPr dirty="0"/>
              <a:t>John</a:t>
            </a:r>
            <a:r>
              <a:rPr spc="-20" dirty="0"/>
              <a:t> </a:t>
            </a:r>
            <a:r>
              <a:rPr spc="-5" dirty="0"/>
              <a:t>Samuel</a:t>
            </a:r>
            <a:r>
              <a:rPr spc="-15" dirty="0"/>
              <a:t> </a:t>
            </a:r>
            <a:r>
              <a:rPr spc="-5" dirty="0"/>
              <a:t>(PT),</a:t>
            </a:r>
            <a:r>
              <a:rPr spc="-10" dirty="0"/>
              <a:t> </a:t>
            </a:r>
            <a:r>
              <a:rPr spc="-15" dirty="0"/>
              <a:t>Lecturer,</a:t>
            </a:r>
            <a:r>
              <a:rPr spc="-25" dirty="0"/>
              <a:t> </a:t>
            </a:r>
            <a:r>
              <a:rPr spc="-10" dirty="0"/>
              <a:t>ACP</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43E4831D-91E2-442F-8136-89DBD543B4AC}" type="datetime1">
              <a:rPr lang="en-US" smtClean="0"/>
              <a:pPr/>
              <a:t>10/6/2023</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40" dirty="0"/>
              <a:t>Dr.</a:t>
            </a:r>
            <a:r>
              <a:rPr spc="-25" dirty="0"/>
              <a:t> </a:t>
            </a:r>
            <a:r>
              <a:rPr dirty="0"/>
              <a:t>Asir</a:t>
            </a:r>
            <a:r>
              <a:rPr spc="-5" dirty="0"/>
              <a:t> </a:t>
            </a:r>
            <a:r>
              <a:rPr dirty="0"/>
              <a:t>John</a:t>
            </a:r>
            <a:r>
              <a:rPr spc="-20" dirty="0"/>
              <a:t> </a:t>
            </a:r>
            <a:r>
              <a:rPr spc="-5" dirty="0"/>
              <a:t>Samuel</a:t>
            </a:r>
            <a:r>
              <a:rPr spc="-15" dirty="0"/>
              <a:t> </a:t>
            </a:r>
            <a:r>
              <a:rPr spc="-5" dirty="0"/>
              <a:t>(PT),</a:t>
            </a:r>
            <a:r>
              <a:rPr spc="-10" dirty="0"/>
              <a:t> </a:t>
            </a:r>
            <a:r>
              <a:rPr spc="-15" dirty="0"/>
              <a:t>Lecturer,</a:t>
            </a:r>
            <a:r>
              <a:rPr spc="-25" dirty="0"/>
              <a:t> </a:t>
            </a:r>
            <a:r>
              <a:rPr spc="-10" dirty="0"/>
              <a:t>ACP</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35031886-DA21-44C0-8B92-3564EAFCF56E}" type="datetime1">
              <a:rPr lang="en-US" smtClean="0"/>
              <a:pPr/>
              <a:t>10/6/2023</a:t>
            </a:fld>
            <a:endParaRPr lang="en-US"/>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40" dirty="0"/>
              <a:t>Dr.</a:t>
            </a:r>
            <a:r>
              <a:rPr spc="-25" dirty="0"/>
              <a:t> </a:t>
            </a:r>
            <a:r>
              <a:rPr dirty="0"/>
              <a:t>Asir</a:t>
            </a:r>
            <a:r>
              <a:rPr spc="-5" dirty="0"/>
              <a:t> </a:t>
            </a:r>
            <a:r>
              <a:rPr dirty="0"/>
              <a:t>John</a:t>
            </a:r>
            <a:r>
              <a:rPr spc="-20" dirty="0"/>
              <a:t> </a:t>
            </a:r>
            <a:r>
              <a:rPr spc="-5" dirty="0"/>
              <a:t>Samuel</a:t>
            </a:r>
            <a:r>
              <a:rPr spc="-15" dirty="0"/>
              <a:t> </a:t>
            </a:r>
            <a:r>
              <a:rPr spc="-5" dirty="0"/>
              <a:t>(PT),</a:t>
            </a:r>
            <a:r>
              <a:rPr spc="-10" dirty="0"/>
              <a:t> </a:t>
            </a:r>
            <a:r>
              <a:rPr spc="-15" dirty="0"/>
              <a:t>Lecturer,</a:t>
            </a:r>
            <a:r>
              <a:rPr spc="-25" dirty="0"/>
              <a:t> </a:t>
            </a:r>
            <a:r>
              <a:rPr spc="-10" dirty="0"/>
              <a:t>ACP</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66AA7FDB-8B21-45CB-A0FA-60F3F8ACF8A7}" type="datetime1">
              <a:rPr lang="en-US" smtClean="0"/>
              <a:pPr/>
              <a:t>10/6/2023</a:t>
            </a:fld>
            <a:endParaRPr lang="en-US"/>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49932" y="126314"/>
            <a:ext cx="5644134" cy="136779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534669" y="1494408"/>
            <a:ext cx="8074660" cy="4416425"/>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3344417" y="6465214"/>
            <a:ext cx="245364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40" dirty="0"/>
              <a:t>Dr.</a:t>
            </a:r>
            <a:r>
              <a:rPr spc="-25" dirty="0"/>
              <a:t> </a:t>
            </a:r>
            <a:r>
              <a:rPr dirty="0"/>
              <a:t>Asir</a:t>
            </a:r>
            <a:r>
              <a:rPr spc="-5" dirty="0"/>
              <a:t> </a:t>
            </a:r>
            <a:r>
              <a:rPr dirty="0"/>
              <a:t>John</a:t>
            </a:r>
            <a:r>
              <a:rPr spc="-20" dirty="0"/>
              <a:t> </a:t>
            </a:r>
            <a:r>
              <a:rPr spc="-5" dirty="0"/>
              <a:t>Samuel</a:t>
            </a:r>
            <a:r>
              <a:rPr spc="-15" dirty="0"/>
              <a:t> </a:t>
            </a:r>
            <a:r>
              <a:rPr spc="-5" dirty="0"/>
              <a:t>(PT),</a:t>
            </a:r>
            <a:r>
              <a:rPr spc="-10" dirty="0"/>
              <a:t> </a:t>
            </a:r>
            <a:r>
              <a:rPr spc="-15" dirty="0"/>
              <a:t>Lecturer,</a:t>
            </a:r>
            <a:r>
              <a:rPr spc="-25" dirty="0"/>
              <a:t> </a:t>
            </a:r>
            <a:r>
              <a:rPr spc="-10" dirty="0"/>
              <a:t>ACP</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320F011A-6F71-4580-B12A-CA555E57DAFA}" type="datetime1">
              <a:rPr lang="en-US" smtClean="0"/>
              <a:pPr/>
              <a:t>10/6/2023</a:t>
            </a:fld>
            <a:endParaRPr lang="en-US"/>
          </a:p>
        </p:txBody>
      </p:sp>
      <p:sp>
        <p:nvSpPr>
          <p:cNvPr id="6" name="Holder 6"/>
          <p:cNvSpPr>
            <a:spLocks noGrp="1"/>
          </p:cNvSpPr>
          <p:nvPr>
            <p:ph type="sldNum" sz="quarter" idx="7"/>
          </p:nvPr>
        </p:nvSpPr>
        <p:spPr>
          <a:xfrm>
            <a:off x="8401811" y="6465214"/>
            <a:ext cx="231775"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dirty="0"/>
              <a:pPr marL="38100">
                <a:lnSpc>
                  <a:spcPts val="1240"/>
                </a:lnSpc>
              </a:pPr>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i.org/10.1007/978-981-13-2947-0"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2437300-7DAA-8029-F919-BBC5AC57B9AF}"/>
              </a:ext>
            </a:extLst>
          </p:cNvPr>
          <p:cNvPicPr>
            <a:picLocks noChangeAspect="1"/>
          </p:cNvPicPr>
          <p:nvPr/>
        </p:nvPicPr>
        <p:blipFill rotWithShape="1">
          <a:blip r:embed="rId2" cstate="print"/>
          <a:srcRect t="22223" b="18564"/>
          <a:stretch/>
        </p:blipFill>
        <p:spPr>
          <a:xfrm>
            <a:off x="5080" y="2797155"/>
            <a:ext cx="5012234" cy="4060845"/>
          </a:xfrm>
          <a:prstGeom prst="rect">
            <a:avLst/>
          </a:prstGeom>
        </p:spPr>
      </p:pic>
      <p:sp>
        <p:nvSpPr>
          <p:cNvPr id="2" name="object 2"/>
          <p:cNvSpPr txBox="1">
            <a:spLocks noGrp="1"/>
          </p:cNvSpPr>
          <p:nvPr>
            <p:ph type="title"/>
          </p:nvPr>
        </p:nvSpPr>
        <p:spPr>
          <a:xfrm>
            <a:off x="235508" y="170940"/>
            <a:ext cx="8672984" cy="1859483"/>
          </a:xfrm>
          <a:prstGeom prst="rect">
            <a:avLst/>
          </a:prstGeom>
        </p:spPr>
        <p:txBody>
          <a:bodyPr vert="horz" wrap="square" lIns="0" tIns="12700" rIns="0" bIns="0" rtlCol="0">
            <a:spAutoFit/>
          </a:bodyPr>
          <a:lstStyle/>
          <a:p>
            <a:pPr marR="5080" algn="ctr">
              <a:lnSpc>
                <a:spcPct val="100000"/>
              </a:lnSpc>
            </a:pPr>
            <a:r>
              <a:rPr sz="6000" b="1" spc="-30" dirty="0">
                <a:solidFill>
                  <a:srgbClr val="7030A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Research</a:t>
            </a:r>
            <a:r>
              <a:rPr lang="en-IN" sz="6000" b="1" spc="-30" dirty="0">
                <a:solidFill>
                  <a:srgbClr val="7030A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sz="6000" b="1" spc="-5" dirty="0">
                <a:solidFill>
                  <a:srgbClr val="7030A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Methodology</a:t>
            </a:r>
            <a:r>
              <a:rPr lang="en-IN" sz="6000" b="1" spc="-5" dirty="0">
                <a:solidFill>
                  <a:srgbClr val="7030A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&amp; IPR </a:t>
            </a:r>
            <a:r>
              <a:rPr lang="en-IN" sz="6000" b="1" spc="-5" dirty="0" smtClean="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(AL58)</a:t>
            </a:r>
            <a:endParaRPr sz="6000" b="1" dirty="0">
              <a:solidFill>
                <a:srgbClr val="00B0F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object 3"/>
          <p:cNvSpPr txBox="1"/>
          <p:nvPr/>
        </p:nvSpPr>
        <p:spPr>
          <a:xfrm>
            <a:off x="4554515" y="5158436"/>
            <a:ext cx="4572000" cy="1528624"/>
          </a:xfrm>
          <a:prstGeom prst="rect">
            <a:avLst/>
          </a:prstGeom>
        </p:spPr>
        <p:txBody>
          <a:bodyPr vert="horz" wrap="square" lIns="0" tIns="12700" rIns="0" bIns="0" rtlCol="0">
            <a:spAutoFit/>
          </a:bodyPr>
          <a:lstStyle/>
          <a:p>
            <a:pPr marL="12700" marR="5080" indent="7620">
              <a:lnSpc>
                <a:spcPct val="100000"/>
              </a:lnSpc>
              <a:spcBef>
                <a:spcPts val="100"/>
              </a:spcBef>
            </a:pPr>
            <a:r>
              <a:rPr lang="en-IN" sz="2400" b="1" spc="-10" dirty="0" err="1">
                <a:latin typeface="Times New Roman" panose="02020603050405020304" pitchFamily="18" charset="0"/>
                <a:cs typeface="Times New Roman" panose="02020603050405020304" pitchFamily="18" charset="0"/>
              </a:rPr>
              <a:t>Dr.</a:t>
            </a:r>
            <a:r>
              <a:rPr lang="en-IN" sz="2400" b="1" spc="-10" dirty="0">
                <a:latin typeface="Times New Roman" panose="02020603050405020304" pitchFamily="18" charset="0"/>
                <a:cs typeface="Times New Roman" panose="02020603050405020304" pitchFamily="18" charset="0"/>
              </a:rPr>
              <a:t> </a:t>
            </a:r>
            <a:r>
              <a:rPr lang="en-IN" sz="2400" b="1" spc="-10" dirty="0" smtClean="0">
                <a:latin typeface="Times New Roman" panose="02020603050405020304" pitchFamily="18" charset="0"/>
                <a:cs typeface="Times New Roman" panose="02020603050405020304" pitchFamily="18" charset="0"/>
              </a:rPr>
              <a:t>Sridhar. S</a:t>
            </a:r>
            <a:endParaRPr lang="en-IN" sz="2400" b="1" spc="-10" dirty="0">
              <a:latin typeface="Times New Roman" panose="02020603050405020304" pitchFamily="18" charset="0"/>
              <a:cs typeface="Times New Roman" panose="02020603050405020304" pitchFamily="18" charset="0"/>
            </a:endParaRPr>
          </a:p>
          <a:p>
            <a:pPr marL="12700" marR="5080" indent="7620">
              <a:lnSpc>
                <a:spcPct val="100000"/>
              </a:lnSpc>
              <a:spcBef>
                <a:spcPts val="100"/>
              </a:spcBef>
            </a:pPr>
            <a:r>
              <a:rPr lang="en-IN" sz="2400" spc="-10" dirty="0" smtClean="0">
                <a:latin typeface="Times New Roman" panose="02020603050405020304" pitchFamily="18" charset="0"/>
                <a:cs typeface="Times New Roman" panose="02020603050405020304" pitchFamily="18" charset="0"/>
              </a:rPr>
              <a:t>Associate </a:t>
            </a:r>
            <a:r>
              <a:rPr lang="en-IN" sz="2400" spc="-10" dirty="0">
                <a:latin typeface="Times New Roman" panose="02020603050405020304" pitchFamily="18" charset="0"/>
                <a:cs typeface="Times New Roman" panose="02020603050405020304" pitchFamily="18" charset="0"/>
              </a:rPr>
              <a:t>Professor</a:t>
            </a:r>
          </a:p>
          <a:p>
            <a:pPr marL="12700" marR="5080" indent="7620">
              <a:lnSpc>
                <a:spcPct val="100000"/>
              </a:lnSpc>
              <a:spcBef>
                <a:spcPts val="100"/>
              </a:spcBef>
            </a:pPr>
            <a:r>
              <a:rPr lang="en-IN" sz="2400" spc="-10" dirty="0" smtClean="0">
                <a:latin typeface="Times New Roman" panose="02020603050405020304" pitchFamily="18" charset="0"/>
                <a:cs typeface="Times New Roman" panose="02020603050405020304" pitchFamily="18" charset="0"/>
              </a:rPr>
              <a:t>Dept. of EEE</a:t>
            </a:r>
            <a:endParaRPr lang="en-IN" sz="2400" spc="-10" dirty="0">
              <a:latin typeface="Times New Roman" panose="02020603050405020304" pitchFamily="18" charset="0"/>
              <a:cs typeface="Times New Roman" panose="02020603050405020304" pitchFamily="18" charset="0"/>
            </a:endParaRPr>
          </a:p>
          <a:p>
            <a:pPr marL="12700" marR="5080" indent="7620">
              <a:lnSpc>
                <a:spcPct val="100000"/>
              </a:lnSpc>
              <a:spcBef>
                <a:spcPts val="100"/>
              </a:spcBef>
            </a:pPr>
            <a:r>
              <a:rPr lang="en-IN" sz="2400" spc="-10" dirty="0">
                <a:latin typeface="Times New Roman" panose="02020603050405020304" pitchFamily="18" charset="0"/>
                <a:cs typeface="Times New Roman" panose="02020603050405020304" pitchFamily="18" charset="0"/>
              </a:rPr>
              <a:t>M S Ramaiah Institute of Technology</a:t>
            </a:r>
            <a:endParaRPr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2D44DCE-59B0-2947-7749-CDB258EA3F54}"/>
              </a:ext>
            </a:extLst>
          </p:cNvPr>
          <p:cNvPicPr>
            <a:picLocks noChangeAspect="1"/>
          </p:cNvPicPr>
          <p:nvPr/>
        </p:nvPicPr>
        <p:blipFill rotWithShape="1">
          <a:blip r:embed="rId3"/>
          <a:srcRect l="7500" t="27778" r="53333" b="12963"/>
          <a:stretch/>
        </p:blipFill>
        <p:spPr>
          <a:xfrm>
            <a:off x="4648200" y="2062321"/>
            <a:ext cx="3581400" cy="30480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b="1" dirty="0">
                <a:solidFill>
                  <a:srgbClr val="C00000"/>
                </a:solidFill>
                <a:latin typeface="Arial" panose="020B0604020202020204" pitchFamily="34" charset="0"/>
                <a:cs typeface="Arial" panose="020B0604020202020204" pitchFamily="34" charset="0"/>
              </a:rPr>
              <a:t>Course Contents</a:t>
            </a:r>
            <a:endParaRPr sz="48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990600"/>
            <a:ext cx="8136475" cy="5324535"/>
          </a:xfrm>
          <a:prstGeom prst="rect">
            <a:avLst/>
          </a:prstGeom>
          <a:noFill/>
        </p:spPr>
        <p:txBody>
          <a:bodyPr wrap="square">
            <a:spAutoFit/>
          </a:bodyPr>
          <a:lstStyle/>
          <a:p>
            <a:pPr algn="ctr"/>
            <a:r>
              <a:rPr lang="en-US" sz="2000" b="1" dirty="0">
                <a:latin typeface="Cambria" panose="02040503050406030204" pitchFamily="18" charset="0"/>
                <a:ea typeface="Cambria" panose="02040503050406030204" pitchFamily="18" charset="0"/>
                <a:cs typeface="Times New Roman" panose="02020603050405020304" pitchFamily="18" charset="0"/>
              </a:rPr>
              <a:t>Unit I</a:t>
            </a:r>
          </a:p>
          <a:p>
            <a:pPr algn="just"/>
            <a:r>
              <a:rPr lang="en-IN" sz="2000" b="1" dirty="0">
                <a:latin typeface="Cambria" panose="02040503050406030204" pitchFamily="18" charset="0"/>
                <a:ea typeface="Cambria" panose="02040503050406030204" pitchFamily="18" charset="0"/>
                <a:cs typeface="Times New Roman" panose="02020603050405020304" pitchFamily="18" charset="0"/>
              </a:rPr>
              <a:t>Introduction</a:t>
            </a:r>
            <a:r>
              <a:rPr lang="en-IN" sz="2000" dirty="0">
                <a:latin typeface="Cambria" panose="02040503050406030204" pitchFamily="18" charset="0"/>
                <a:ea typeface="Cambria" panose="02040503050406030204" pitchFamily="18" charset="0"/>
                <a:cs typeface="Times New Roman" panose="02020603050405020304" pitchFamily="18" charset="0"/>
              </a:rPr>
              <a:t>: Meaning of Research, Objectives of Research, Types of Research, Ethics in Research, Types of Research Misconduct.</a:t>
            </a:r>
          </a:p>
          <a:p>
            <a:pPr algn="just"/>
            <a:r>
              <a:rPr lang="en-IN" sz="2000" dirty="0">
                <a:latin typeface="Cambria" panose="02040503050406030204" pitchFamily="18" charset="0"/>
                <a:ea typeface="Cambria" panose="02040503050406030204" pitchFamily="18" charset="0"/>
                <a:cs typeface="Times New Roman" panose="02020603050405020304" pitchFamily="18" charset="0"/>
              </a:rPr>
              <a:t>Literature Review and Technical Reading, New and Existing Knowledge, Analysis and Synthesis of Prior Art, Bibliographic Databases, Conceptualizing Research, Critical and Creative Reading.</a:t>
            </a:r>
          </a:p>
          <a:p>
            <a:pPr algn="just"/>
            <a:r>
              <a:rPr lang="en-IN" sz="2000" b="1" dirty="0">
                <a:latin typeface="Cambria" panose="02040503050406030204" pitchFamily="18" charset="0"/>
                <a:ea typeface="Cambria" panose="02040503050406030204" pitchFamily="18" charset="0"/>
                <a:cs typeface="Times New Roman" panose="02020603050405020304" pitchFamily="18" charset="0"/>
              </a:rPr>
              <a:t>Citations:</a:t>
            </a:r>
            <a:r>
              <a:rPr lang="en-IN" sz="2000" dirty="0">
                <a:latin typeface="Cambria" panose="02040503050406030204" pitchFamily="18" charset="0"/>
                <a:ea typeface="Cambria" panose="02040503050406030204" pitchFamily="18" charset="0"/>
                <a:cs typeface="Times New Roman" panose="02020603050405020304" pitchFamily="18" charset="0"/>
              </a:rPr>
              <a:t> Functions and Attributes, Impact of Title and Keywords on Citations, Knowledge flow through Citations, Acknowledgments, and Attributions.</a:t>
            </a:r>
            <a:endParaRPr lang="en-US" sz="2000" dirty="0">
              <a:latin typeface="Cambria" panose="02040503050406030204" pitchFamily="18" charset="0"/>
              <a:ea typeface="Cambria" panose="02040503050406030204" pitchFamily="18" charset="0"/>
              <a:cs typeface="Times New Roman" panose="02020603050405020304" pitchFamily="18" charset="0"/>
            </a:endParaRPr>
          </a:p>
          <a:p>
            <a:pPr algn="ctr"/>
            <a:r>
              <a:rPr lang="en-US" sz="2000" b="1" dirty="0">
                <a:latin typeface="Cambria" panose="02040503050406030204" pitchFamily="18" charset="0"/>
                <a:ea typeface="Cambria" panose="02040503050406030204" pitchFamily="18" charset="0"/>
                <a:cs typeface="Times New Roman" panose="02020603050405020304" pitchFamily="18" charset="0"/>
              </a:rPr>
              <a:t>Unit II</a:t>
            </a:r>
          </a:p>
          <a:p>
            <a:pPr algn="just"/>
            <a:r>
              <a:rPr lang="en-IN" sz="2000" b="1" dirty="0">
                <a:latin typeface="Cambria" panose="02040503050406030204" pitchFamily="18" charset="0"/>
                <a:ea typeface="Cambria" panose="02040503050406030204" pitchFamily="18" charset="0"/>
                <a:cs typeface="Times New Roman" panose="02020603050405020304" pitchFamily="18" charset="0"/>
              </a:rPr>
              <a:t>Research Design: </a:t>
            </a:r>
            <a:r>
              <a:rPr lang="en-IN" sz="2000" dirty="0">
                <a:latin typeface="Cambria" panose="02040503050406030204" pitchFamily="18" charset="0"/>
                <a:ea typeface="Cambria" panose="02040503050406030204" pitchFamily="18" charset="0"/>
                <a:cs typeface="Times New Roman" panose="02020603050405020304" pitchFamily="18" charset="0"/>
              </a:rPr>
              <a:t>Need for Research Design, Important Concepts Related to </a:t>
            </a:r>
            <a:r>
              <a:rPr lang="en-IN" sz="2000" b="1" dirty="0">
                <a:latin typeface="Cambria" panose="02040503050406030204" pitchFamily="18" charset="0"/>
                <a:ea typeface="Cambria" panose="02040503050406030204" pitchFamily="18" charset="0"/>
                <a:cs typeface="Times New Roman" panose="02020603050405020304" pitchFamily="18" charset="0"/>
              </a:rPr>
              <a:t>Research Design: </a:t>
            </a:r>
            <a:r>
              <a:rPr lang="en-IN" sz="2000" dirty="0">
                <a:latin typeface="Cambria" panose="02040503050406030204" pitchFamily="18" charset="0"/>
                <a:ea typeface="Cambria" panose="02040503050406030204" pitchFamily="18" charset="0"/>
                <a:cs typeface="Times New Roman" panose="02020603050405020304" pitchFamily="18" charset="0"/>
              </a:rPr>
              <a:t>Dependent and Independent Variables, Extraneous Variable, Variable, Common Control, Confounded Relationship, Research Hypothesis, Experimental and Control Groups, Treatments.</a:t>
            </a:r>
          </a:p>
          <a:p>
            <a:pPr algn="just"/>
            <a:r>
              <a:rPr lang="en-IN" sz="2000" b="1" dirty="0">
                <a:latin typeface="Cambria" panose="02040503050406030204" pitchFamily="18" charset="0"/>
                <a:ea typeface="Cambria" panose="02040503050406030204" pitchFamily="18" charset="0"/>
                <a:cs typeface="Times New Roman" panose="02020603050405020304" pitchFamily="18" charset="0"/>
              </a:rPr>
              <a:t>Experimental Designs: </a:t>
            </a:r>
            <a:r>
              <a:rPr lang="en-IN" sz="2000" dirty="0">
                <a:latin typeface="Cambria" panose="02040503050406030204" pitchFamily="18" charset="0"/>
                <a:ea typeface="Cambria" panose="02040503050406030204" pitchFamily="18" charset="0"/>
                <a:cs typeface="Times New Roman" panose="02020603050405020304" pitchFamily="18" charset="0"/>
              </a:rPr>
              <a:t>Introduction to Randomised Block Design, Complete Randomised Design, Latin Square Design, and Factorial Design.</a:t>
            </a:r>
            <a:endParaRPr lang="en-US" sz="2000" dirty="0">
              <a:latin typeface="Cambria" panose="02040503050406030204" pitchFamily="18" charset="0"/>
              <a:ea typeface="Cambria" panose="020405030504060302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3</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b="1" dirty="0">
                <a:solidFill>
                  <a:srgbClr val="C00000"/>
                </a:solidFill>
                <a:latin typeface="Arial" panose="020B0604020202020204" pitchFamily="34" charset="0"/>
                <a:cs typeface="Arial" panose="020B0604020202020204" pitchFamily="34" charset="0"/>
              </a:rPr>
              <a:t>Course Contents</a:t>
            </a:r>
            <a:endParaRPr sz="48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762000"/>
            <a:ext cx="8136475" cy="5632311"/>
          </a:xfrm>
          <a:prstGeom prst="rect">
            <a:avLst/>
          </a:prstGeom>
          <a:noFill/>
        </p:spPr>
        <p:txBody>
          <a:bodyPr wrap="square">
            <a:spAutoFit/>
          </a:bodyPr>
          <a:lstStyle/>
          <a:p>
            <a:pPr algn="ctr"/>
            <a:r>
              <a:rPr lang="en-US" sz="2000" b="1" dirty="0">
                <a:latin typeface="Cambria" panose="02040503050406030204" pitchFamily="18" charset="0"/>
                <a:ea typeface="Cambria" panose="02040503050406030204" pitchFamily="18" charset="0"/>
                <a:cs typeface="Times New Roman" panose="02020603050405020304" pitchFamily="18" charset="0"/>
              </a:rPr>
              <a:t>Unit III</a:t>
            </a:r>
          </a:p>
          <a:p>
            <a:pPr algn="just"/>
            <a:r>
              <a:rPr lang="en-IN" sz="2000" b="1" dirty="0">
                <a:latin typeface="Cambria" panose="02040503050406030204" pitchFamily="18" charset="0"/>
                <a:ea typeface="Cambria" panose="02040503050406030204" pitchFamily="18" charset="0"/>
                <a:cs typeface="Times New Roman" panose="02020603050405020304" pitchFamily="18" charset="0"/>
              </a:rPr>
              <a:t>Method of Data Collection:  </a:t>
            </a:r>
            <a:r>
              <a:rPr lang="en-IN" sz="2000" dirty="0">
                <a:latin typeface="Cambria" panose="02040503050406030204" pitchFamily="18" charset="0"/>
                <a:ea typeface="Cambria" panose="02040503050406030204" pitchFamily="18" charset="0"/>
                <a:cs typeface="Times New Roman" panose="02020603050405020304" pitchFamily="18" charset="0"/>
              </a:rPr>
              <a:t>Primary and Secondary Data Collection. </a:t>
            </a:r>
          </a:p>
          <a:p>
            <a:pPr algn="just"/>
            <a:r>
              <a:rPr lang="en-IN" sz="2000" b="1" dirty="0">
                <a:latin typeface="Cambria" panose="02040503050406030204" pitchFamily="18" charset="0"/>
                <a:ea typeface="Cambria" panose="02040503050406030204" pitchFamily="18" charset="0"/>
                <a:cs typeface="Times New Roman" panose="02020603050405020304" pitchFamily="18" charset="0"/>
              </a:rPr>
              <a:t>Sampling Design: </a:t>
            </a:r>
            <a:r>
              <a:rPr lang="en-IN" sz="2000" dirty="0">
                <a:latin typeface="Cambria" panose="02040503050406030204" pitchFamily="18" charset="0"/>
                <a:ea typeface="Cambria" panose="02040503050406030204" pitchFamily="18" charset="0"/>
                <a:cs typeface="Times New Roman" panose="02020603050405020304" pitchFamily="18" charset="0"/>
              </a:rPr>
              <a:t>Sampling fundamentals, Measurement, and Scaling Techniques, Criteria of Selecting a Sampling Procedure, Characteristics of a Good Sample Design, and Types of Sample Design. </a:t>
            </a:r>
          </a:p>
          <a:p>
            <a:pPr algn="just"/>
            <a:r>
              <a:rPr lang="en-IN" sz="2000" b="1" dirty="0">
                <a:latin typeface="Cambria" panose="02040503050406030204" pitchFamily="18" charset="0"/>
                <a:ea typeface="Cambria" panose="02040503050406030204" pitchFamily="18" charset="0"/>
                <a:cs typeface="Times New Roman" panose="02020603050405020304" pitchFamily="18" charset="0"/>
              </a:rPr>
              <a:t>Data Analysis: </a:t>
            </a:r>
            <a:r>
              <a:rPr lang="en-IN" sz="2000" dirty="0">
                <a:latin typeface="Cambria" panose="02040503050406030204" pitchFamily="18" charset="0"/>
                <a:ea typeface="Cambria" panose="02040503050406030204" pitchFamily="18" charset="0"/>
                <a:cs typeface="Times New Roman" panose="02020603050405020304" pitchFamily="18" charset="0"/>
              </a:rPr>
              <a:t>Testing of Hypotheses: Null Hypothesis, Alternative Hypothesis, Type I and Type II Errors, Level of Significance. Procedure for Hypothesis Testing: Mean, Variance, Proportions. Chi-square Test, Analysis of Variance (One Way ANOVA), and Covariance (ANOCOVA)</a:t>
            </a:r>
            <a:endParaRPr lang="en-US" sz="2000" dirty="0">
              <a:latin typeface="Cambria" panose="02040503050406030204" pitchFamily="18" charset="0"/>
              <a:ea typeface="Cambria" panose="02040503050406030204" pitchFamily="18" charset="0"/>
              <a:cs typeface="Times New Roman" panose="02020603050405020304" pitchFamily="18" charset="0"/>
            </a:endParaRPr>
          </a:p>
          <a:p>
            <a:pPr algn="ctr"/>
            <a:endParaRPr lang="en-US" sz="2000" b="1" dirty="0" smtClean="0">
              <a:latin typeface="Cambria" panose="02040503050406030204" pitchFamily="18" charset="0"/>
              <a:ea typeface="Cambria" panose="02040503050406030204" pitchFamily="18" charset="0"/>
              <a:cs typeface="Times New Roman" panose="02020603050405020304" pitchFamily="18" charset="0"/>
            </a:endParaRPr>
          </a:p>
          <a:p>
            <a:pPr algn="ctr"/>
            <a:r>
              <a:rPr lang="en-US" sz="2000" b="1" dirty="0" smtClean="0">
                <a:latin typeface="Cambria" panose="02040503050406030204" pitchFamily="18" charset="0"/>
                <a:ea typeface="Cambria" panose="02040503050406030204" pitchFamily="18" charset="0"/>
                <a:cs typeface="Times New Roman" panose="02020603050405020304" pitchFamily="18" charset="0"/>
              </a:rPr>
              <a:t>Unit </a:t>
            </a:r>
            <a:r>
              <a:rPr lang="en-US" sz="2000" b="1" dirty="0">
                <a:latin typeface="Cambria" panose="02040503050406030204" pitchFamily="18" charset="0"/>
                <a:ea typeface="Cambria" panose="02040503050406030204" pitchFamily="18" charset="0"/>
                <a:cs typeface="Times New Roman" panose="02020603050405020304" pitchFamily="18" charset="0"/>
              </a:rPr>
              <a:t>IV</a:t>
            </a:r>
          </a:p>
          <a:p>
            <a:pPr algn="just"/>
            <a:r>
              <a:rPr lang="en-IN" sz="2000" b="1" dirty="0">
                <a:latin typeface="Cambria" panose="02040503050406030204" pitchFamily="18" charset="0"/>
                <a:ea typeface="Cambria" panose="02040503050406030204" pitchFamily="18" charset="0"/>
              </a:rPr>
              <a:t>Intellectual Property Rights</a:t>
            </a:r>
            <a:endParaRPr lang="en-IN" sz="2000" dirty="0">
              <a:latin typeface="Cambria" panose="02040503050406030204" pitchFamily="18" charset="0"/>
              <a:ea typeface="Cambria" panose="02040503050406030204" pitchFamily="18" charset="0"/>
            </a:endParaRPr>
          </a:p>
          <a:p>
            <a:pPr algn="just"/>
            <a:r>
              <a:rPr lang="en-IN" sz="2000" b="1" dirty="0">
                <a:latin typeface="Cambria" panose="02040503050406030204" pitchFamily="18" charset="0"/>
                <a:ea typeface="Cambria" panose="02040503050406030204" pitchFamily="18" charset="0"/>
              </a:rPr>
              <a:t>Introduction to IPR:</a:t>
            </a:r>
            <a:r>
              <a:rPr lang="en-IN" sz="2000" dirty="0">
                <a:latin typeface="Cambria" panose="02040503050406030204" pitchFamily="18" charset="0"/>
                <a:ea typeface="Cambria" panose="02040503050406030204" pitchFamily="18" charset="0"/>
              </a:rPr>
              <a:t> Different forms of IPR, Role of IPR in Research and Development. TRIPS Agreement, Patent Cooperation Treaty (PCT).</a:t>
            </a:r>
          </a:p>
          <a:p>
            <a:pPr algn="just"/>
            <a:r>
              <a:rPr lang="en-IN" sz="2000" b="1" dirty="0">
                <a:latin typeface="Cambria" panose="02040503050406030204" pitchFamily="18" charset="0"/>
                <a:ea typeface="Cambria" panose="02040503050406030204" pitchFamily="18" charset="0"/>
              </a:rPr>
              <a:t>Patents:</a:t>
            </a:r>
            <a:r>
              <a:rPr lang="en-IN" sz="2000" dirty="0">
                <a:latin typeface="Cambria" panose="02040503050406030204" pitchFamily="18" charset="0"/>
                <a:ea typeface="Cambria" panose="02040503050406030204" pitchFamily="18" charset="0"/>
              </a:rPr>
              <a:t> Brief history of Patents-Indian and Global Scenario, Principles Underlying Patent Law, Types of Patent Applications in India, Procedure for Obtaining a Patent. Non Patentable Inventions. Rights Conferred to a Patentee, Basmati Rice Patent Case.</a:t>
            </a:r>
            <a:endParaRPr lang="en-US" sz="20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0347210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4</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b="1" dirty="0">
                <a:solidFill>
                  <a:srgbClr val="C00000"/>
                </a:solidFill>
                <a:latin typeface="Arial" panose="020B0604020202020204" pitchFamily="34" charset="0"/>
                <a:cs typeface="Arial" panose="020B0604020202020204" pitchFamily="34" charset="0"/>
              </a:rPr>
              <a:t>Course Contents</a:t>
            </a:r>
            <a:endParaRPr sz="48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2" y="947678"/>
            <a:ext cx="8136475" cy="2862322"/>
          </a:xfrm>
          <a:prstGeom prst="rect">
            <a:avLst/>
          </a:prstGeom>
          <a:noFill/>
        </p:spPr>
        <p:txBody>
          <a:bodyPr wrap="square">
            <a:spAutoFit/>
          </a:bodyPr>
          <a:lstStyle/>
          <a:p>
            <a:pPr algn="ctr"/>
            <a:r>
              <a:rPr lang="en-US" sz="2000" b="1" dirty="0">
                <a:latin typeface="Cambria" panose="02040503050406030204" pitchFamily="18" charset="0"/>
                <a:ea typeface="Cambria" panose="02040503050406030204" pitchFamily="18" charset="0"/>
                <a:cs typeface="Times New Roman" panose="02020603050405020304" pitchFamily="18" charset="0"/>
              </a:rPr>
              <a:t>Unit V</a:t>
            </a:r>
          </a:p>
          <a:p>
            <a:pPr algn="just"/>
            <a:r>
              <a:rPr lang="en-IN" sz="2000" b="1" dirty="0">
                <a:latin typeface="Cambria" panose="02040503050406030204" pitchFamily="18" charset="0"/>
                <a:ea typeface="Cambria" panose="02040503050406030204" pitchFamily="18" charset="0"/>
              </a:rPr>
              <a:t>Design:</a:t>
            </a:r>
            <a:r>
              <a:rPr lang="en-IN" sz="2000" dirty="0">
                <a:latin typeface="Cambria" panose="02040503050406030204" pitchFamily="18" charset="0"/>
                <a:ea typeface="Cambria" panose="02040503050406030204" pitchFamily="18" charset="0"/>
              </a:rPr>
              <a:t> What is a Design? Essential Requirements for a Registrable Design, Procedure of Registration of a Design, </a:t>
            </a:r>
          </a:p>
          <a:p>
            <a:pPr algn="just"/>
            <a:r>
              <a:rPr lang="en-IN" sz="2000" b="1" dirty="0">
                <a:latin typeface="Cambria" panose="02040503050406030204" pitchFamily="18" charset="0"/>
                <a:ea typeface="Cambria" panose="02040503050406030204" pitchFamily="18" charset="0"/>
              </a:rPr>
              <a:t>Trademarks:</a:t>
            </a:r>
            <a:r>
              <a:rPr lang="en-IN" sz="2000" dirty="0">
                <a:latin typeface="Cambria" panose="02040503050406030204" pitchFamily="18" charset="0"/>
                <a:ea typeface="Cambria" panose="02040503050406030204" pitchFamily="18" charset="0"/>
              </a:rPr>
              <a:t> Essentials of a Trademark, Registration, and Protection of Trademarks, Rights Conferred by Registration of Trademarks, Infringements, Types of Reliefs, Case Studies.</a:t>
            </a:r>
          </a:p>
          <a:p>
            <a:pPr algn="just"/>
            <a:r>
              <a:rPr lang="en-IN" sz="2000" b="1" dirty="0">
                <a:latin typeface="Cambria" panose="02040503050406030204" pitchFamily="18" charset="0"/>
                <a:ea typeface="Cambria" panose="02040503050406030204" pitchFamily="18" charset="0"/>
              </a:rPr>
              <a:t>Copyrights:</a:t>
            </a:r>
            <a:r>
              <a:rPr lang="en-IN" sz="2000" dirty="0">
                <a:latin typeface="Cambria" panose="02040503050406030204" pitchFamily="18" charset="0"/>
                <a:ea typeface="Cambria" panose="02040503050406030204" pitchFamily="18" charset="0"/>
              </a:rPr>
              <a:t> Characteristics of Copyrights, Rights Conferred by Registration of Copyrights, Registration of Copyrights, Infringements, Remedies against Infringement of Copyrights, Case studies</a:t>
            </a:r>
            <a:endParaRPr lang="en-US" sz="20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0451932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5</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b="1" dirty="0">
                <a:solidFill>
                  <a:srgbClr val="C00000"/>
                </a:solidFill>
                <a:latin typeface="Arial" panose="020B0604020202020204" pitchFamily="34" charset="0"/>
                <a:cs typeface="Arial" panose="020B0604020202020204" pitchFamily="34" charset="0"/>
              </a:rPr>
              <a:t>Text Books</a:t>
            </a:r>
            <a:endParaRPr sz="48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497111" y="762000"/>
            <a:ext cx="8136475" cy="2862322"/>
          </a:xfrm>
          <a:prstGeom prst="rect">
            <a:avLst/>
          </a:prstGeom>
          <a:noFill/>
        </p:spPr>
        <p:txBody>
          <a:bodyPr wrap="square">
            <a:spAutoFit/>
          </a:bodyPr>
          <a:lstStyle/>
          <a:p>
            <a:pPr marL="342900" lvl="0" indent="-342900" algn="just">
              <a:buFont typeface="+mj-lt"/>
              <a:buAutoNum type="arabicPeriod"/>
            </a:pPr>
            <a:r>
              <a:rPr lang="en-IN" sz="2000" dirty="0">
                <a:latin typeface="Cambria" panose="02040503050406030204" pitchFamily="18" charset="0"/>
                <a:ea typeface="Cambria" panose="02040503050406030204" pitchFamily="18" charset="0"/>
              </a:rPr>
              <a:t>C. R Kothari, </a:t>
            </a:r>
            <a:r>
              <a:rPr lang="en-IN" sz="2000" dirty="0" err="1">
                <a:latin typeface="Cambria" panose="02040503050406030204" pitchFamily="18" charset="0"/>
                <a:ea typeface="Cambria" panose="02040503050406030204" pitchFamily="18" charset="0"/>
              </a:rPr>
              <a:t>Gourav</a:t>
            </a:r>
            <a:r>
              <a:rPr lang="en-IN" sz="2000" dirty="0">
                <a:latin typeface="Cambria" panose="02040503050406030204" pitchFamily="18" charset="0"/>
                <a:ea typeface="Cambria" panose="02040503050406030204" pitchFamily="18" charset="0"/>
              </a:rPr>
              <a:t> Garg, Research Methodology – Methods and Techniques. New Age International Publishers.</a:t>
            </a:r>
          </a:p>
          <a:p>
            <a:pPr marL="342900" lvl="0" indent="-342900" algn="just">
              <a:buFont typeface="+mj-lt"/>
              <a:buAutoNum type="arabicPeriod"/>
            </a:pPr>
            <a:r>
              <a:rPr lang="en-IN" sz="2000" dirty="0" err="1">
                <a:latin typeface="Cambria" panose="02040503050406030204" pitchFamily="18" charset="0"/>
                <a:ea typeface="Cambria" panose="02040503050406030204" pitchFamily="18" charset="0"/>
              </a:rPr>
              <a:t>Dr.</a:t>
            </a:r>
            <a:r>
              <a:rPr lang="en-IN" sz="2000" dirty="0">
                <a:latin typeface="Cambria" panose="02040503050406030204" pitchFamily="18" charset="0"/>
                <a:ea typeface="Cambria" panose="02040503050406030204" pitchFamily="18" charset="0"/>
              </a:rPr>
              <a:t> B L </a:t>
            </a:r>
            <a:r>
              <a:rPr lang="en-IN" sz="2000" dirty="0" err="1">
                <a:latin typeface="Cambria" panose="02040503050406030204" pitchFamily="18" charset="0"/>
                <a:ea typeface="Cambria" panose="02040503050406030204" pitchFamily="18" charset="0"/>
              </a:rPr>
              <a:t>Wadehra</a:t>
            </a:r>
            <a:r>
              <a:rPr lang="en-IN" sz="2000" dirty="0">
                <a:latin typeface="Cambria" panose="02040503050406030204" pitchFamily="18" charset="0"/>
                <a:ea typeface="Cambria" panose="02040503050406030204" pitchFamily="18" charset="0"/>
              </a:rPr>
              <a:t> – Law relating to Intellectual property. Universal Law Publishing Co.</a:t>
            </a:r>
          </a:p>
          <a:p>
            <a:pPr marL="342900" lvl="0" indent="-342900" algn="just">
              <a:buFont typeface="+mj-lt"/>
              <a:buAutoNum type="arabicPeriod"/>
            </a:pPr>
            <a:r>
              <a:rPr lang="en-IN" sz="2000" dirty="0" err="1">
                <a:latin typeface="Cambria" panose="02040503050406030204" pitchFamily="18" charset="0"/>
                <a:ea typeface="Cambria" panose="02040503050406030204" pitchFamily="18" charset="0"/>
              </a:rPr>
              <a:t>Dipankar</a:t>
            </a:r>
            <a:r>
              <a:rPr lang="en-IN" sz="2000" dirty="0">
                <a:latin typeface="Cambria" panose="02040503050406030204" pitchFamily="18" charset="0"/>
                <a:ea typeface="Cambria" panose="02040503050406030204" pitchFamily="18" charset="0"/>
              </a:rPr>
              <a:t> Deb, </a:t>
            </a:r>
            <a:r>
              <a:rPr lang="en-IN" sz="2000" dirty="0" err="1">
                <a:latin typeface="Cambria" panose="02040503050406030204" pitchFamily="18" charset="0"/>
                <a:ea typeface="Cambria" panose="02040503050406030204" pitchFamily="18" charset="0"/>
              </a:rPr>
              <a:t>Rajeeb</a:t>
            </a:r>
            <a:r>
              <a:rPr lang="en-IN" sz="2000" dirty="0">
                <a:latin typeface="Cambria" panose="02040503050406030204" pitchFamily="18" charset="0"/>
                <a:ea typeface="Cambria" panose="02040503050406030204" pitchFamily="18" charset="0"/>
              </a:rPr>
              <a:t> </a:t>
            </a:r>
            <a:r>
              <a:rPr lang="en-IN" sz="2000" dirty="0" err="1">
                <a:latin typeface="Cambria" panose="02040503050406030204" pitchFamily="18" charset="0"/>
                <a:ea typeface="Cambria" panose="02040503050406030204" pitchFamily="18" charset="0"/>
              </a:rPr>
              <a:t>Dey</a:t>
            </a:r>
            <a:r>
              <a:rPr lang="en-IN" sz="2000" dirty="0">
                <a:latin typeface="Cambria" panose="02040503050406030204" pitchFamily="18" charset="0"/>
                <a:ea typeface="Cambria" panose="02040503050406030204" pitchFamily="18" charset="0"/>
              </a:rPr>
              <a:t>, Valentina E. </a:t>
            </a:r>
            <a:r>
              <a:rPr lang="en-IN" sz="2000" dirty="0" err="1">
                <a:latin typeface="Cambria" panose="02040503050406030204" pitchFamily="18" charset="0"/>
                <a:ea typeface="Cambria" panose="02040503050406030204" pitchFamily="18" charset="0"/>
              </a:rPr>
              <a:t>Balas</a:t>
            </a:r>
            <a:r>
              <a:rPr lang="en-IN" sz="2000" dirty="0">
                <a:latin typeface="Cambria" panose="02040503050406030204" pitchFamily="18" charset="0"/>
                <a:ea typeface="Cambria" panose="02040503050406030204" pitchFamily="18" charset="0"/>
              </a:rPr>
              <a:t> “Engineering Research Methodology”, ISSN 1868-4394 ISSN 1868-4408 (electronic), Intelligent Systems Reference Library, ISBN 978-981-13-2946-3 ISBN 978-981-13-2947-0 (eBook), </a:t>
            </a:r>
            <a:r>
              <a:rPr lang="en-IN" sz="2000" u="sng" dirty="0">
                <a:latin typeface="Cambria" panose="02040503050406030204" pitchFamily="18" charset="0"/>
                <a:ea typeface="Cambria" panose="02040503050406030204" pitchFamily="18" charset="0"/>
                <a:hlinkClick r:id="rId2"/>
              </a:rPr>
              <a:t>https://doi.org/10.1007/978-981-13-2947-0</a:t>
            </a:r>
            <a:r>
              <a:rPr lang="en-IN" sz="2000" dirty="0">
                <a:latin typeface="Cambria" panose="02040503050406030204" pitchFamily="18" charset="0"/>
                <a:ea typeface="Cambria" panose="02040503050406030204" pitchFamily="18" charset="0"/>
              </a:rPr>
              <a:t>.</a:t>
            </a:r>
          </a:p>
        </p:txBody>
      </p:sp>
      <p:sp>
        <p:nvSpPr>
          <p:cNvPr id="3" name="object 2">
            <a:extLst>
              <a:ext uri="{FF2B5EF4-FFF2-40B4-BE49-F238E27FC236}">
                <a16:creationId xmlns:a16="http://schemas.microsoft.com/office/drawing/2014/main" id="{0D0441E3-0397-2339-308E-2B11D921591E}"/>
              </a:ext>
            </a:extLst>
          </p:cNvPr>
          <p:cNvSpPr txBox="1">
            <a:spLocks/>
          </p:cNvSpPr>
          <p:nvPr/>
        </p:nvSpPr>
        <p:spPr>
          <a:xfrm>
            <a:off x="0" y="3744312"/>
            <a:ext cx="9144000" cy="751488"/>
          </a:xfrm>
          <a:prstGeom prst="rect">
            <a:avLst/>
          </a:prstGeom>
          <a:solidFill>
            <a:schemeClr val="accent1">
              <a:lumMod val="40000"/>
              <a:lumOff val="60000"/>
            </a:schemeClr>
          </a:solidFill>
        </p:spPr>
        <p:txBody>
          <a:bodyPr vert="horz" wrap="square" lIns="0" tIns="12700" rIns="0" bIns="0" rtlCol="0">
            <a:spAutoFit/>
          </a:bodyPr>
          <a:lstStyle>
            <a:lvl1pPr>
              <a:defRPr sz="4400" b="0" i="0">
                <a:solidFill>
                  <a:schemeClr val="tx1"/>
                </a:solidFill>
                <a:latin typeface="Calibri"/>
                <a:ea typeface="+mj-ea"/>
                <a:cs typeface="Calibri"/>
              </a:defRPr>
            </a:lvl1pPr>
          </a:lstStyle>
          <a:p>
            <a:pPr algn="ctr"/>
            <a:r>
              <a:rPr lang="en-IN" sz="4800" b="1" kern="0" dirty="0">
                <a:solidFill>
                  <a:srgbClr val="C00000"/>
                </a:solidFill>
                <a:latin typeface="Arial" panose="020B0604020202020204" pitchFamily="34" charset="0"/>
                <a:cs typeface="Arial" panose="020B0604020202020204" pitchFamily="34" charset="0"/>
              </a:rPr>
              <a:t>Reference Books</a:t>
            </a:r>
          </a:p>
        </p:txBody>
      </p:sp>
      <p:sp>
        <p:nvSpPr>
          <p:cNvPr id="4" name="TextBox 3">
            <a:extLst>
              <a:ext uri="{FF2B5EF4-FFF2-40B4-BE49-F238E27FC236}">
                <a16:creationId xmlns:a16="http://schemas.microsoft.com/office/drawing/2014/main" id="{0A05D842-9538-46DF-3D74-B130FBA2273C}"/>
              </a:ext>
            </a:extLst>
          </p:cNvPr>
          <p:cNvSpPr txBox="1"/>
          <p:nvPr/>
        </p:nvSpPr>
        <p:spPr>
          <a:xfrm>
            <a:off x="534243" y="4763869"/>
            <a:ext cx="8136475" cy="707886"/>
          </a:xfrm>
          <a:prstGeom prst="rect">
            <a:avLst/>
          </a:prstGeom>
          <a:noFill/>
        </p:spPr>
        <p:txBody>
          <a:bodyPr wrap="square">
            <a:spAutoFit/>
          </a:bodyPr>
          <a:lstStyle/>
          <a:p>
            <a:pPr marL="342900" indent="-342900" algn="just">
              <a:spcBef>
                <a:spcPts val="600"/>
              </a:spcBef>
              <a:spcAft>
                <a:spcPts val="600"/>
              </a:spcAft>
              <a:buFont typeface="+mj-lt"/>
              <a:buAutoNum type="arabicPeriod"/>
            </a:pPr>
            <a:r>
              <a:rPr lang="en-IN" sz="2000" dirty="0">
                <a:latin typeface="Cambria" panose="02040503050406030204" pitchFamily="18" charset="0"/>
                <a:ea typeface="Cambria" panose="02040503050406030204" pitchFamily="18" charset="0"/>
              </a:rPr>
              <a:t>David V. </a:t>
            </a:r>
            <a:r>
              <a:rPr lang="en-IN" sz="2000" dirty="0" err="1">
                <a:latin typeface="Cambria" panose="02040503050406030204" pitchFamily="18" charset="0"/>
                <a:ea typeface="Cambria" panose="02040503050406030204" pitchFamily="18" charset="0"/>
              </a:rPr>
              <a:t>Thiel</a:t>
            </a:r>
            <a:r>
              <a:rPr lang="en-IN" sz="2000" dirty="0">
                <a:latin typeface="Cambria" panose="02040503050406030204" pitchFamily="18" charset="0"/>
                <a:ea typeface="Cambria" panose="02040503050406030204" pitchFamily="18" charset="0"/>
              </a:rPr>
              <a:t> “Research Methods for Engineers” Cambridge University Press, 978-1-107-03488-4</a:t>
            </a:r>
            <a:endParaRPr lang="en-US" sz="20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2649668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6</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b="1" dirty="0">
                <a:solidFill>
                  <a:srgbClr val="C00000"/>
                </a:solidFill>
                <a:latin typeface="Arial" panose="020B0604020202020204" pitchFamily="34" charset="0"/>
                <a:cs typeface="Arial" panose="020B0604020202020204" pitchFamily="34" charset="0"/>
              </a:rPr>
              <a:t>Course Outcomes</a:t>
            </a:r>
            <a:endParaRPr sz="48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857339"/>
            <a:ext cx="8136475" cy="4324261"/>
          </a:xfrm>
          <a:prstGeom prst="rect">
            <a:avLst/>
          </a:prstGeom>
          <a:noFill/>
        </p:spPr>
        <p:txBody>
          <a:bodyPr wrap="square">
            <a:spAutoFit/>
          </a:bodyPr>
          <a:lstStyle/>
          <a:p>
            <a:pPr algn="just">
              <a:spcBef>
                <a:spcPts val="600"/>
              </a:spcBef>
              <a:spcAft>
                <a:spcPts val="600"/>
              </a:spcAft>
            </a:pPr>
            <a:r>
              <a:rPr lang="en-US" sz="2000" dirty="0">
                <a:latin typeface="Cambria" panose="02040503050406030204" pitchFamily="18" charset="0"/>
                <a:ea typeface="Cambria" panose="02040503050406030204" pitchFamily="18" charset="0"/>
                <a:cs typeface="Times New Roman" panose="02020603050405020304" pitchFamily="18" charset="0"/>
              </a:rPr>
              <a:t>At the end of the course, the student will be able </a:t>
            </a:r>
            <a:r>
              <a:rPr lang="en-US" sz="2000" dirty="0" smtClean="0">
                <a:latin typeface="Cambria" panose="02040503050406030204" pitchFamily="18" charset="0"/>
                <a:ea typeface="Cambria" panose="02040503050406030204" pitchFamily="18" charset="0"/>
                <a:cs typeface="Times New Roman" panose="02020603050405020304" pitchFamily="18" charset="0"/>
              </a:rPr>
              <a:t>to</a:t>
            </a:r>
          </a:p>
          <a:p>
            <a:pPr algn="just">
              <a:spcBef>
                <a:spcPts val="600"/>
              </a:spcBef>
              <a:spcAft>
                <a:spcPts val="600"/>
              </a:spcAft>
            </a:pPr>
            <a:endParaRPr lang="en-US" sz="2000" dirty="0">
              <a:latin typeface="Cambria" panose="02040503050406030204" pitchFamily="18" charset="0"/>
              <a:ea typeface="Cambria" panose="02040503050406030204" pitchFamily="18" charset="0"/>
              <a:cs typeface="Times New Roman" panose="02020603050405020304" pitchFamily="18" charset="0"/>
            </a:endParaRPr>
          </a:p>
          <a:p>
            <a:r>
              <a:rPr lang="en-IN" sz="2000" b="1" dirty="0">
                <a:latin typeface="Cambria" panose="02040503050406030204" pitchFamily="18" charset="0"/>
                <a:ea typeface="Cambria" panose="02040503050406030204" pitchFamily="18" charset="0"/>
              </a:rPr>
              <a:t>CO1: </a:t>
            </a:r>
            <a:r>
              <a:rPr lang="en-IN" sz="2000" dirty="0">
                <a:latin typeface="Cambria" panose="02040503050406030204" pitchFamily="18" charset="0"/>
                <a:ea typeface="Cambria" panose="02040503050406030204" pitchFamily="18" charset="0"/>
              </a:rPr>
              <a:t>Possess the knowledge of research and conduct a literature review</a:t>
            </a:r>
            <a:r>
              <a:rPr lang="en-IN" sz="2000" b="1" dirty="0">
                <a:latin typeface="Cambria" panose="02040503050406030204" pitchFamily="18" charset="0"/>
                <a:ea typeface="Cambria" panose="02040503050406030204" pitchFamily="18" charset="0"/>
              </a:rPr>
              <a:t>.</a:t>
            </a:r>
            <a:r>
              <a:rPr lang="en-IN" sz="2000" dirty="0">
                <a:latin typeface="Cambria" panose="02040503050406030204" pitchFamily="18" charset="0"/>
                <a:ea typeface="Cambria" panose="02040503050406030204" pitchFamily="18" charset="0"/>
              </a:rPr>
              <a:t> </a:t>
            </a:r>
          </a:p>
          <a:p>
            <a:endParaRPr lang="en-IN" sz="2000" b="1" dirty="0" smtClean="0">
              <a:latin typeface="Cambria" panose="02040503050406030204" pitchFamily="18" charset="0"/>
              <a:ea typeface="Cambria" panose="02040503050406030204" pitchFamily="18" charset="0"/>
            </a:endParaRPr>
          </a:p>
          <a:p>
            <a:r>
              <a:rPr lang="en-IN" sz="2000" b="1" dirty="0" smtClean="0">
                <a:latin typeface="Cambria" panose="02040503050406030204" pitchFamily="18" charset="0"/>
                <a:ea typeface="Cambria" panose="02040503050406030204" pitchFamily="18" charset="0"/>
              </a:rPr>
              <a:t>CO2</a:t>
            </a:r>
            <a:r>
              <a:rPr lang="en-IN" sz="2000" b="1"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Apply the knowledge of research design and design of experiments. </a:t>
            </a:r>
          </a:p>
          <a:p>
            <a:endParaRPr lang="en-IN" sz="2000" b="1" dirty="0" smtClean="0">
              <a:latin typeface="Cambria" panose="02040503050406030204" pitchFamily="18" charset="0"/>
              <a:ea typeface="Cambria" panose="02040503050406030204" pitchFamily="18" charset="0"/>
            </a:endParaRPr>
          </a:p>
          <a:p>
            <a:r>
              <a:rPr lang="en-IN" sz="2000" b="1" dirty="0" smtClean="0">
                <a:latin typeface="Cambria" panose="02040503050406030204" pitchFamily="18" charset="0"/>
                <a:ea typeface="Cambria" panose="02040503050406030204" pitchFamily="18" charset="0"/>
              </a:rPr>
              <a:t>CO3</a:t>
            </a:r>
            <a:r>
              <a:rPr lang="en-IN" sz="2000" b="1"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Analyse data collection methods, analysis, and sampling design</a:t>
            </a:r>
            <a:r>
              <a:rPr lang="en-IN" sz="2000" dirty="0" smtClean="0">
                <a:latin typeface="Cambria" panose="02040503050406030204" pitchFamily="18" charset="0"/>
                <a:ea typeface="Cambria" panose="02040503050406030204" pitchFamily="18" charset="0"/>
              </a:rPr>
              <a:t>.</a:t>
            </a:r>
            <a:endParaRPr lang="en-IN" sz="2000" dirty="0">
              <a:latin typeface="Cambria" panose="02040503050406030204" pitchFamily="18" charset="0"/>
              <a:ea typeface="Cambria" panose="02040503050406030204" pitchFamily="18" charset="0"/>
            </a:endParaRPr>
          </a:p>
          <a:p>
            <a:endParaRPr lang="en-IN" sz="2000" b="1" dirty="0" smtClean="0">
              <a:latin typeface="Cambria" panose="02040503050406030204" pitchFamily="18" charset="0"/>
              <a:ea typeface="Cambria" panose="02040503050406030204" pitchFamily="18" charset="0"/>
            </a:endParaRPr>
          </a:p>
          <a:p>
            <a:r>
              <a:rPr lang="en-IN" sz="2000" b="1" dirty="0" smtClean="0">
                <a:latin typeface="Cambria" panose="02040503050406030204" pitchFamily="18" charset="0"/>
                <a:ea typeface="Cambria" panose="02040503050406030204" pitchFamily="18" charset="0"/>
              </a:rPr>
              <a:t>CO4</a:t>
            </a:r>
            <a:r>
              <a:rPr lang="en-IN" sz="2000" b="1" dirty="0">
                <a:latin typeface="Cambria" panose="02040503050406030204" pitchFamily="18" charset="0"/>
                <a:ea typeface="Cambria" panose="02040503050406030204" pitchFamily="18" charset="0"/>
              </a:rPr>
              <a:t>:</a:t>
            </a:r>
            <a:r>
              <a:rPr lang="en-IN" sz="2000" dirty="0">
                <a:latin typeface="Cambria" panose="02040503050406030204" pitchFamily="18" charset="0"/>
                <a:ea typeface="Cambria" panose="02040503050406030204" pitchFamily="18" charset="0"/>
              </a:rPr>
              <a:t> Understand the global and Indian scenarios of patents and patent applications. </a:t>
            </a:r>
          </a:p>
          <a:p>
            <a:endParaRPr lang="en-IN" sz="2000" b="1" dirty="0" smtClean="0">
              <a:latin typeface="Cambria" panose="02040503050406030204" pitchFamily="18" charset="0"/>
              <a:ea typeface="Cambria" panose="02040503050406030204" pitchFamily="18" charset="0"/>
            </a:endParaRPr>
          </a:p>
          <a:p>
            <a:r>
              <a:rPr lang="en-IN" sz="2000" b="1" dirty="0" smtClean="0">
                <a:latin typeface="Cambria" panose="02040503050406030204" pitchFamily="18" charset="0"/>
                <a:ea typeface="Cambria" panose="02040503050406030204" pitchFamily="18" charset="0"/>
              </a:rPr>
              <a:t>CO5</a:t>
            </a:r>
            <a:r>
              <a:rPr lang="en-IN" sz="2000" b="1" dirty="0">
                <a:latin typeface="Cambria" panose="02040503050406030204" pitchFamily="18" charset="0"/>
                <a:ea typeface="Cambria" panose="02040503050406030204" pitchFamily="18" charset="0"/>
              </a:rPr>
              <a:t>: </a:t>
            </a:r>
            <a:r>
              <a:rPr lang="en-IN" sz="2000" dirty="0">
                <a:latin typeface="Cambria" panose="02040503050406030204" pitchFamily="18" charset="0"/>
                <a:ea typeface="Cambria" panose="02040503050406030204" pitchFamily="18" charset="0"/>
              </a:rPr>
              <a:t>Acquire the requirements of registration and infringements related to trademarks, copyrights, and designs</a:t>
            </a:r>
            <a:r>
              <a:rPr lang="en-IN" sz="2000" dirty="0" smtClean="0">
                <a:latin typeface="Cambria" panose="02040503050406030204" pitchFamily="18" charset="0"/>
                <a:ea typeface="Cambria" panose="02040503050406030204" pitchFamily="18" charset="0"/>
              </a:rPr>
              <a:t>.</a:t>
            </a:r>
            <a:endParaRPr lang="en-US" sz="20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629598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4669" y="1840230"/>
            <a:ext cx="8074660" cy="1969770"/>
          </a:xfrm>
        </p:spPr>
        <p:txBody>
          <a:bodyPr/>
          <a:lstStyle/>
          <a:p>
            <a:pPr algn="ctr"/>
            <a:r>
              <a:rPr lang="en-US" sz="4400" dirty="0" smtClean="0"/>
              <a:t>UNIT- 1</a:t>
            </a:r>
          </a:p>
          <a:p>
            <a:pPr algn="ctr"/>
            <a:endParaRPr lang="en-US" sz="4400" dirty="0" smtClean="0"/>
          </a:p>
          <a:p>
            <a:pPr algn="ctr"/>
            <a:r>
              <a:rPr lang="en-US" sz="4000" dirty="0" smtClean="0"/>
              <a:t>Introduction to Research Methodology</a:t>
            </a:r>
            <a:endParaRPr lang="en-IN" sz="4000" dirty="0"/>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7</a:t>
            </a:fld>
            <a:endParaRPr lang="en-IN" dirty="0"/>
          </a:p>
        </p:txBody>
      </p:sp>
    </p:spTree>
    <p:extLst>
      <p:ext uri="{BB962C8B-B14F-4D97-AF65-F5344CB8AC3E}">
        <p14:creationId xmlns:p14="http://schemas.microsoft.com/office/powerpoint/2010/main" val="5952277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8</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US" sz="4800" dirty="0">
                <a:solidFill>
                  <a:srgbClr val="FF0000"/>
                </a:solidFill>
              </a:rPr>
              <a:t>Need for Undergraduate Research</a:t>
            </a:r>
            <a:endParaRPr lang="en-IN" sz="4800" dirty="0">
              <a:solidFill>
                <a:srgbClr val="FF0000"/>
              </a:solidFill>
              <a:latin typeface="Arial" panose="020B0604020202020204" pitchFamily="34" charset="0"/>
              <a:cs typeface="Arial" panose="020B0604020202020204" pitchFamily="34" charset="0"/>
            </a:endParaRPr>
          </a:p>
        </p:txBody>
      </p:sp>
      <p:sp>
        <p:nvSpPr>
          <p:cNvPr id="3" name="Rectangle 2"/>
          <p:cNvSpPr/>
          <p:nvPr/>
        </p:nvSpPr>
        <p:spPr>
          <a:xfrm>
            <a:off x="581526" y="1143000"/>
            <a:ext cx="8023986" cy="3170099"/>
          </a:xfrm>
          <a:prstGeom prst="rect">
            <a:avLst/>
          </a:prstGeom>
        </p:spPr>
        <p:txBody>
          <a:bodyPr wrap="square">
            <a:spAutoFit/>
          </a:bodyPr>
          <a:lstStyle/>
          <a:p>
            <a:pPr algn="just"/>
            <a:r>
              <a:rPr lang="en-US" sz="4000" dirty="0">
                <a:latin typeface="Cambria" panose="02040503050406030204" pitchFamily="18" charset="0"/>
                <a:ea typeface="Cambria" panose="02040503050406030204" pitchFamily="18" charset="0"/>
              </a:rPr>
              <a:t>Doing research as an undergraduate student is not only great for your CV, but it hones your critical thinking and problem-solving skills too.</a:t>
            </a:r>
            <a:endParaRPr lang="en-IN" sz="4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728101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9</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dirty="0">
                <a:solidFill>
                  <a:srgbClr val="FF0000"/>
                </a:solidFill>
                <a:latin typeface="Arial" panose="020B0604020202020204" pitchFamily="34" charset="0"/>
                <a:cs typeface="Arial" panose="020B0604020202020204" pitchFamily="34" charset="0"/>
              </a:rPr>
              <a:t>Meaning of Research</a:t>
            </a: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762000"/>
            <a:ext cx="8136475" cy="5863144"/>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The Advanced Learner’s Dictionary of Current English: </a:t>
            </a:r>
            <a:r>
              <a:rPr lang="en-US" sz="2000" dirty="0">
                <a:latin typeface="Cambria" panose="02040503050406030204" pitchFamily="18" charset="0"/>
                <a:ea typeface="Cambria" panose="02040503050406030204" pitchFamily="18" charset="0"/>
                <a:cs typeface="Times New Roman" panose="02020603050405020304" pitchFamily="18" charset="0"/>
              </a:rPr>
              <a:t>“A careful investigation or inquiry specially through search for new facts in any branch of knowledge.”</a:t>
            </a:r>
          </a:p>
          <a:p>
            <a:pPr algn="ctr">
              <a:spcBef>
                <a:spcPts val="600"/>
              </a:spcBef>
              <a:spcAft>
                <a:spcPts val="600"/>
              </a:spcAft>
            </a:pPr>
            <a:r>
              <a:rPr lang="en-US" sz="2000" dirty="0">
                <a:latin typeface="Cambria" panose="02040503050406030204" pitchFamily="18" charset="0"/>
                <a:ea typeface="Cambria" panose="02040503050406030204" pitchFamily="18" charset="0"/>
                <a:cs typeface="Times New Roman" panose="02020603050405020304" pitchFamily="18" charset="0"/>
              </a:rPr>
              <a:t>Or</a:t>
            </a:r>
          </a:p>
          <a:p>
            <a:pPr marL="342900" indent="-3429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Redman and </a:t>
            </a:r>
            <a:r>
              <a:rPr lang="en-US" sz="2000" b="1" dirty="0" err="1">
                <a:latin typeface="Cambria" panose="02040503050406030204" pitchFamily="18" charset="0"/>
                <a:ea typeface="Cambria" panose="02040503050406030204" pitchFamily="18" charset="0"/>
                <a:cs typeface="Times New Roman" panose="02020603050405020304" pitchFamily="18" charset="0"/>
              </a:rPr>
              <a:t>Mory</a:t>
            </a:r>
            <a:r>
              <a:rPr lang="en-US" sz="2000" b="1" dirty="0">
                <a:latin typeface="Cambria" panose="02040503050406030204" pitchFamily="18" charset="0"/>
                <a:ea typeface="Cambria" panose="02040503050406030204" pitchFamily="18" charset="0"/>
                <a:cs typeface="Times New Roman" panose="02020603050405020304" pitchFamily="18" charset="0"/>
              </a:rPr>
              <a:t>: </a:t>
            </a:r>
            <a:r>
              <a:rPr lang="en-US" sz="2000" dirty="0">
                <a:latin typeface="Cambria" panose="02040503050406030204" pitchFamily="18" charset="0"/>
                <a:ea typeface="Cambria" panose="02040503050406030204" pitchFamily="18" charset="0"/>
                <a:cs typeface="Times New Roman" panose="02020603050405020304" pitchFamily="18" charset="0"/>
              </a:rPr>
              <a:t>“A systematized effort to gain new knowledge.”</a:t>
            </a:r>
          </a:p>
          <a:p>
            <a:pPr algn="ctr">
              <a:spcBef>
                <a:spcPts val="600"/>
              </a:spcBef>
              <a:spcAft>
                <a:spcPts val="600"/>
              </a:spcAft>
            </a:pPr>
            <a:r>
              <a:rPr lang="en-US" sz="2000" dirty="0">
                <a:latin typeface="Cambria" panose="02040503050406030204" pitchFamily="18" charset="0"/>
                <a:ea typeface="Cambria" panose="02040503050406030204" pitchFamily="18" charset="0"/>
                <a:cs typeface="Times New Roman" panose="02020603050405020304" pitchFamily="18" charset="0"/>
              </a:rPr>
              <a:t>Or</a:t>
            </a:r>
          </a:p>
          <a:p>
            <a:pPr marL="342900" indent="-3429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Encyclopedia of Social Sciences: </a:t>
            </a:r>
            <a:r>
              <a:rPr lang="en-US" sz="2000" dirty="0">
                <a:latin typeface="Cambria" panose="02040503050406030204" pitchFamily="18" charset="0"/>
                <a:ea typeface="Cambria" panose="02040503050406030204" pitchFamily="18" charset="0"/>
                <a:cs typeface="Times New Roman" panose="02020603050405020304" pitchFamily="18" charset="0"/>
              </a:rPr>
              <a:t>“The manipulation of things, concepts or symbols for the purpose of generalizing to extend, correct or verify knowledge, whether that knowledge aids in construction of theory or in the practice of an art.”</a:t>
            </a:r>
          </a:p>
          <a:p>
            <a:pPr algn="ctr">
              <a:spcBef>
                <a:spcPts val="600"/>
              </a:spcBef>
              <a:spcAft>
                <a:spcPts val="600"/>
              </a:spcAft>
            </a:pPr>
            <a:r>
              <a:rPr lang="en-US" sz="2000" dirty="0">
                <a:latin typeface="Cambria" panose="02040503050406030204" pitchFamily="18" charset="0"/>
                <a:ea typeface="Cambria" panose="02040503050406030204" pitchFamily="18" charset="0"/>
                <a:cs typeface="Times New Roman" panose="02020603050405020304" pitchFamily="18" charset="0"/>
              </a:rPr>
              <a:t>Or</a:t>
            </a:r>
          </a:p>
          <a:p>
            <a:pPr marL="342900" indent="-342900" algn="just">
              <a:buFont typeface="Wingdings" panose="05000000000000000000" pitchFamily="2" charset="2"/>
              <a:buChar char="v"/>
            </a:pPr>
            <a:r>
              <a:rPr lang="en-US" sz="2000" dirty="0">
                <a:latin typeface="Cambria" panose="02040503050406030204" pitchFamily="18" charset="0"/>
                <a:ea typeface="Cambria" panose="02040503050406030204" pitchFamily="18" charset="0"/>
              </a:rPr>
              <a:t>Research refers to a careful, well-defined (or redefined), objective, and </a:t>
            </a:r>
            <a:r>
              <a:rPr lang="en-US" sz="2000" dirty="0" smtClean="0">
                <a:latin typeface="Cambria" panose="02040503050406030204" pitchFamily="18" charset="0"/>
                <a:ea typeface="Cambria" panose="02040503050406030204" pitchFamily="18" charset="0"/>
              </a:rPr>
              <a:t>systematic method </a:t>
            </a:r>
            <a:r>
              <a:rPr lang="en-US" sz="2000" dirty="0">
                <a:latin typeface="Cambria" panose="02040503050406030204" pitchFamily="18" charset="0"/>
                <a:ea typeface="Cambria" panose="02040503050406030204" pitchFamily="18" charset="0"/>
              </a:rPr>
              <a:t>of search for knowledge, or formulation of a theory that is driven by </a:t>
            </a:r>
            <a:r>
              <a:rPr lang="en-US" sz="2000" dirty="0" smtClean="0">
                <a:latin typeface="Cambria" panose="02040503050406030204" pitchFamily="18" charset="0"/>
                <a:ea typeface="Cambria" panose="02040503050406030204" pitchFamily="18" charset="0"/>
              </a:rPr>
              <a:t>inquisitiveness for </a:t>
            </a:r>
            <a:r>
              <a:rPr lang="en-US" sz="2000" dirty="0">
                <a:latin typeface="Cambria" panose="02040503050406030204" pitchFamily="18" charset="0"/>
                <a:ea typeface="Cambria" panose="02040503050406030204" pitchFamily="18" charset="0"/>
              </a:rPr>
              <a:t>that which is unknown and useful on a particular aspect so as to </a:t>
            </a:r>
            <a:r>
              <a:rPr lang="en-US" sz="2000" dirty="0" smtClean="0">
                <a:latin typeface="Cambria" panose="02040503050406030204" pitchFamily="18" charset="0"/>
                <a:ea typeface="Cambria" panose="02040503050406030204" pitchFamily="18" charset="0"/>
              </a:rPr>
              <a:t>make an </a:t>
            </a:r>
            <a:r>
              <a:rPr lang="en-US" sz="2000" dirty="0">
                <a:latin typeface="Cambria" panose="02040503050406030204" pitchFamily="18" charset="0"/>
                <a:ea typeface="Cambria" panose="02040503050406030204" pitchFamily="18" charset="0"/>
              </a:rPr>
              <a:t>original contribution to expand the existing knowledge base.</a:t>
            </a:r>
            <a:endParaRPr lang="en-US" sz="2400"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26760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28600"/>
            <a:ext cx="5715000" cy="677108"/>
          </a:xfrm>
        </p:spPr>
        <p:txBody>
          <a:bodyPr/>
          <a:lstStyle/>
          <a:p>
            <a:pPr algn="ctr"/>
            <a:r>
              <a:rPr lang="en-US" dirty="0" smtClean="0">
                <a:solidFill>
                  <a:srgbClr val="FF0000"/>
                </a:solidFill>
              </a:rPr>
              <a:t>Research Flow Diagram</a:t>
            </a:r>
            <a:endParaRPr lang="en-IN" dirty="0">
              <a:solidFill>
                <a:srgbClr val="FF0000"/>
              </a:solidFill>
            </a:endParaRPr>
          </a:p>
        </p:txBody>
      </p:sp>
      <p:pic>
        <p:nvPicPr>
          <p:cNvPr id="5" name="Picture 4"/>
          <p:cNvPicPr>
            <a:picLocks noChangeAspect="1"/>
          </p:cNvPicPr>
          <p:nvPr/>
        </p:nvPicPr>
        <p:blipFill>
          <a:blip r:embed="rId2"/>
          <a:stretch>
            <a:fillRect/>
          </a:stretch>
        </p:blipFill>
        <p:spPr>
          <a:xfrm>
            <a:off x="1015037" y="1371206"/>
            <a:ext cx="6400800" cy="5253665"/>
          </a:xfrm>
          <a:prstGeom prst="rect">
            <a:avLst/>
          </a:prstGeom>
        </p:spPr>
      </p:pic>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10</a:t>
            </a:fld>
            <a:endParaRPr lang="en-IN" dirty="0"/>
          </a:p>
        </p:txBody>
      </p:sp>
    </p:spTree>
    <p:extLst>
      <p:ext uri="{BB962C8B-B14F-4D97-AF65-F5344CB8AC3E}">
        <p14:creationId xmlns:p14="http://schemas.microsoft.com/office/powerpoint/2010/main" val="10892883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6314"/>
            <a:ext cx="7772400" cy="553998"/>
          </a:xfrm>
        </p:spPr>
        <p:txBody>
          <a:bodyPr/>
          <a:lstStyle/>
          <a:p>
            <a:pPr algn="ctr"/>
            <a:r>
              <a:rPr lang="en-US" sz="3600" dirty="0">
                <a:solidFill>
                  <a:srgbClr val="FF0000"/>
                </a:solidFill>
              </a:rPr>
              <a:t>The categories of knowledge in research</a:t>
            </a:r>
            <a:endParaRPr lang="en-IN" sz="3600" dirty="0">
              <a:solidFill>
                <a:srgbClr val="FF0000"/>
              </a:solidFill>
            </a:endParaRPr>
          </a:p>
        </p:txBody>
      </p:sp>
      <p:pic>
        <p:nvPicPr>
          <p:cNvPr id="5" name="Picture 4"/>
          <p:cNvPicPr>
            <a:picLocks noChangeAspect="1"/>
          </p:cNvPicPr>
          <p:nvPr/>
        </p:nvPicPr>
        <p:blipFill>
          <a:blip r:embed="rId2"/>
          <a:stretch>
            <a:fillRect/>
          </a:stretch>
        </p:blipFill>
        <p:spPr>
          <a:xfrm>
            <a:off x="1325459" y="1066800"/>
            <a:ext cx="5913542" cy="5771400"/>
          </a:xfrm>
          <a:prstGeom prst="rect">
            <a:avLst/>
          </a:prstGeom>
        </p:spPr>
      </p:pic>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11</a:t>
            </a:fld>
            <a:endParaRPr lang="en-IN" dirty="0"/>
          </a:p>
        </p:txBody>
      </p:sp>
    </p:spTree>
    <p:extLst>
      <p:ext uri="{BB962C8B-B14F-4D97-AF65-F5344CB8AC3E}">
        <p14:creationId xmlns:p14="http://schemas.microsoft.com/office/powerpoint/2010/main" val="13439368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4669" y="457200"/>
            <a:ext cx="8074660" cy="5170646"/>
          </a:xfrm>
        </p:spPr>
        <p:txBody>
          <a:bodyPr/>
          <a:lstStyle/>
          <a:p>
            <a:pPr marL="457200" indent="-457200" algn="just">
              <a:buFont typeface="Wingdings" panose="05000000000000000000" pitchFamily="2" charset="2"/>
              <a:buChar char="v"/>
            </a:pPr>
            <a:r>
              <a:rPr lang="en-US" sz="2800" dirty="0">
                <a:latin typeface="Cambria" panose="02040503050406030204" pitchFamily="18" charset="0"/>
                <a:ea typeface="Cambria" panose="02040503050406030204" pitchFamily="18" charset="0"/>
              </a:rPr>
              <a:t>Good research involves systematic collection and analysis of information and </a:t>
            </a:r>
            <a:r>
              <a:rPr lang="en-US" sz="2800" dirty="0" smtClean="0">
                <a:latin typeface="Cambria" panose="02040503050406030204" pitchFamily="18" charset="0"/>
                <a:ea typeface="Cambria" panose="02040503050406030204" pitchFamily="18" charset="0"/>
              </a:rPr>
              <a:t>is followed </a:t>
            </a:r>
            <a:r>
              <a:rPr lang="en-US" sz="2800" dirty="0">
                <a:latin typeface="Cambria" panose="02040503050406030204" pitchFamily="18" charset="0"/>
                <a:ea typeface="Cambria" panose="02040503050406030204" pitchFamily="18" charset="0"/>
              </a:rPr>
              <a:t>by an attempt to infer a little bit beyond the already known information in </a:t>
            </a:r>
            <a:r>
              <a:rPr lang="en-US" sz="2800" dirty="0" smtClean="0">
                <a:latin typeface="Cambria" panose="02040503050406030204" pitchFamily="18" charset="0"/>
                <a:ea typeface="Cambria" panose="02040503050406030204" pitchFamily="18" charset="0"/>
              </a:rPr>
              <a:t>a way </a:t>
            </a:r>
            <a:r>
              <a:rPr lang="en-US" sz="2800" dirty="0">
                <a:latin typeface="Cambria" panose="02040503050406030204" pitchFamily="18" charset="0"/>
                <a:ea typeface="Cambria" panose="02040503050406030204" pitchFamily="18" charset="0"/>
              </a:rPr>
              <a:t>that is a significant value addition. </a:t>
            </a:r>
          </a:p>
          <a:p>
            <a:pPr marL="457200" indent="-457200" algn="just">
              <a:buFont typeface="Wingdings" panose="05000000000000000000" pitchFamily="2" charset="2"/>
              <a:buChar char="v"/>
            </a:pPr>
            <a:r>
              <a:rPr lang="en-US" sz="2800" dirty="0" smtClean="0">
                <a:latin typeface="Cambria" panose="02040503050406030204" pitchFamily="18" charset="0"/>
                <a:ea typeface="Cambria" panose="02040503050406030204" pitchFamily="18" charset="0"/>
              </a:rPr>
              <a:t>Usually</a:t>
            </a:r>
            <a:r>
              <a:rPr lang="en-US" sz="2800" dirty="0">
                <a:latin typeface="Cambria" panose="02040503050406030204" pitchFamily="18" charset="0"/>
                <a:ea typeface="Cambria" panose="02040503050406030204" pitchFamily="18" charset="0"/>
              </a:rPr>
              <a:t>, engineering research is a journey </a:t>
            </a:r>
            <a:r>
              <a:rPr lang="en-US" sz="2800" dirty="0" smtClean="0">
                <a:latin typeface="Cambria" panose="02040503050406030204" pitchFamily="18" charset="0"/>
                <a:ea typeface="Cambria" panose="02040503050406030204" pitchFamily="18" charset="0"/>
              </a:rPr>
              <a:t>that traverses </a:t>
            </a:r>
            <a:r>
              <a:rPr lang="en-US" sz="2800" dirty="0">
                <a:latin typeface="Cambria" panose="02040503050406030204" pitchFamily="18" charset="0"/>
                <a:ea typeface="Cambria" panose="02040503050406030204" pitchFamily="18" charset="0"/>
              </a:rPr>
              <a:t>from a research area (example: Control Systems), to the topic (</a:t>
            </a:r>
            <a:r>
              <a:rPr lang="en-US" sz="2800" dirty="0" smtClean="0">
                <a:latin typeface="Cambria" panose="02040503050406030204" pitchFamily="18" charset="0"/>
                <a:ea typeface="Cambria" panose="02040503050406030204" pitchFamily="18" charset="0"/>
              </a:rPr>
              <a:t>example: Control </a:t>
            </a:r>
            <a:r>
              <a:rPr lang="en-US" sz="2800" dirty="0">
                <a:latin typeface="Cambria" panose="02040503050406030204" pitchFamily="18" charset="0"/>
                <a:ea typeface="Cambria" panose="02040503050406030204" pitchFamily="18" charset="0"/>
              </a:rPr>
              <a:t>of Microbial Fuel Cells) and finally onto the problem (example: </a:t>
            </a:r>
            <a:r>
              <a:rPr lang="en-US" sz="2800" dirty="0" smtClean="0">
                <a:latin typeface="Cambria" panose="02040503050406030204" pitchFamily="18" charset="0"/>
                <a:ea typeface="Cambria" panose="02040503050406030204" pitchFamily="18" charset="0"/>
              </a:rPr>
              <a:t>Adaptive Control </a:t>
            </a:r>
            <a:r>
              <a:rPr lang="en-US" sz="2800" dirty="0">
                <a:latin typeface="Cambria" panose="02040503050406030204" pitchFamily="18" charset="0"/>
                <a:ea typeface="Cambria" panose="02040503050406030204" pitchFamily="18" charset="0"/>
              </a:rPr>
              <a:t>of Single Chamber Microbial Fuel Cells) </a:t>
            </a:r>
          </a:p>
          <a:p>
            <a:pPr marL="457200" indent="-457200" algn="just">
              <a:buFont typeface="Wingdings" panose="05000000000000000000" pitchFamily="2" charset="2"/>
              <a:buChar char="v"/>
            </a:pPr>
            <a:r>
              <a:rPr lang="en-US" sz="2800" dirty="0" smtClean="0">
                <a:latin typeface="Cambria" panose="02040503050406030204" pitchFamily="18" charset="0"/>
                <a:ea typeface="Cambria" panose="02040503050406030204" pitchFamily="18" charset="0"/>
              </a:rPr>
              <a:t>(</a:t>
            </a:r>
            <a:r>
              <a:rPr lang="en-US" sz="2800" dirty="0">
                <a:latin typeface="Cambria" panose="02040503050406030204" pitchFamily="18" charset="0"/>
                <a:ea typeface="Cambria" panose="02040503050406030204" pitchFamily="18" charset="0"/>
              </a:rPr>
              <a:t>Area → Topic → Problem).</a:t>
            </a:r>
            <a:endParaRPr lang="en-IN" sz="2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12</a:t>
            </a:fld>
            <a:endParaRPr lang="en-IN" dirty="0"/>
          </a:p>
        </p:txBody>
      </p:sp>
    </p:spTree>
    <p:extLst>
      <p:ext uri="{BB962C8B-B14F-4D97-AF65-F5344CB8AC3E}">
        <p14:creationId xmlns:p14="http://schemas.microsoft.com/office/powerpoint/2010/main" val="8389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13</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dirty="0">
                <a:solidFill>
                  <a:srgbClr val="FF0000"/>
                </a:solidFill>
                <a:latin typeface="Arial" panose="020B0604020202020204" pitchFamily="34" charset="0"/>
                <a:cs typeface="Arial" panose="020B0604020202020204" pitchFamily="34" charset="0"/>
              </a:rPr>
              <a:t>Objectives of Research</a:t>
            </a: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762000"/>
            <a:ext cx="8136475" cy="4770537"/>
          </a:xfrm>
          <a:prstGeom prst="rect">
            <a:avLst/>
          </a:prstGeom>
          <a:noFill/>
        </p:spPr>
        <p:txBody>
          <a:bodyPr wrap="square">
            <a:spAutoFit/>
          </a:bodyPr>
          <a:lstStyle/>
          <a:p>
            <a:pPr marL="342900" indent="-342900" algn="just">
              <a:spcBef>
                <a:spcPts val="600"/>
              </a:spcBef>
              <a:spcAft>
                <a:spcPts val="600"/>
              </a:spcAft>
              <a:buFont typeface="Wingdings" panose="05000000000000000000" pitchFamily="2" charset="2"/>
              <a:buChar char="v"/>
            </a:pPr>
            <a:r>
              <a:rPr lang="en-US" sz="2000" dirty="0">
                <a:latin typeface="Cambria" panose="02040503050406030204" pitchFamily="18" charset="0"/>
                <a:ea typeface="Cambria" panose="02040503050406030204" pitchFamily="18" charset="0"/>
                <a:cs typeface="Times New Roman" panose="02020603050405020304" pitchFamily="18" charset="0"/>
              </a:rPr>
              <a:t>To discover answers to questions through the application of scientific procedures.</a:t>
            </a:r>
          </a:p>
          <a:p>
            <a:pPr marL="342900" indent="-342900" algn="just">
              <a:spcBef>
                <a:spcPts val="600"/>
              </a:spcBef>
              <a:spcAft>
                <a:spcPts val="600"/>
              </a:spcAft>
              <a:buFont typeface="Wingdings" panose="05000000000000000000" pitchFamily="2" charset="2"/>
              <a:buChar char="v"/>
            </a:pPr>
            <a:r>
              <a:rPr lang="en-US" sz="2000" dirty="0">
                <a:latin typeface="Cambria" panose="02040503050406030204" pitchFamily="18" charset="0"/>
                <a:ea typeface="Cambria" panose="02040503050406030204" pitchFamily="18" charset="0"/>
                <a:cs typeface="Times New Roman" panose="02020603050405020304" pitchFamily="18" charset="0"/>
              </a:rPr>
              <a:t>To find out the truth which is hidden and which has not been discovered as yet.</a:t>
            </a:r>
          </a:p>
          <a:p>
            <a:pPr marL="342900" indent="-342900" algn="just">
              <a:spcBef>
                <a:spcPts val="600"/>
              </a:spcBef>
              <a:spcAft>
                <a:spcPts val="600"/>
              </a:spcAft>
              <a:buFont typeface="Wingdings" panose="05000000000000000000" pitchFamily="2" charset="2"/>
              <a:buChar char="v"/>
            </a:pPr>
            <a:r>
              <a:rPr lang="en-US" sz="2000" dirty="0">
                <a:latin typeface="Cambria" panose="02040503050406030204" pitchFamily="18" charset="0"/>
                <a:ea typeface="Cambria" panose="02040503050406030204" pitchFamily="18" charset="0"/>
                <a:cs typeface="Times New Roman" panose="02020603050405020304" pitchFamily="18" charset="0"/>
              </a:rPr>
              <a:t>Research objectives fall into a number of following broad groupings:</a:t>
            </a:r>
          </a:p>
          <a:p>
            <a:pPr marL="800100" lvl="1" indent="-342900" algn="just">
              <a:spcBef>
                <a:spcPts val="600"/>
              </a:spcBef>
              <a:spcAft>
                <a:spcPts val="600"/>
              </a:spcAft>
              <a:buFont typeface="Wingdings" panose="05000000000000000000" pitchFamily="2" charset="2"/>
              <a:buChar char="ü"/>
            </a:pPr>
            <a:r>
              <a:rPr lang="en-US" dirty="0">
                <a:latin typeface="Cambria" panose="02040503050406030204" pitchFamily="18" charset="0"/>
                <a:ea typeface="Cambria" panose="02040503050406030204" pitchFamily="18" charset="0"/>
                <a:cs typeface="Times New Roman" panose="02020603050405020304" pitchFamily="18" charset="0"/>
              </a:rPr>
              <a:t>To gain familiarity with a phenomenon or to achieve new insights into it </a:t>
            </a:r>
            <a:r>
              <a:rPr lang="en-US" b="1" dirty="0">
                <a:latin typeface="Cambria" panose="02040503050406030204" pitchFamily="18" charset="0"/>
                <a:ea typeface="Cambria" panose="02040503050406030204" pitchFamily="18" charset="0"/>
                <a:cs typeface="Times New Roman" panose="02020603050405020304" pitchFamily="18" charset="0"/>
              </a:rPr>
              <a:t>(exploratory or formulative research studies)</a:t>
            </a:r>
          </a:p>
          <a:p>
            <a:pPr marL="800100" lvl="1" indent="-342900" algn="just">
              <a:spcBef>
                <a:spcPts val="600"/>
              </a:spcBef>
              <a:spcAft>
                <a:spcPts val="600"/>
              </a:spcAft>
              <a:buFont typeface="Wingdings" panose="05000000000000000000" pitchFamily="2" charset="2"/>
              <a:buChar char="ü"/>
            </a:pPr>
            <a:r>
              <a:rPr lang="en-US" dirty="0">
                <a:latin typeface="Cambria" panose="02040503050406030204" pitchFamily="18" charset="0"/>
                <a:ea typeface="Cambria" panose="02040503050406030204" pitchFamily="18" charset="0"/>
                <a:cs typeface="Times New Roman" panose="02020603050405020304" pitchFamily="18" charset="0"/>
              </a:rPr>
              <a:t>To portray accurately the characteristics of a particular individual, situation or a group </a:t>
            </a:r>
            <a:r>
              <a:rPr lang="en-US" b="1" dirty="0">
                <a:latin typeface="Cambria" panose="02040503050406030204" pitchFamily="18" charset="0"/>
                <a:ea typeface="Cambria" panose="02040503050406030204" pitchFamily="18" charset="0"/>
                <a:cs typeface="Times New Roman" panose="02020603050405020304" pitchFamily="18" charset="0"/>
              </a:rPr>
              <a:t>(descriptive research studies)</a:t>
            </a:r>
          </a:p>
          <a:p>
            <a:pPr marL="800100" lvl="1" indent="-342900" algn="just">
              <a:spcBef>
                <a:spcPts val="600"/>
              </a:spcBef>
              <a:spcAft>
                <a:spcPts val="600"/>
              </a:spcAft>
              <a:buFont typeface="Wingdings" panose="05000000000000000000" pitchFamily="2" charset="2"/>
              <a:buChar char="ü"/>
            </a:pPr>
            <a:r>
              <a:rPr lang="en-US" dirty="0">
                <a:latin typeface="Cambria" panose="02040503050406030204" pitchFamily="18" charset="0"/>
                <a:ea typeface="Cambria" panose="02040503050406030204" pitchFamily="18" charset="0"/>
                <a:cs typeface="Times New Roman" panose="02020603050405020304" pitchFamily="18" charset="0"/>
              </a:rPr>
              <a:t>To determine the frequency with which something occurs or with which it is associated with something else </a:t>
            </a:r>
            <a:r>
              <a:rPr lang="en-US" b="1" dirty="0">
                <a:latin typeface="Cambria" panose="02040503050406030204" pitchFamily="18" charset="0"/>
                <a:ea typeface="Cambria" panose="02040503050406030204" pitchFamily="18" charset="0"/>
                <a:cs typeface="Times New Roman" panose="02020603050405020304" pitchFamily="18" charset="0"/>
              </a:rPr>
              <a:t>(diagnostic research studies)</a:t>
            </a:r>
            <a:endParaRPr lang="en-US" dirty="0">
              <a:latin typeface="Cambria" panose="02040503050406030204" pitchFamily="18" charset="0"/>
              <a:ea typeface="Cambria" panose="02040503050406030204" pitchFamily="18" charset="0"/>
              <a:cs typeface="Times New Roman" panose="02020603050405020304" pitchFamily="18" charset="0"/>
            </a:endParaRPr>
          </a:p>
          <a:p>
            <a:pPr marL="800100" lvl="1" indent="-342900" algn="just">
              <a:spcBef>
                <a:spcPts val="600"/>
              </a:spcBef>
              <a:spcAft>
                <a:spcPts val="600"/>
              </a:spcAft>
              <a:buFont typeface="Wingdings" panose="05000000000000000000" pitchFamily="2" charset="2"/>
              <a:buChar char="ü"/>
            </a:pPr>
            <a:r>
              <a:rPr lang="en-US" dirty="0">
                <a:latin typeface="Cambria" panose="02040503050406030204" pitchFamily="18" charset="0"/>
                <a:ea typeface="Cambria" panose="02040503050406030204" pitchFamily="18" charset="0"/>
                <a:cs typeface="Times New Roman" panose="02020603050405020304" pitchFamily="18" charset="0"/>
              </a:rPr>
              <a:t>To test a hypothesis of a causal relationship between variables </a:t>
            </a:r>
            <a:r>
              <a:rPr lang="en-US" b="1" dirty="0">
                <a:latin typeface="Cambria" panose="02040503050406030204" pitchFamily="18" charset="0"/>
                <a:ea typeface="Cambria" panose="02040503050406030204" pitchFamily="18" charset="0"/>
                <a:cs typeface="Times New Roman" panose="02020603050405020304" pitchFamily="18" charset="0"/>
              </a:rPr>
              <a:t>(hypothesis-testing research studies)</a:t>
            </a:r>
          </a:p>
        </p:txBody>
      </p:sp>
    </p:spTree>
    <p:extLst>
      <p:ext uri="{BB962C8B-B14F-4D97-AF65-F5344CB8AC3E}">
        <p14:creationId xmlns:p14="http://schemas.microsoft.com/office/powerpoint/2010/main" val="334807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4669" y="990600"/>
            <a:ext cx="8074660" cy="5401479"/>
          </a:xfrm>
        </p:spPr>
        <p:txBody>
          <a:bodyPr/>
          <a:lstStyle/>
          <a:p>
            <a:pPr marL="457200" indent="-457200" algn="just">
              <a:buFont typeface="Wingdings" panose="05000000000000000000" pitchFamily="2" charset="2"/>
              <a:buChar char="v"/>
            </a:pPr>
            <a:r>
              <a:rPr lang="en-US" sz="2700" dirty="0">
                <a:latin typeface="Cambria" panose="02040503050406030204" pitchFamily="18" charset="0"/>
                <a:ea typeface="Cambria" panose="02040503050406030204" pitchFamily="18" charset="0"/>
              </a:rPr>
              <a:t>The objectives of engineering research should be to develop new theoretical </a:t>
            </a:r>
            <a:r>
              <a:rPr lang="en-US" sz="2700" dirty="0" smtClean="0">
                <a:latin typeface="Cambria" panose="02040503050406030204" pitchFamily="18" charset="0"/>
                <a:ea typeface="Cambria" panose="02040503050406030204" pitchFamily="18" charset="0"/>
              </a:rPr>
              <a:t>or applied </a:t>
            </a:r>
            <a:r>
              <a:rPr lang="en-US" sz="2700" dirty="0">
                <a:latin typeface="Cambria" panose="02040503050406030204" pitchFamily="18" charset="0"/>
                <a:ea typeface="Cambria" panose="02040503050406030204" pitchFamily="18" charset="0"/>
              </a:rPr>
              <a:t>knowledge and not necessarily limited to obtaining abilities to obtain </a:t>
            </a:r>
            <a:r>
              <a:rPr lang="en-US" sz="2700" dirty="0" smtClean="0">
                <a:latin typeface="Cambria" panose="02040503050406030204" pitchFamily="18" charset="0"/>
                <a:ea typeface="Cambria" panose="02040503050406030204" pitchFamily="18" charset="0"/>
              </a:rPr>
              <a:t>the desired </a:t>
            </a:r>
            <a:r>
              <a:rPr lang="en-US" sz="2700" dirty="0">
                <a:latin typeface="Cambria" panose="02040503050406030204" pitchFamily="18" charset="0"/>
                <a:ea typeface="Cambria" panose="02040503050406030204" pitchFamily="18" charset="0"/>
              </a:rPr>
              <a:t>result. </a:t>
            </a:r>
            <a:endParaRPr lang="en-US" sz="2700" dirty="0" smtClean="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v"/>
            </a:pPr>
            <a:r>
              <a:rPr lang="en-US" sz="2700" dirty="0" smtClean="0">
                <a:latin typeface="Cambria" panose="02040503050406030204" pitchFamily="18" charset="0"/>
                <a:ea typeface="Cambria" panose="02040503050406030204" pitchFamily="18" charset="0"/>
              </a:rPr>
              <a:t>The </a:t>
            </a:r>
            <a:r>
              <a:rPr lang="en-US" sz="2700" dirty="0">
                <a:latin typeface="Cambria" panose="02040503050406030204" pitchFamily="18" charset="0"/>
                <a:ea typeface="Cambria" panose="02040503050406030204" pitchFamily="18" charset="0"/>
              </a:rPr>
              <a:t>objectives should be framed such that in the event of not being </a:t>
            </a:r>
            <a:r>
              <a:rPr lang="en-US" sz="2700" dirty="0" smtClean="0">
                <a:latin typeface="Cambria" panose="02040503050406030204" pitchFamily="18" charset="0"/>
                <a:ea typeface="Cambria" panose="02040503050406030204" pitchFamily="18" charset="0"/>
              </a:rPr>
              <a:t>able to </a:t>
            </a:r>
            <a:r>
              <a:rPr lang="en-US" sz="2700" dirty="0">
                <a:latin typeface="Cambria" panose="02040503050406030204" pitchFamily="18" charset="0"/>
                <a:ea typeface="Cambria" panose="02040503050406030204" pitchFamily="18" charset="0"/>
              </a:rPr>
              <a:t>achieve the desired result that is being sought, one can fall back to </a:t>
            </a:r>
            <a:r>
              <a:rPr lang="en-US" sz="2700" dirty="0" smtClean="0">
                <a:latin typeface="Cambria" panose="02040503050406030204" pitchFamily="18" charset="0"/>
                <a:ea typeface="Cambria" panose="02040503050406030204" pitchFamily="18" charset="0"/>
              </a:rPr>
              <a:t>understanding why </a:t>
            </a:r>
            <a:r>
              <a:rPr lang="en-US" sz="2700" dirty="0">
                <a:latin typeface="Cambria" panose="02040503050406030204" pitchFamily="18" charset="0"/>
                <a:ea typeface="Cambria" panose="02040503050406030204" pitchFamily="18" charset="0"/>
              </a:rPr>
              <a:t>it is not possible, because that is also a contribution toward ongoing </a:t>
            </a:r>
            <a:r>
              <a:rPr lang="en-US" sz="2700" dirty="0" smtClean="0">
                <a:latin typeface="Cambria" panose="02040503050406030204" pitchFamily="18" charset="0"/>
                <a:ea typeface="Cambria" panose="02040503050406030204" pitchFamily="18" charset="0"/>
              </a:rPr>
              <a:t>research in </a:t>
            </a:r>
            <a:r>
              <a:rPr lang="en-US" sz="2700" dirty="0">
                <a:latin typeface="Cambria" panose="02040503050406030204" pitchFamily="18" charset="0"/>
                <a:ea typeface="Cambria" panose="02040503050406030204" pitchFamily="18" charset="0"/>
              </a:rPr>
              <a:t>solving that problem</a:t>
            </a:r>
            <a:r>
              <a:rPr lang="en-US" sz="2700" dirty="0" smtClean="0">
                <a:latin typeface="Cambria" panose="02040503050406030204" pitchFamily="18" charset="0"/>
                <a:ea typeface="Cambria" panose="02040503050406030204" pitchFamily="18" charset="0"/>
              </a:rPr>
              <a:t>.</a:t>
            </a:r>
          </a:p>
          <a:p>
            <a:pPr marL="457200" indent="-457200" algn="just">
              <a:buFont typeface="Wingdings" panose="05000000000000000000" pitchFamily="2" charset="2"/>
              <a:buChar char="v"/>
            </a:pPr>
            <a:r>
              <a:rPr lang="en-US" sz="2700" dirty="0" smtClean="0">
                <a:latin typeface="Cambria" panose="02040503050406030204" pitchFamily="18" charset="0"/>
                <a:ea typeface="Cambria" panose="02040503050406030204" pitchFamily="18" charset="0"/>
              </a:rPr>
              <a:t> </a:t>
            </a:r>
            <a:r>
              <a:rPr lang="en-US" sz="2700" dirty="0">
                <a:latin typeface="Cambria" panose="02040503050406030204" pitchFamily="18" charset="0"/>
                <a:ea typeface="Cambria" panose="02040503050406030204" pitchFamily="18" charset="0"/>
              </a:rPr>
              <a:t>Of course, someone else might come along and </a:t>
            </a:r>
            <a:r>
              <a:rPr lang="en-US" sz="2700" dirty="0" smtClean="0">
                <a:latin typeface="Cambria" panose="02040503050406030204" pitchFamily="18" charset="0"/>
                <a:ea typeface="Cambria" panose="02040503050406030204" pitchFamily="18" charset="0"/>
              </a:rPr>
              <a:t>actually propose </a:t>
            </a:r>
            <a:r>
              <a:rPr lang="en-US" sz="2700" dirty="0">
                <a:latin typeface="Cambria" panose="02040503050406030204" pitchFamily="18" charset="0"/>
                <a:ea typeface="Cambria" panose="02040503050406030204" pitchFamily="18" charset="0"/>
              </a:rPr>
              <a:t>a different approach where the desired objective is indeed possible to </a:t>
            </a:r>
            <a:r>
              <a:rPr lang="en-US" sz="2700" dirty="0" smtClean="0">
                <a:latin typeface="Cambria" panose="02040503050406030204" pitchFamily="18" charset="0"/>
                <a:ea typeface="Cambria" panose="02040503050406030204" pitchFamily="18" charset="0"/>
              </a:rPr>
              <a:t>be </a:t>
            </a:r>
            <a:r>
              <a:rPr lang="en-IN" sz="2700" dirty="0" smtClean="0">
                <a:latin typeface="Cambria" panose="02040503050406030204" pitchFamily="18" charset="0"/>
                <a:ea typeface="Cambria" panose="02040503050406030204" pitchFamily="18" charset="0"/>
              </a:rPr>
              <a:t>achieved</a:t>
            </a:r>
            <a:r>
              <a:rPr lang="en-IN" sz="2700" dirty="0">
                <a:latin typeface="Cambria" panose="02040503050406030204" pitchFamily="18" charset="0"/>
                <a:ea typeface="Cambria" panose="02040503050406030204" pitchFamily="18" charset="0"/>
              </a:rPr>
              <a:t>.</a:t>
            </a: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14</a:t>
            </a:fld>
            <a:endParaRPr lang="en-IN" dirty="0"/>
          </a:p>
        </p:txBody>
      </p:sp>
      <p:sp>
        <p:nvSpPr>
          <p:cNvPr id="5" name="object 2"/>
          <p:cNvSpPr txBox="1">
            <a:spLocks/>
          </p:cNvSpPr>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lvl1pPr>
              <a:defRPr sz="4400" b="0" i="0">
                <a:solidFill>
                  <a:schemeClr val="tx1"/>
                </a:solidFill>
                <a:latin typeface="Calibri"/>
                <a:ea typeface="+mj-ea"/>
                <a:cs typeface="Calibri"/>
              </a:defRPr>
            </a:lvl1pPr>
          </a:lstStyle>
          <a:p>
            <a:pPr algn="ctr"/>
            <a:r>
              <a:rPr lang="en-IN" sz="4800" kern="0" dirty="0" smtClean="0">
                <a:solidFill>
                  <a:srgbClr val="FF0000"/>
                </a:solidFill>
                <a:latin typeface="Arial" panose="020B0604020202020204" pitchFamily="34" charset="0"/>
                <a:cs typeface="Arial" panose="020B0604020202020204" pitchFamily="34" charset="0"/>
              </a:rPr>
              <a:t>Objectives of Research cont.</a:t>
            </a:r>
            <a:endParaRPr lang="en-IN" sz="4800" kern="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5004974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15</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dirty="0">
                <a:solidFill>
                  <a:srgbClr val="FF0000"/>
                </a:solidFill>
                <a:latin typeface="Arial" panose="020B0604020202020204" pitchFamily="34" charset="0"/>
                <a:cs typeface="Arial" panose="020B0604020202020204" pitchFamily="34" charset="0"/>
              </a:rPr>
              <a:t>Types of Research</a:t>
            </a: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762000"/>
            <a:ext cx="8136475" cy="4524315"/>
          </a:xfrm>
          <a:prstGeom prst="rect">
            <a:avLst/>
          </a:prstGeom>
          <a:noFill/>
        </p:spPr>
        <p:txBody>
          <a:bodyPr wrap="square">
            <a:spAutoFit/>
          </a:bodyPr>
          <a:lstStyle/>
          <a:p>
            <a:pPr marL="360000" indent="-3600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Descriptive vs Analytical:</a:t>
            </a:r>
          </a:p>
          <a:p>
            <a:pPr marL="817200" lvl="1" indent="-360000" algn="just">
              <a:spcBef>
                <a:spcPts val="600"/>
              </a:spcBef>
              <a:spcAft>
                <a:spcPts val="600"/>
              </a:spcAft>
              <a:buFont typeface="Wingdings" panose="05000000000000000000" pitchFamily="2" charset="2"/>
              <a:buChar char="ü"/>
            </a:pPr>
            <a:r>
              <a:rPr lang="en-US" b="1" i="1" dirty="0">
                <a:latin typeface="Cambria" panose="02040503050406030204" pitchFamily="18" charset="0"/>
                <a:ea typeface="Cambria" panose="02040503050406030204" pitchFamily="18" charset="0"/>
                <a:cs typeface="Times New Roman" panose="02020603050405020304" pitchFamily="18" charset="0"/>
              </a:rPr>
              <a:t>Descriptive research </a:t>
            </a:r>
            <a:r>
              <a:rPr lang="en-US" dirty="0">
                <a:latin typeface="Cambria" panose="02040503050406030204" pitchFamily="18" charset="0"/>
                <a:ea typeface="Cambria" panose="02040503050406030204" pitchFamily="18" charset="0"/>
                <a:cs typeface="Times New Roman" panose="02020603050405020304" pitchFamily="18" charset="0"/>
              </a:rPr>
              <a:t>includes surveys and fact-finding enquiries of different kinds. The major purpose of descriptive research is description of the state of affairs as it exists at present. </a:t>
            </a:r>
            <a:r>
              <a:rPr lang="en-US" i="1" dirty="0">
                <a:latin typeface="Cambria" panose="02040503050406030204" pitchFamily="18" charset="0"/>
                <a:ea typeface="Cambria" panose="02040503050406030204" pitchFamily="18" charset="0"/>
                <a:cs typeface="Times New Roman" panose="02020603050405020304" pitchFamily="18" charset="0"/>
              </a:rPr>
              <a:t>(Ex post facto research)</a:t>
            </a:r>
          </a:p>
          <a:p>
            <a:pPr marL="817200" lvl="1" indent="-360000" algn="just">
              <a:spcBef>
                <a:spcPts val="600"/>
              </a:spcBef>
              <a:spcAft>
                <a:spcPts val="600"/>
              </a:spcAft>
              <a:buFont typeface="Wingdings" panose="05000000000000000000" pitchFamily="2" charset="2"/>
              <a:buChar char="ü"/>
            </a:pPr>
            <a:r>
              <a:rPr lang="en-US" dirty="0">
                <a:latin typeface="Cambria" panose="02040503050406030204" pitchFamily="18" charset="0"/>
                <a:ea typeface="Cambria" panose="02040503050406030204" pitchFamily="18" charset="0"/>
                <a:cs typeface="Times New Roman" panose="02020603050405020304" pitchFamily="18" charset="0"/>
              </a:rPr>
              <a:t>In </a:t>
            </a:r>
            <a:r>
              <a:rPr lang="en-US" b="1" i="1" dirty="0">
                <a:latin typeface="Cambria" panose="02040503050406030204" pitchFamily="18" charset="0"/>
                <a:ea typeface="Cambria" panose="02040503050406030204" pitchFamily="18" charset="0"/>
                <a:cs typeface="Times New Roman" panose="02020603050405020304" pitchFamily="18" charset="0"/>
              </a:rPr>
              <a:t>analytical research</a:t>
            </a:r>
            <a:r>
              <a:rPr lang="en-US" dirty="0">
                <a:latin typeface="Cambria" panose="02040503050406030204" pitchFamily="18" charset="0"/>
                <a:ea typeface="Cambria" panose="02040503050406030204" pitchFamily="18" charset="0"/>
                <a:cs typeface="Times New Roman" panose="02020603050405020304" pitchFamily="18" charset="0"/>
              </a:rPr>
              <a:t>, the researcher has to use facts or information already available, and analyze these to make a critical evaluation of the material.</a:t>
            </a:r>
          </a:p>
          <a:p>
            <a:pPr marL="360000" indent="-3600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Applied vs Fundamental:</a:t>
            </a:r>
          </a:p>
          <a:p>
            <a:pPr marL="817200" lvl="1" indent="-360000" algn="just">
              <a:spcBef>
                <a:spcPts val="600"/>
              </a:spcBef>
              <a:spcAft>
                <a:spcPts val="600"/>
              </a:spcAft>
              <a:buFont typeface="Wingdings" panose="05000000000000000000" pitchFamily="2" charset="2"/>
              <a:buChar char="ü"/>
            </a:pPr>
            <a:r>
              <a:rPr lang="en-US" b="1" i="1" dirty="0">
                <a:latin typeface="Cambria" panose="02040503050406030204" pitchFamily="18" charset="0"/>
                <a:ea typeface="Cambria" panose="02040503050406030204" pitchFamily="18" charset="0"/>
                <a:cs typeface="Times New Roman" panose="02020603050405020304" pitchFamily="18" charset="0"/>
              </a:rPr>
              <a:t>Applied research </a:t>
            </a:r>
            <a:r>
              <a:rPr lang="en-US" dirty="0">
                <a:latin typeface="Cambria" panose="02040503050406030204" pitchFamily="18" charset="0"/>
                <a:ea typeface="Cambria" panose="02040503050406030204" pitchFamily="18" charset="0"/>
                <a:cs typeface="Times New Roman" panose="02020603050405020304" pitchFamily="18" charset="0"/>
              </a:rPr>
              <a:t>aims at finding a solution for an immediate problem facing a society or an industrial/business organization.</a:t>
            </a:r>
          </a:p>
          <a:p>
            <a:pPr marL="817200" lvl="1" indent="-360000" algn="just">
              <a:spcBef>
                <a:spcPts val="600"/>
              </a:spcBef>
              <a:spcAft>
                <a:spcPts val="600"/>
              </a:spcAft>
              <a:buFont typeface="Wingdings" panose="05000000000000000000" pitchFamily="2" charset="2"/>
              <a:buChar char="ü"/>
            </a:pPr>
            <a:r>
              <a:rPr lang="en-US" b="1" i="1" dirty="0">
                <a:latin typeface="Cambria" panose="02040503050406030204" pitchFamily="18" charset="0"/>
                <a:ea typeface="Cambria" panose="02040503050406030204" pitchFamily="18" charset="0"/>
                <a:cs typeface="Times New Roman" panose="02020603050405020304" pitchFamily="18" charset="0"/>
              </a:rPr>
              <a:t>Fundamental research </a:t>
            </a:r>
            <a:r>
              <a:rPr lang="en-US" dirty="0">
                <a:latin typeface="Cambria" panose="02040503050406030204" pitchFamily="18" charset="0"/>
                <a:ea typeface="Cambria" panose="02040503050406030204" pitchFamily="18" charset="0"/>
                <a:cs typeface="Times New Roman" panose="02020603050405020304" pitchFamily="18" charset="0"/>
              </a:rPr>
              <a:t>is mainly concerned with generalizations and with the formulation of a theory. (Related to natural phenomenon, pure mathematics)</a:t>
            </a:r>
          </a:p>
        </p:txBody>
      </p:sp>
    </p:spTree>
    <p:extLst>
      <p:ext uri="{BB962C8B-B14F-4D97-AF65-F5344CB8AC3E}">
        <p14:creationId xmlns:p14="http://schemas.microsoft.com/office/powerpoint/2010/main" val="90240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16</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dirty="0">
                <a:solidFill>
                  <a:srgbClr val="FF0000"/>
                </a:solidFill>
                <a:latin typeface="Arial" panose="020B0604020202020204" pitchFamily="34" charset="0"/>
                <a:cs typeface="Arial" panose="020B0604020202020204" pitchFamily="34" charset="0"/>
              </a:rPr>
              <a:t>Types of Research</a:t>
            </a: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762000"/>
            <a:ext cx="8136475" cy="5509200"/>
          </a:xfrm>
          <a:prstGeom prst="rect">
            <a:avLst/>
          </a:prstGeom>
          <a:noFill/>
        </p:spPr>
        <p:txBody>
          <a:bodyPr wrap="square">
            <a:spAutoFit/>
          </a:bodyPr>
          <a:lstStyle/>
          <a:p>
            <a:pPr marL="360000" indent="-3600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Quantitative vs Qualitative:</a:t>
            </a:r>
          </a:p>
          <a:p>
            <a:pPr marL="817200" lvl="1" indent="-360000" algn="just">
              <a:spcBef>
                <a:spcPts val="600"/>
              </a:spcBef>
              <a:spcAft>
                <a:spcPts val="600"/>
              </a:spcAft>
              <a:buFont typeface="Wingdings" panose="05000000000000000000" pitchFamily="2" charset="2"/>
              <a:buChar char="ü"/>
            </a:pPr>
            <a:r>
              <a:rPr lang="en-US" b="1" i="1" dirty="0">
                <a:latin typeface="Cambria" panose="02040503050406030204" pitchFamily="18" charset="0"/>
                <a:ea typeface="Cambria" panose="02040503050406030204" pitchFamily="18" charset="0"/>
                <a:cs typeface="Times New Roman" panose="02020603050405020304" pitchFamily="18" charset="0"/>
              </a:rPr>
              <a:t>Quantitative research </a:t>
            </a:r>
            <a:r>
              <a:rPr lang="en-US" dirty="0">
                <a:latin typeface="Cambria" panose="02040503050406030204" pitchFamily="18" charset="0"/>
                <a:ea typeface="Cambria" panose="02040503050406030204" pitchFamily="18" charset="0"/>
                <a:cs typeface="Times New Roman" panose="02020603050405020304" pitchFamily="18" charset="0"/>
              </a:rPr>
              <a:t>is based on the measurement of quantity or amount. It is applicable to phenomena that can be expressed in terms of quantity.</a:t>
            </a:r>
          </a:p>
          <a:p>
            <a:pPr marL="817200" lvl="1" indent="-360000" algn="just">
              <a:spcBef>
                <a:spcPts val="600"/>
              </a:spcBef>
              <a:spcAft>
                <a:spcPts val="600"/>
              </a:spcAft>
              <a:buFont typeface="Wingdings" panose="05000000000000000000" pitchFamily="2" charset="2"/>
              <a:buChar char="ü"/>
            </a:pPr>
            <a:r>
              <a:rPr lang="en-US" b="1" i="1" dirty="0">
                <a:latin typeface="Cambria" panose="02040503050406030204" pitchFamily="18" charset="0"/>
                <a:ea typeface="Cambria" panose="02040503050406030204" pitchFamily="18" charset="0"/>
                <a:cs typeface="Times New Roman" panose="02020603050405020304" pitchFamily="18" charset="0"/>
              </a:rPr>
              <a:t>Qualitative research</a:t>
            </a:r>
            <a:r>
              <a:rPr lang="en-US" dirty="0">
                <a:latin typeface="Cambria" panose="02040503050406030204" pitchFamily="18" charset="0"/>
                <a:ea typeface="Cambria" panose="02040503050406030204" pitchFamily="18" charset="0"/>
                <a:cs typeface="Times New Roman" panose="02020603050405020304" pitchFamily="18" charset="0"/>
              </a:rPr>
              <a:t> is concerned with qualitative phenomenon, i.e., phenomena relating to or involving quality or kind. This type of research aims at discovering the underlying motives and desires, using in depth interviews for the purpose.</a:t>
            </a:r>
          </a:p>
          <a:p>
            <a:pPr marL="360000" indent="-3600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Conceptual vs Empirical:</a:t>
            </a:r>
          </a:p>
          <a:p>
            <a:pPr marL="817200" lvl="1" indent="-360000" algn="just">
              <a:spcBef>
                <a:spcPts val="600"/>
              </a:spcBef>
              <a:spcAft>
                <a:spcPts val="600"/>
              </a:spcAft>
              <a:buFont typeface="Wingdings" panose="05000000000000000000" pitchFamily="2" charset="2"/>
              <a:buChar char="ü"/>
            </a:pPr>
            <a:r>
              <a:rPr lang="en-US" b="1" i="1" dirty="0">
                <a:latin typeface="Cambria" panose="02040503050406030204" pitchFamily="18" charset="0"/>
                <a:ea typeface="Cambria" panose="02040503050406030204" pitchFamily="18" charset="0"/>
                <a:cs typeface="Times New Roman" panose="02020603050405020304" pitchFamily="18" charset="0"/>
              </a:rPr>
              <a:t>Conceptual research </a:t>
            </a:r>
            <a:r>
              <a:rPr lang="en-US" dirty="0">
                <a:latin typeface="Cambria" panose="02040503050406030204" pitchFamily="18" charset="0"/>
                <a:ea typeface="Cambria" panose="02040503050406030204" pitchFamily="18" charset="0"/>
                <a:cs typeface="Times New Roman" panose="02020603050405020304" pitchFamily="18" charset="0"/>
              </a:rPr>
              <a:t>is related to some abstract idea(s) or theory. It is generally used by philosophers and thinkers to develop new concepts or to reinterpret existing ones.</a:t>
            </a:r>
          </a:p>
          <a:p>
            <a:pPr marL="817200" lvl="1" indent="-360000" algn="just">
              <a:spcBef>
                <a:spcPts val="600"/>
              </a:spcBef>
              <a:spcAft>
                <a:spcPts val="600"/>
              </a:spcAft>
              <a:buFont typeface="Wingdings" panose="05000000000000000000" pitchFamily="2" charset="2"/>
              <a:buChar char="ü"/>
            </a:pPr>
            <a:r>
              <a:rPr lang="en-US" b="1" i="1" dirty="0">
                <a:latin typeface="Cambria" panose="02040503050406030204" pitchFamily="18" charset="0"/>
                <a:ea typeface="Cambria" panose="02040503050406030204" pitchFamily="18" charset="0"/>
                <a:cs typeface="Times New Roman" panose="02020603050405020304" pitchFamily="18" charset="0"/>
              </a:rPr>
              <a:t>Empirical research </a:t>
            </a:r>
            <a:r>
              <a:rPr lang="en-US" dirty="0">
                <a:latin typeface="Cambria" panose="02040503050406030204" pitchFamily="18" charset="0"/>
                <a:ea typeface="Cambria" panose="02040503050406030204" pitchFamily="18" charset="0"/>
                <a:cs typeface="Times New Roman" panose="02020603050405020304" pitchFamily="18" charset="0"/>
              </a:rPr>
              <a:t>relies on experience or observation alone, often without due regard for system and theory. It is data-based research, coming up with conclusions which are capable of being verified by observation or experiment.</a:t>
            </a:r>
          </a:p>
        </p:txBody>
      </p:sp>
    </p:spTree>
    <p:extLst>
      <p:ext uri="{BB962C8B-B14F-4D97-AF65-F5344CB8AC3E}">
        <p14:creationId xmlns:p14="http://schemas.microsoft.com/office/powerpoint/2010/main" val="2568856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17</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dirty="0">
                <a:solidFill>
                  <a:srgbClr val="FF0000"/>
                </a:solidFill>
                <a:latin typeface="Arial" panose="020B0604020202020204" pitchFamily="34" charset="0"/>
                <a:cs typeface="Arial" panose="020B0604020202020204" pitchFamily="34" charset="0"/>
              </a:rPr>
              <a:t>Some Other Types of Research</a:t>
            </a: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762000"/>
            <a:ext cx="8136475" cy="5170646"/>
          </a:xfrm>
          <a:prstGeom prst="rect">
            <a:avLst/>
          </a:prstGeom>
          <a:noFill/>
        </p:spPr>
        <p:txBody>
          <a:bodyPr wrap="square">
            <a:spAutoFit/>
          </a:bodyPr>
          <a:lstStyle/>
          <a:p>
            <a:pPr marL="360000" indent="-3600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One-time research or Longitudinal research</a:t>
            </a:r>
          </a:p>
          <a:p>
            <a:pPr marL="817200" lvl="1" indent="-360000" algn="just">
              <a:spcBef>
                <a:spcPts val="600"/>
              </a:spcBef>
              <a:spcAft>
                <a:spcPts val="600"/>
              </a:spcAft>
              <a:buFont typeface="Wingdings" panose="05000000000000000000" pitchFamily="2" charset="2"/>
              <a:buChar char="ü"/>
            </a:pPr>
            <a:r>
              <a:rPr lang="en-US" dirty="0">
                <a:latin typeface="Cambria" panose="02040503050406030204" pitchFamily="18" charset="0"/>
                <a:ea typeface="Cambria" panose="02040503050406030204" pitchFamily="18" charset="0"/>
                <a:cs typeface="Times New Roman" panose="02020603050405020304" pitchFamily="18" charset="0"/>
              </a:rPr>
              <a:t>In the former case the research is confined to a single time-period, whereas in the latter case the research is carried on over several time-periods.</a:t>
            </a:r>
          </a:p>
          <a:p>
            <a:pPr marL="360000" indent="-3600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Field-setting research or Laboratory research or Simulation research</a:t>
            </a:r>
          </a:p>
          <a:p>
            <a:pPr marL="817200" lvl="1" indent="-360000" algn="just">
              <a:spcBef>
                <a:spcPts val="600"/>
              </a:spcBef>
              <a:spcAft>
                <a:spcPts val="600"/>
              </a:spcAft>
              <a:buFont typeface="Wingdings" panose="05000000000000000000" pitchFamily="2" charset="2"/>
              <a:buChar char="ü"/>
            </a:pPr>
            <a:r>
              <a:rPr lang="en-US" dirty="0">
                <a:latin typeface="Cambria" panose="02040503050406030204" pitchFamily="18" charset="0"/>
                <a:ea typeface="Cambria" panose="02040503050406030204" pitchFamily="18" charset="0"/>
                <a:cs typeface="Times New Roman" panose="02020603050405020304" pitchFamily="18" charset="0"/>
              </a:rPr>
              <a:t>Depending upon the environment in which it is to be carried out.</a:t>
            </a:r>
          </a:p>
          <a:p>
            <a:pPr marL="360000" indent="-3600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Clinical or Diagnostic research</a:t>
            </a:r>
          </a:p>
          <a:p>
            <a:pPr marL="817200" lvl="1" indent="-360000" algn="just">
              <a:spcBef>
                <a:spcPts val="600"/>
              </a:spcBef>
              <a:spcAft>
                <a:spcPts val="600"/>
              </a:spcAft>
              <a:buFont typeface="Wingdings" panose="05000000000000000000" pitchFamily="2" charset="2"/>
              <a:buChar char="ü"/>
            </a:pPr>
            <a:r>
              <a:rPr lang="en-US" dirty="0">
                <a:latin typeface="Cambria" panose="02040503050406030204" pitchFamily="18" charset="0"/>
                <a:ea typeface="Cambria" panose="02040503050406030204" pitchFamily="18" charset="0"/>
                <a:cs typeface="Times New Roman" panose="02020603050405020304" pitchFamily="18" charset="0"/>
              </a:rPr>
              <a:t>Such research follow case-study methods or in-depth approaches to reach the basic causal relations.</a:t>
            </a:r>
          </a:p>
          <a:p>
            <a:pPr marL="360000" indent="-360000" algn="just">
              <a:spcBef>
                <a:spcPts val="600"/>
              </a:spcBef>
              <a:spcAft>
                <a:spcPts val="600"/>
              </a:spcAft>
              <a:buFont typeface="Wingdings" panose="05000000000000000000" pitchFamily="2" charset="2"/>
              <a:buChar char="v"/>
            </a:pPr>
            <a:r>
              <a:rPr lang="en-US" sz="2000" b="1" dirty="0">
                <a:latin typeface="Cambria" panose="02040503050406030204" pitchFamily="18" charset="0"/>
                <a:ea typeface="Cambria" panose="02040503050406030204" pitchFamily="18" charset="0"/>
                <a:cs typeface="Times New Roman" panose="02020603050405020304" pitchFamily="18" charset="0"/>
              </a:rPr>
              <a:t>Exploratory or Formalized research</a:t>
            </a:r>
          </a:p>
          <a:p>
            <a:pPr marL="817200" lvl="1" indent="-360000" algn="just">
              <a:spcBef>
                <a:spcPts val="600"/>
              </a:spcBef>
              <a:spcAft>
                <a:spcPts val="600"/>
              </a:spcAft>
              <a:buFont typeface="Wingdings" panose="05000000000000000000" pitchFamily="2" charset="2"/>
              <a:buChar char="ü"/>
            </a:pPr>
            <a:r>
              <a:rPr lang="en-US" dirty="0">
                <a:latin typeface="Cambria" panose="02040503050406030204" pitchFamily="18" charset="0"/>
                <a:ea typeface="Cambria" panose="02040503050406030204" pitchFamily="18" charset="0"/>
                <a:cs typeface="Times New Roman" panose="02020603050405020304" pitchFamily="18" charset="0"/>
              </a:rPr>
              <a:t>The objective of </a:t>
            </a:r>
            <a:r>
              <a:rPr lang="en-US" b="1" i="1" dirty="0">
                <a:latin typeface="Cambria" panose="02040503050406030204" pitchFamily="18" charset="0"/>
                <a:ea typeface="Cambria" panose="02040503050406030204" pitchFamily="18" charset="0"/>
                <a:cs typeface="Times New Roman" panose="02020603050405020304" pitchFamily="18" charset="0"/>
              </a:rPr>
              <a:t>exploratory research </a:t>
            </a:r>
            <a:r>
              <a:rPr lang="en-US" dirty="0">
                <a:latin typeface="Cambria" panose="02040503050406030204" pitchFamily="18" charset="0"/>
                <a:ea typeface="Cambria" panose="02040503050406030204" pitchFamily="18" charset="0"/>
                <a:cs typeface="Times New Roman" panose="02020603050405020304" pitchFamily="18" charset="0"/>
              </a:rPr>
              <a:t>is the development of hypotheses rather than their testing, whereas </a:t>
            </a:r>
            <a:r>
              <a:rPr lang="en-US" b="1" i="1" dirty="0">
                <a:latin typeface="Cambria" panose="02040503050406030204" pitchFamily="18" charset="0"/>
                <a:ea typeface="Cambria" panose="02040503050406030204" pitchFamily="18" charset="0"/>
                <a:cs typeface="Times New Roman" panose="02020603050405020304" pitchFamily="18" charset="0"/>
              </a:rPr>
              <a:t>formalized research </a:t>
            </a:r>
            <a:r>
              <a:rPr lang="en-US" dirty="0">
                <a:latin typeface="Cambria" panose="02040503050406030204" pitchFamily="18" charset="0"/>
                <a:ea typeface="Cambria" panose="02040503050406030204" pitchFamily="18" charset="0"/>
                <a:cs typeface="Times New Roman" panose="02020603050405020304" pitchFamily="18" charset="0"/>
              </a:rPr>
              <a:t>studies are those with substantial structure and with specific hypotheses to be tested.</a:t>
            </a:r>
          </a:p>
        </p:txBody>
      </p:sp>
    </p:spTree>
    <p:extLst>
      <p:ext uri="{BB962C8B-B14F-4D97-AF65-F5344CB8AC3E}">
        <p14:creationId xmlns:p14="http://schemas.microsoft.com/office/powerpoint/2010/main" val="195559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18</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dirty="0">
                <a:solidFill>
                  <a:srgbClr val="FF0000"/>
                </a:solidFill>
                <a:latin typeface="Arial" panose="020B0604020202020204" pitchFamily="34" charset="0"/>
                <a:cs typeface="Arial" panose="020B0604020202020204" pitchFamily="34" charset="0"/>
              </a:rPr>
              <a:t>Some Other Types of Research</a:t>
            </a: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762000"/>
            <a:ext cx="8136475" cy="5878532"/>
          </a:xfrm>
          <a:prstGeom prst="rect">
            <a:avLst/>
          </a:prstGeom>
          <a:noFill/>
        </p:spPr>
        <p:txBody>
          <a:bodyPr wrap="square">
            <a:spAutoFit/>
          </a:bodyPr>
          <a:lstStyle/>
          <a:p>
            <a:pPr marL="360000" indent="-360000" algn="just">
              <a:spcBef>
                <a:spcPts val="600"/>
              </a:spcBef>
              <a:spcAft>
                <a:spcPts val="600"/>
              </a:spcAft>
              <a:buFont typeface="Wingdings" panose="05000000000000000000" pitchFamily="2" charset="2"/>
              <a:buChar char="v"/>
            </a:pPr>
            <a:r>
              <a:rPr lang="en-US" sz="2400" b="1" dirty="0">
                <a:latin typeface="Cambria" panose="02040503050406030204" pitchFamily="18" charset="0"/>
                <a:ea typeface="Cambria" panose="02040503050406030204" pitchFamily="18" charset="0"/>
                <a:cs typeface="Times New Roman" panose="02020603050405020304" pitchFamily="18" charset="0"/>
              </a:rPr>
              <a:t>Historical research</a:t>
            </a:r>
          </a:p>
          <a:p>
            <a:pPr marL="817200" lvl="1" indent="-360000" algn="just">
              <a:spcBef>
                <a:spcPts val="600"/>
              </a:spcBef>
              <a:spcAft>
                <a:spcPts val="600"/>
              </a:spcAft>
              <a:buFont typeface="Wingdings" panose="05000000000000000000" pitchFamily="2" charset="2"/>
              <a:buChar char="ü"/>
            </a:pPr>
            <a:r>
              <a:rPr lang="en-US" sz="2400" dirty="0">
                <a:latin typeface="Cambria" panose="02040503050406030204" pitchFamily="18" charset="0"/>
                <a:ea typeface="Cambria" panose="02040503050406030204" pitchFamily="18" charset="0"/>
                <a:cs typeface="Times New Roman" panose="02020603050405020304" pitchFamily="18" charset="0"/>
              </a:rPr>
              <a:t>Research which utilizes historical sources like documents, remains, etc. to study events or ideas of the past, including the philosophy of persons and groups at any remote point of time.</a:t>
            </a:r>
          </a:p>
          <a:p>
            <a:pPr marL="360000" indent="-360000" algn="just">
              <a:spcBef>
                <a:spcPts val="600"/>
              </a:spcBef>
              <a:spcAft>
                <a:spcPts val="600"/>
              </a:spcAft>
              <a:buFont typeface="Wingdings" panose="05000000000000000000" pitchFamily="2" charset="2"/>
              <a:buChar char="v"/>
            </a:pPr>
            <a:r>
              <a:rPr lang="en-US" sz="2400" b="1" dirty="0">
                <a:latin typeface="Cambria" panose="02040503050406030204" pitchFamily="18" charset="0"/>
                <a:ea typeface="Cambria" panose="02040503050406030204" pitchFamily="18" charset="0"/>
                <a:cs typeface="Times New Roman" panose="02020603050405020304" pitchFamily="18" charset="0"/>
              </a:rPr>
              <a:t>Conclusion-oriented and Decision-oriented research</a:t>
            </a:r>
          </a:p>
          <a:p>
            <a:pPr marL="817200" lvl="1" indent="-360000" algn="just">
              <a:spcBef>
                <a:spcPts val="600"/>
              </a:spcBef>
              <a:spcAft>
                <a:spcPts val="600"/>
              </a:spcAft>
              <a:buFont typeface="Wingdings" panose="05000000000000000000" pitchFamily="2" charset="2"/>
              <a:buChar char="ü"/>
            </a:pPr>
            <a:r>
              <a:rPr lang="en-US" sz="2400" dirty="0">
                <a:latin typeface="Cambria" panose="02040503050406030204" pitchFamily="18" charset="0"/>
                <a:ea typeface="Cambria" panose="02040503050406030204" pitchFamily="18" charset="0"/>
                <a:cs typeface="Times New Roman" panose="02020603050405020304" pitchFamily="18" charset="0"/>
              </a:rPr>
              <a:t>While doing </a:t>
            </a:r>
            <a:r>
              <a:rPr lang="en-US" sz="2400" b="1" i="1" dirty="0">
                <a:latin typeface="Cambria" panose="02040503050406030204" pitchFamily="18" charset="0"/>
                <a:ea typeface="Cambria" panose="02040503050406030204" pitchFamily="18" charset="0"/>
                <a:cs typeface="Times New Roman" panose="02020603050405020304" pitchFamily="18" charset="0"/>
              </a:rPr>
              <a:t>conclusion oriented research</a:t>
            </a:r>
            <a:r>
              <a:rPr lang="en-US" sz="2400" dirty="0">
                <a:latin typeface="Cambria" panose="02040503050406030204" pitchFamily="18" charset="0"/>
                <a:ea typeface="Cambria" panose="02040503050406030204" pitchFamily="18" charset="0"/>
                <a:cs typeface="Times New Roman" panose="02020603050405020304" pitchFamily="18" charset="0"/>
              </a:rPr>
              <a:t>, a researcher is free to pick up a problem, redesign the enquiry as he proceeds and is prepared to conceptualize as he wishes.</a:t>
            </a:r>
          </a:p>
          <a:p>
            <a:pPr marL="817200" lvl="1" indent="-360000" algn="just">
              <a:spcBef>
                <a:spcPts val="600"/>
              </a:spcBef>
              <a:spcAft>
                <a:spcPts val="600"/>
              </a:spcAft>
              <a:buFont typeface="Wingdings" panose="05000000000000000000" pitchFamily="2" charset="2"/>
              <a:buChar char="ü"/>
            </a:pPr>
            <a:r>
              <a:rPr lang="en-US" sz="2400" b="1" i="1" dirty="0">
                <a:latin typeface="Cambria" panose="02040503050406030204" pitchFamily="18" charset="0"/>
                <a:ea typeface="Cambria" panose="02040503050406030204" pitchFamily="18" charset="0"/>
                <a:cs typeface="Times New Roman" panose="02020603050405020304" pitchFamily="18" charset="0"/>
              </a:rPr>
              <a:t>Decision-oriented research </a:t>
            </a:r>
            <a:r>
              <a:rPr lang="en-US" sz="2400" dirty="0">
                <a:latin typeface="Cambria" panose="02040503050406030204" pitchFamily="18" charset="0"/>
                <a:ea typeface="Cambria" panose="02040503050406030204" pitchFamily="18" charset="0"/>
                <a:cs typeface="Times New Roman" panose="02020603050405020304" pitchFamily="18" charset="0"/>
              </a:rPr>
              <a:t>is always for the need of a decision maker and the researcher in this case is not free to embark upon research according to his own inclination.</a:t>
            </a:r>
          </a:p>
        </p:txBody>
      </p:sp>
    </p:spTree>
    <p:extLst>
      <p:ext uri="{BB962C8B-B14F-4D97-AF65-F5344CB8AC3E}">
        <p14:creationId xmlns:p14="http://schemas.microsoft.com/office/powerpoint/2010/main" val="1163608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19</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dirty="0" smtClean="0">
                <a:solidFill>
                  <a:srgbClr val="FF0000"/>
                </a:solidFill>
                <a:latin typeface="Arial" panose="020B0604020202020204" pitchFamily="34" charset="0"/>
                <a:cs typeface="Arial" panose="020B0604020202020204" pitchFamily="34" charset="0"/>
              </a:rPr>
              <a:t>5 Important Ethics in Research</a:t>
            </a:r>
            <a:endParaRPr lang="en-IN" sz="4800" dirty="0">
              <a:solidFill>
                <a:srgbClr val="FF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2" y="1066800"/>
            <a:ext cx="8136475" cy="3694345"/>
          </a:xfrm>
          <a:prstGeom prst="rect">
            <a:avLst/>
          </a:prstGeom>
          <a:noFill/>
        </p:spPr>
        <p:txBody>
          <a:bodyPr wrap="square">
            <a:spAutoFit/>
          </a:bodyPr>
          <a:lstStyle/>
          <a:p>
            <a:pPr marL="514350" indent="-514350">
              <a:lnSpc>
                <a:spcPct val="150000"/>
              </a:lnSpc>
              <a:buFont typeface="+mj-lt"/>
              <a:buAutoNum type="arabicPeriod"/>
            </a:pPr>
            <a:r>
              <a:rPr lang="en-US" sz="3200" dirty="0" smtClean="0">
                <a:latin typeface="Cambria" panose="02040503050406030204" pitchFamily="18" charset="0"/>
                <a:ea typeface="Cambria" panose="02040503050406030204" pitchFamily="18" charset="0"/>
              </a:rPr>
              <a:t> Minimizing </a:t>
            </a:r>
            <a:r>
              <a:rPr lang="en-US" sz="3200" dirty="0">
                <a:latin typeface="Cambria" panose="02040503050406030204" pitchFamily="18" charset="0"/>
                <a:ea typeface="Cambria" panose="02040503050406030204" pitchFamily="18" charset="0"/>
              </a:rPr>
              <a:t>the risk of harm.</a:t>
            </a:r>
          </a:p>
          <a:p>
            <a:pPr marL="514350" indent="-514350">
              <a:lnSpc>
                <a:spcPct val="150000"/>
              </a:lnSpc>
              <a:buFont typeface="+mj-lt"/>
              <a:buAutoNum type="arabicPeriod"/>
            </a:pPr>
            <a:r>
              <a:rPr lang="en-US" sz="3200" dirty="0" smtClean="0">
                <a:latin typeface="Cambria" panose="02040503050406030204" pitchFamily="18" charset="0"/>
                <a:ea typeface="Cambria" panose="02040503050406030204" pitchFamily="18" charset="0"/>
              </a:rPr>
              <a:t>Obtaining </a:t>
            </a:r>
            <a:r>
              <a:rPr lang="en-US" sz="3200" dirty="0">
                <a:latin typeface="Cambria" panose="02040503050406030204" pitchFamily="18" charset="0"/>
                <a:ea typeface="Cambria" panose="02040503050406030204" pitchFamily="18" charset="0"/>
              </a:rPr>
              <a:t>informed consent.</a:t>
            </a:r>
          </a:p>
          <a:p>
            <a:pPr marL="514350" indent="-514350">
              <a:lnSpc>
                <a:spcPct val="150000"/>
              </a:lnSpc>
              <a:buFont typeface="+mj-lt"/>
              <a:buAutoNum type="arabicPeriod"/>
            </a:pPr>
            <a:r>
              <a:rPr lang="en-US" sz="3200" dirty="0" smtClean="0">
                <a:latin typeface="Cambria" panose="02040503050406030204" pitchFamily="18" charset="0"/>
                <a:ea typeface="Cambria" panose="02040503050406030204" pitchFamily="18" charset="0"/>
              </a:rPr>
              <a:t>Protecting </a:t>
            </a:r>
            <a:r>
              <a:rPr lang="en-US" sz="3200" dirty="0">
                <a:latin typeface="Cambria" panose="02040503050406030204" pitchFamily="18" charset="0"/>
                <a:ea typeface="Cambria" panose="02040503050406030204" pitchFamily="18" charset="0"/>
              </a:rPr>
              <a:t>anonymity </a:t>
            </a:r>
            <a:r>
              <a:rPr lang="en-US" sz="3200" dirty="0" smtClean="0">
                <a:latin typeface="Cambria" panose="02040503050406030204" pitchFamily="18" charset="0"/>
                <a:ea typeface="Cambria" panose="02040503050406030204" pitchFamily="18" charset="0"/>
              </a:rPr>
              <a:t>and confidentiality</a:t>
            </a:r>
            <a:r>
              <a:rPr lang="en-US" sz="3200" dirty="0">
                <a:latin typeface="Cambria" panose="02040503050406030204" pitchFamily="18" charset="0"/>
                <a:ea typeface="Cambria" panose="02040503050406030204" pitchFamily="18" charset="0"/>
              </a:rPr>
              <a:t>.</a:t>
            </a:r>
          </a:p>
          <a:p>
            <a:pPr marL="514350" indent="-514350">
              <a:lnSpc>
                <a:spcPct val="150000"/>
              </a:lnSpc>
              <a:buFont typeface="+mj-lt"/>
              <a:buAutoNum type="arabicPeriod"/>
            </a:pPr>
            <a:r>
              <a:rPr lang="en-US" sz="3200" dirty="0" smtClean="0">
                <a:latin typeface="Cambria" panose="02040503050406030204" pitchFamily="18" charset="0"/>
                <a:ea typeface="Cambria" panose="02040503050406030204" pitchFamily="18" charset="0"/>
              </a:rPr>
              <a:t>Avoiding </a:t>
            </a:r>
            <a:r>
              <a:rPr lang="en-US" sz="3200" dirty="0">
                <a:latin typeface="Cambria" panose="02040503050406030204" pitchFamily="18" charset="0"/>
                <a:ea typeface="Cambria" panose="02040503050406030204" pitchFamily="18" charset="0"/>
              </a:rPr>
              <a:t>deceptive practices.</a:t>
            </a:r>
          </a:p>
          <a:p>
            <a:pPr marL="514350" indent="-514350">
              <a:lnSpc>
                <a:spcPct val="150000"/>
              </a:lnSpc>
              <a:buFont typeface="+mj-lt"/>
              <a:buAutoNum type="arabicPeriod"/>
            </a:pPr>
            <a:r>
              <a:rPr lang="en-US" sz="3200" dirty="0" smtClean="0">
                <a:latin typeface="Cambria" panose="02040503050406030204" pitchFamily="18" charset="0"/>
                <a:ea typeface="Cambria" panose="02040503050406030204" pitchFamily="18" charset="0"/>
              </a:rPr>
              <a:t>Providing </a:t>
            </a:r>
            <a:r>
              <a:rPr lang="en-US" sz="3200" dirty="0">
                <a:latin typeface="Cambria" panose="02040503050406030204" pitchFamily="18" charset="0"/>
                <a:ea typeface="Cambria" panose="02040503050406030204" pitchFamily="18" charset="0"/>
              </a:rPr>
              <a:t>the right to withdraw.</a:t>
            </a:r>
          </a:p>
        </p:txBody>
      </p:sp>
    </p:spTree>
    <p:extLst>
      <p:ext uri="{BB962C8B-B14F-4D97-AF65-F5344CB8AC3E}">
        <p14:creationId xmlns:p14="http://schemas.microsoft.com/office/powerpoint/2010/main" val="3327214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20</a:t>
            </a:fld>
            <a:endParaRPr dirty="0"/>
          </a:p>
        </p:txBody>
      </p:sp>
      <p:sp>
        <p:nvSpPr>
          <p:cNvPr id="2" name="object 2"/>
          <p:cNvSpPr txBox="1">
            <a:spLocks noGrp="1"/>
          </p:cNvSpPr>
          <p:nvPr>
            <p:ph type="title"/>
          </p:nvPr>
        </p:nvSpPr>
        <p:spPr>
          <a:xfrm>
            <a:off x="0" y="0"/>
            <a:ext cx="9144000" cy="751488"/>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800" dirty="0" smtClean="0">
                <a:solidFill>
                  <a:srgbClr val="FF0000"/>
                </a:solidFill>
                <a:latin typeface="Arial" panose="020B0604020202020204" pitchFamily="34" charset="0"/>
                <a:cs typeface="Arial" panose="020B0604020202020204" pitchFamily="34" charset="0"/>
              </a:rPr>
              <a:t>Types of Research Misconduct</a:t>
            </a:r>
            <a:endParaRPr lang="en-IN" sz="4800" dirty="0">
              <a:solidFill>
                <a:srgbClr val="FF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2" y="1066800"/>
            <a:ext cx="8136475" cy="4616648"/>
          </a:xfrm>
          <a:prstGeom prst="rect">
            <a:avLst/>
          </a:prstGeom>
          <a:noFill/>
        </p:spPr>
        <p:txBody>
          <a:bodyPr wrap="square">
            <a:spAutoFit/>
          </a:bodyPr>
          <a:lstStyle/>
          <a:p>
            <a:pPr marL="342900" indent="-3429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Publishing the same paper in two different journals without telling the </a:t>
            </a:r>
            <a:r>
              <a:rPr lang="en-US" sz="2800" dirty="0" smtClean="0">
                <a:latin typeface="Cambria" panose="02040503050406030204" pitchFamily="18" charset="0"/>
                <a:ea typeface="Cambria" panose="02040503050406030204" pitchFamily="18" charset="0"/>
              </a:rPr>
              <a:t>editors.</a:t>
            </a:r>
            <a:endParaRPr lang="en-US" sz="2800" dirty="0">
              <a:latin typeface="Cambria" panose="02040503050406030204" pitchFamily="18" charset="0"/>
              <a:ea typeface="Cambria" panose="02040503050406030204" pitchFamily="18" charset="0"/>
            </a:endParaRPr>
          </a:p>
          <a:p>
            <a:pPr marL="342900" indent="-3429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Submitting the same paper to different journals without telling the </a:t>
            </a:r>
            <a:r>
              <a:rPr lang="en-US" sz="2800" dirty="0" smtClean="0">
                <a:latin typeface="Cambria" panose="02040503050406030204" pitchFamily="18" charset="0"/>
                <a:ea typeface="Cambria" panose="02040503050406030204" pitchFamily="18" charset="0"/>
              </a:rPr>
              <a:t>editors.</a:t>
            </a:r>
            <a:endParaRPr lang="en-US" sz="2800" dirty="0">
              <a:latin typeface="Cambria" panose="02040503050406030204" pitchFamily="18" charset="0"/>
              <a:ea typeface="Cambria" panose="02040503050406030204" pitchFamily="18" charset="0"/>
            </a:endParaRPr>
          </a:p>
          <a:p>
            <a:pPr marL="342900" indent="-3429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Not informing a collaborator of your intent to file a patent in order to make sure that you are the sole </a:t>
            </a:r>
            <a:r>
              <a:rPr lang="en-US" sz="2800" dirty="0" smtClean="0">
                <a:latin typeface="Cambria" panose="02040503050406030204" pitchFamily="18" charset="0"/>
                <a:ea typeface="Cambria" panose="02040503050406030204" pitchFamily="18" charset="0"/>
              </a:rPr>
              <a:t>inventor.</a:t>
            </a:r>
          </a:p>
        </p:txBody>
      </p:sp>
    </p:spTree>
    <p:extLst>
      <p:ext uri="{BB962C8B-B14F-4D97-AF65-F5344CB8AC3E}">
        <p14:creationId xmlns:p14="http://schemas.microsoft.com/office/powerpoint/2010/main" val="383558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21</a:t>
            </a:fld>
            <a:endParaRPr dirty="0"/>
          </a:p>
        </p:txBody>
      </p:sp>
      <p:sp>
        <p:nvSpPr>
          <p:cNvPr id="2" name="object 2"/>
          <p:cNvSpPr txBox="1">
            <a:spLocks noGrp="1"/>
          </p:cNvSpPr>
          <p:nvPr>
            <p:ph type="title"/>
          </p:nvPr>
        </p:nvSpPr>
        <p:spPr>
          <a:xfrm>
            <a:off x="0" y="0"/>
            <a:ext cx="9144000" cy="628377"/>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000" dirty="0" smtClean="0">
                <a:solidFill>
                  <a:srgbClr val="FF0000"/>
                </a:solidFill>
                <a:latin typeface="Arial" panose="020B0604020202020204" pitchFamily="34" charset="0"/>
                <a:cs typeface="Arial" panose="020B0604020202020204" pitchFamily="34" charset="0"/>
              </a:rPr>
              <a:t>Types of Research Misconduct Cont.</a:t>
            </a:r>
            <a:endParaRPr lang="en-IN" sz="4000" dirty="0">
              <a:solidFill>
                <a:srgbClr val="FF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2" y="796290"/>
            <a:ext cx="8136475" cy="5624488"/>
          </a:xfrm>
          <a:prstGeom prst="rect">
            <a:avLst/>
          </a:prstGeom>
          <a:noFill/>
        </p:spPr>
        <p:txBody>
          <a:bodyPr wrap="square">
            <a:spAutoFit/>
          </a:bodyPr>
          <a:lstStyle/>
          <a:p>
            <a:pPr marL="342900" indent="-342900" algn="just" fontAlgn="base">
              <a:lnSpc>
                <a:spcPct val="150000"/>
              </a:lnSpc>
              <a:buFont typeface="Wingdings" panose="05000000000000000000" pitchFamily="2" charset="2"/>
              <a:buChar char="v"/>
            </a:pPr>
            <a:r>
              <a:rPr lang="en-US" sz="2700" dirty="0" smtClean="0">
                <a:latin typeface="Cambria" panose="02040503050406030204" pitchFamily="18" charset="0"/>
                <a:ea typeface="Cambria" panose="02040503050406030204" pitchFamily="18" charset="0"/>
              </a:rPr>
              <a:t>Including </a:t>
            </a:r>
            <a:r>
              <a:rPr lang="en-US" sz="2700" dirty="0">
                <a:latin typeface="Cambria" panose="02040503050406030204" pitchFamily="18" charset="0"/>
                <a:ea typeface="Cambria" panose="02040503050406030204" pitchFamily="18" charset="0"/>
              </a:rPr>
              <a:t>a colleague as an author on a paper in return for a favor even though the colleague did not make a serious contribution to the </a:t>
            </a:r>
            <a:r>
              <a:rPr lang="en-US" sz="2700" dirty="0" smtClean="0">
                <a:latin typeface="Cambria" panose="02040503050406030204" pitchFamily="18" charset="0"/>
                <a:ea typeface="Cambria" panose="02040503050406030204" pitchFamily="18" charset="0"/>
              </a:rPr>
              <a:t>paper.</a:t>
            </a:r>
          </a:p>
          <a:p>
            <a:pPr marL="342900" indent="-342900" algn="just" fontAlgn="base">
              <a:lnSpc>
                <a:spcPct val="150000"/>
              </a:lnSpc>
              <a:buFont typeface="Wingdings" panose="05000000000000000000" pitchFamily="2" charset="2"/>
              <a:buChar char="v"/>
            </a:pPr>
            <a:r>
              <a:rPr lang="en-US" sz="2700" dirty="0" smtClean="0">
                <a:latin typeface="Cambria" panose="02040503050406030204" pitchFamily="18" charset="0"/>
                <a:ea typeface="Cambria" panose="02040503050406030204" pitchFamily="18" charset="0"/>
              </a:rPr>
              <a:t>Discussing </a:t>
            </a:r>
            <a:r>
              <a:rPr lang="en-US" sz="2700" dirty="0">
                <a:latin typeface="Cambria" panose="02040503050406030204" pitchFamily="18" charset="0"/>
                <a:ea typeface="Cambria" panose="02040503050406030204" pitchFamily="18" charset="0"/>
              </a:rPr>
              <a:t>with your colleagues confidential data from a paper that you are reviewing for a </a:t>
            </a:r>
            <a:r>
              <a:rPr lang="en-US" sz="2700" dirty="0" smtClean="0">
                <a:latin typeface="Cambria" panose="02040503050406030204" pitchFamily="18" charset="0"/>
                <a:ea typeface="Cambria" panose="02040503050406030204" pitchFamily="18" charset="0"/>
              </a:rPr>
              <a:t>journal.</a:t>
            </a:r>
          </a:p>
          <a:p>
            <a:pPr marL="342900" indent="-342900" algn="just" fontAlgn="base">
              <a:lnSpc>
                <a:spcPct val="150000"/>
              </a:lnSpc>
              <a:buFont typeface="Wingdings" panose="05000000000000000000" pitchFamily="2" charset="2"/>
              <a:buChar char="v"/>
            </a:pPr>
            <a:r>
              <a:rPr lang="en-US" sz="2700" dirty="0" smtClean="0">
                <a:latin typeface="Cambria" panose="02040503050406030204" pitchFamily="18" charset="0"/>
                <a:ea typeface="Cambria" panose="02040503050406030204" pitchFamily="18" charset="0"/>
              </a:rPr>
              <a:t>Using </a:t>
            </a:r>
            <a:r>
              <a:rPr lang="en-US" sz="2700" dirty="0">
                <a:latin typeface="Cambria" panose="02040503050406030204" pitchFamily="18" charset="0"/>
                <a:ea typeface="Cambria" panose="02040503050406030204" pitchFamily="18" charset="0"/>
              </a:rPr>
              <a:t>data, ideas, or methods you learn about while reviewing a grant or a papers without </a:t>
            </a:r>
            <a:r>
              <a:rPr lang="en-US" sz="2700" dirty="0" smtClean="0">
                <a:latin typeface="Cambria" panose="02040503050406030204" pitchFamily="18" charset="0"/>
                <a:ea typeface="Cambria" panose="02040503050406030204" pitchFamily="18" charset="0"/>
              </a:rPr>
              <a:t>permission.</a:t>
            </a:r>
          </a:p>
          <a:p>
            <a:pPr marL="342900" indent="-342900" algn="just" fontAlgn="base">
              <a:lnSpc>
                <a:spcPct val="150000"/>
              </a:lnSpc>
              <a:buFont typeface="Wingdings" panose="05000000000000000000" pitchFamily="2" charset="2"/>
              <a:buChar char="v"/>
            </a:pPr>
            <a:r>
              <a:rPr lang="en-US" sz="2700" dirty="0" smtClean="0">
                <a:latin typeface="Cambria" panose="02040503050406030204" pitchFamily="18" charset="0"/>
                <a:ea typeface="Cambria" panose="02040503050406030204" pitchFamily="18" charset="0"/>
              </a:rPr>
              <a:t>Trimming </a:t>
            </a:r>
            <a:r>
              <a:rPr lang="en-US" sz="2700" dirty="0">
                <a:latin typeface="Cambria" panose="02040503050406030204" pitchFamily="18" charset="0"/>
                <a:ea typeface="Cambria" panose="02040503050406030204" pitchFamily="18" charset="0"/>
              </a:rPr>
              <a:t>outliers from a data set without discussing your reasons in </a:t>
            </a:r>
            <a:r>
              <a:rPr lang="en-US" sz="2700" dirty="0" smtClean="0">
                <a:latin typeface="Cambria" panose="02040503050406030204" pitchFamily="18" charset="0"/>
                <a:ea typeface="Cambria" panose="02040503050406030204" pitchFamily="18" charset="0"/>
              </a:rPr>
              <a:t>paper.</a:t>
            </a:r>
          </a:p>
        </p:txBody>
      </p:sp>
    </p:spTree>
    <p:extLst>
      <p:ext uri="{BB962C8B-B14F-4D97-AF65-F5344CB8AC3E}">
        <p14:creationId xmlns:p14="http://schemas.microsoft.com/office/powerpoint/2010/main" val="409879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22</a:t>
            </a:fld>
            <a:endParaRPr dirty="0"/>
          </a:p>
        </p:txBody>
      </p:sp>
      <p:sp>
        <p:nvSpPr>
          <p:cNvPr id="2" name="object 2"/>
          <p:cNvSpPr txBox="1">
            <a:spLocks noGrp="1"/>
          </p:cNvSpPr>
          <p:nvPr>
            <p:ph type="title"/>
          </p:nvPr>
        </p:nvSpPr>
        <p:spPr>
          <a:xfrm>
            <a:off x="0" y="0"/>
            <a:ext cx="9144000" cy="628377"/>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000" dirty="0" smtClean="0">
                <a:solidFill>
                  <a:srgbClr val="FF0000"/>
                </a:solidFill>
                <a:latin typeface="Arial" panose="020B0604020202020204" pitchFamily="34" charset="0"/>
                <a:cs typeface="Arial" panose="020B0604020202020204" pitchFamily="34" charset="0"/>
              </a:rPr>
              <a:t>Types of Research Misconduct Cont.</a:t>
            </a:r>
            <a:endParaRPr lang="en-IN" sz="4000" dirty="0">
              <a:solidFill>
                <a:srgbClr val="FF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609600"/>
            <a:ext cx="8129824" cy="5624488"/>
          </a:xfrm>
          <a:prstGeom prst="rect">
            <a:avLst/>
          </a:prstGeom>
          <a:noFill/>
        </p:spPr>
        <p:txBody>
          <a:bodyPr wrap="square">
            <a:spAutoFit/>
          </a:bodyPr>
          <a:lstStyle/>
          <a:p>
            <a:pPr marL="342900" indent="-342900" algn="just" fontAlgn="base">
              <a:lnSpc>
                <a:spcPct val="150000"/>
              </a:lnSpc>
              <a:buFont typeface="Wingdings" panose="05000000000000000000" pitchFamily="2" charset="2"/>
              <a:buChar char="v"/>
            </a:pPr>
            <a:r>
              <a:rPr lang="en-US" sz="2700" dirty="0" smtClean="0">
                <a:latin typeface="Cambria" panose="02040503050406030204" pitchFamily="18" charset="0"/>
                <a:ea typeface="Cambria" panose="02040503050406030204" pitchFamily="18" charset="0"/>
              </a:rPr>
              <a:t>Using </a:t>
            </a:r>
            <a:r>
              <a:rPr lang="en-US" sz="2700" dirty="0">
                <a:latin typeface="Cambria" panose="02040503050406030204" pitchFamily="18" charset="0"/>
                <a:ea typeface="Cambria" panose="02040503050406030204" pitchFamily="18" charset="0"/>
              </a:rPr>
              <a:t>an inappropriate statistical technique in order to enhance the significance of your </a:t>
            </a:r>
            <a:r>
              <a:rPr lang="en-US" sz="2700" dirty="0" smtClean="0">
                <a:latin typeface="Cambria" panose="02040503050406030204" pitchFamily="18" charset="0"/>
                <a:ea typeface="Cambria" panose="02040503050406030204" pitchFamily="18" charset="0"/>
              </a:rPr>
              <a:t>research.</a:t>
            </a:r>
          </a:p>
          <a:p>
            <a:pPr marL="342900" indent="-342900" algn="just" fontAlgn="base">
              <a:lnSpc>
                <a:spcPct val="150000"/>
              </a:lnSpc>
              <a:buFont typeface="Wingdings" panose="05000000000000000000" pitchFamily="2" charset="2"/>
              <a:buChar char="v"/>
            </a:pPr>
            <a:r>
              <a:rPr lang="en-US" sz="2700" dirty="0" smtClean="0">
                <a:latin typeface="Cambria" panose="02040503050406030204" pitchFamily="18" charset="0"/>
                <a:ea typeface="Cambria" panose="02040503050406030204" pitchFamily="18" charset="0"/>
              </a:rPr>
              <a:t>Bypassing </a:t>
            </a:r>
            <a:r>
              <a:rPr lang="en-US" sz="2700" dirty="0">
                <a:latin typeface="Cambria" panose="02040503050406030204" pitchFamily="18" charset="0"/>
                <a:ea typeface="Cambria" panose="02040503050406030204" pitchFamily="18" charset="0"/>
              </a:rPr>
              <a:t>the peer review process and announcing your results through a press conference without giving peers adequate information to review your </a:t>
            </a:r>
            <a:r>
              <a:rPr lang="en-US" sz="2700" dirty="0" smtClean="0">
                <a:latin typeface="Cambria" panose="02040503050406030204" pitchFamily="18" charset="0"/>
                <a:ea typeface="Cambria" panose="02040503050406030204" pitchFamily="18" charset="0"/>
              </a:rPr>
              <a:t>work.</a:t>
            </a:r>
          </a:p>
          <a:p>
            <a:pPr marL="342900" indent="-342900" algn="just" fontAlgn="base">
              <a:lnSpc>
                <a:spcPct val="150000"/>
              </a:lnSpc>
              <a:buFont typeface="Wingdings" panose="05000000000000000000" pitchFamily="2" charset="2"/>
              <a:buChar char="v"/>
            </a:pPr>
            <a:r>
              <a:rPr lang="en-US" sz="2700" dirty="0" smtClean="0">
                <a:latin typeface="Cambria" panose="02040503050406030204" pitchFamily="18" charset="0"/>
                <a:ea typeface="Cambria" panose="02040503050406030204" pitchFamily="18" charset="0"/>
              </a:rPr>
              <a:t>Conducting </a:t>
            </a:r>
            <a:r>
              <a:rPr lang="en-US" sz="2700" dirty="0">
                <a:latin typeface="Cambria" panose="02040503050406030204" pitchFamily="18" charset="0"/>
                <a:ea typeface="Cambria" panose="02040503050406030204" pitchFamily="18" charset="0"/>
              </a:rPr>
              <a:t>a review of the literature that fails to acknowledge the contributions of other people in the field or relevant prior </a:t>
            </a:r>
            <a:r>
              <a:rPr lang="en-US" sz="2700" dirty="0" smtClean="0">
                <a:latin typeface="Cambria" panose="02040503050406030204" pitchFamily="18" charset="0"/>
                <a:ea typeface="Cambria" panose="02040503050406030204" pitchFamily="18" charset="0"/>
              </a:rPr>
              <a:t>work</a:t>
            </a:r>
            <a:r>
              <a:rPr lang="en-US" sz="2700" dirty="0">
                <a:latin typeface="Cambria" panose="02040503050406030204" pitchFamily="18" charset="0"/>
                <a:ea typeface="Cambria" panose="02040503050406030204" pitchFamily="18" charset="0"/>
              </a:rPr>
              <a:t>.</a:t>
            </a:r>
            <a:endParaRPr lang="en-US" sz="27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15013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23</a:t>
            </a:fld>
            <a:endParaRPr dirty="0"/>
          </a:p>
        </p:txBody>
      </p:sp>
      <p:sp>
        <p:nvSpPr>
          <p:cNvPr id="2" name="object 2"/>
          <p:cNvSpPr txBox="1">
            <a:spLocks noGrp="1"/>
          </p:cNvSpPr>
          <p:nvPr>
            <p:ph type="title"/>
          </p:nvPr>
        </p:nvSpPr>
        <p:spPr>
          <a:xfrm>
            <a:off x="0" y="0"/>
            <a:ext cx="9144000" cy="628377"/>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000" dirty="0" smtClean="0">
                <a:solidFill>
                  <a:srgbClr val="FF0000"/>
                </a:solidFill>
                <a:latin typeface="Arial" panose="020B0604020202020204" pitchFamily="34" charset="0"/>
                <a:cs typeface="Arial" panose="020B0604020202020204" pitchFamily="34" charset="0"/>
              </a:rPr>
              <a:t>Types of Research Misconduct Cont.</a:t>
            </a:r>
            <a:endParaRPr lang="en-IN" sz="4000" dirty="0">
              <a:solidFill>
                <a:srgbClr val="FF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2" y="609600"/>
            <a:ext cx="8136475" cy="5909310"/>
          </a:xfrm>
          <a:prstGeom prst="rect">
            <a:avLst/>
          </a:prstGeom>
          <a:noFill/>
        </p:spPr>
        <p:txBody>
          <a:bodyPr wrap="square">
            <a:spAutoFit/>
          </a:bodyPr>
          <a:lstStyle/>
          <a:p>
            <a:pPr marL="457200" indent="-4572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Stretching the truth on a grant application in order to convince reviewers that your project will make a significant contribution to the </a:t>
            </a:r>
            <a:r>
              <a:rPr lang="en-US" sz="2800" dirty="0" smtClean="0">
                <a:latin typeface="Cambria" panose="02040503050406030204" pitchFamily="18" charset="0"/>
                <a:ea typeface="Cambria" panose="02040503050406030204" pitchFamily="18" charset="0"/>
              </a:rPr>
              <a:t>field.</a:t>
            </a:r>
          </a:p>
          <a:p>
            <a:pPr marL="457200" indent="-457200" algn="just" fontAlgn="base">
              <a:lnSpc>
                <a:spcPct val="150000"/>
              </a:lnSpc>
              <a:buFont typeface="Wingdings" panose="05000000000000000000" pitchFamily="2" charset="2"/>
              <a:buChar char="v"/>
            </a:pPr>
            <a:r>
              <a:rPr lang="en-US" sz="2800" dirty="0" smtClean="0">
                <a:latin typeface="Cambria" panose="02040503050406030204" pitchFamily="18" charset="0"/>
                <a:ea typeface="Cambria" panose="02040503050406030204" pitchFamily="18" charset="0"/>
              </a:rPr>
              <a:t>Stretching </a:t>
            </a:r>
            <a:r>
              <a:rPr lang="en-US" sz="2800" dirty="0">
                <a:latin typeface="Cambria" panose="02040503050406030204" pitchFamily="18" charset="0"/>
                <a:ea typeface="Cambria" panose="02040503050406030204" pitchFamily="18" charset="0"/>
              </a:rPr>
              <a:t>the truth on a job application or curriculum </a:t>
            </a:r>
            <a:r>
              <a:rPr lang="en-US" sz="2800" dirty="0" smtClean="0">
                <a:latin typeface="Cambria" panose="02040503050406030204" pitchFamily="18" charset="0"/>
                <a:ea typeface="Cambria" panose="02040503050406030204" pitchFamily="18" charset="0"/>
              </a:rPr>
              <a:t>vita.</a:t>
            </a:r>
          </a:p>
          <a:p>
            <a:pPr marL="457200" indent="-457200" algn="just" fontAlgn="base">
              <a:lnSpc>
                <a:spcPct val="150000"/>
              </a:lnSpc>
              <a:buFont typeface="Wingdings" panose="05000000000000000000" pitchFamily="2" charset="2"/>
              <a:buChar char="v"/>
            </a:pPr>
            <a:r>
              <a:rPr lang="en-US" sz="2800" dirty="0" smtClean="0">
                <a:latin typeface="Cambria" panose="02040503050406030204" pitchFamily="18" charset="0"/>
                <a:ea typeface="Cambria" panose="02040503050406030204" pitchFamily="18" charset="0"/>
              </a:rPr>
              <a:t>Giving </a:t>
            </a:r>
            <a:r>
              <a:rPr lang="en-US" sz="2800" dirty="0">
                <a:latin typeface="Cambria" panose="02040503050406030204" pitchFamily="18" charset="0"/>
                <a:ea typeface="Cambria" panose="02040503050406030204" pitchFamily="18" charset="0"/>
              </a:rPr>
              <a:t>the same research project to two graduate students in order to see who can do it the </a:t>
            </a:r>
            <a:r>
              <a:rPr lang="en-US" sz="2800" dirty="0" smtClean="0">
                <a:latin typeface="Cambria" panose="02040503050406030204" pitchFamily="18" charset="0"/>
                <a:ea typeface="Cambria" panose="02040503050406030204" pitchFamily="18" charset="0"/>
              </a:rPr>
              <a:t>fastest.</a:t>
            </a:r>
          </a:p>
          <a:p>
            <a:pPr marL="457200" indent="-4572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Overworking, neglecting, or exploiting graduate or post-doctoral </a:t>
            </a:r>
            <a:r>
              <a:rPr lang="en-US" sz="2800" dirty="0" smtClean="0">
                <a:latin typeface="Cambria" panose="02040503050406030204" pitchFamily="18" charset="0"/>
                <a:ea typeface="Cambria" panose="02040503050406030204" pitchFamily="18" charset="0"/>
              </a:rPr>
              <a:t>students</a:t>
            </a:r>
            <a:r>
              <a:rPr lang="en-US" sz="2800" dirty="0">
                <a:latin typeface="Cambria" panose="02040503050406030204" pitchFamily="18" charset="0"/>
                <a:ea typeface="Cambria" panose="02040503050406030204" pitchFamily="18" charset="0"/>
              </a:rPr>
              <a:t>.</a:t>
            </a: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72337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24</a:t>
            </a:fld>
            <a:endParaRPr dirty="0"/>
          </a:p>
        </p:txBody>
      </p:sp>
      <p:sp>
        <p:nvSpPr>
          <p:cNvPr id="2" name="object 2"/>
          <p:cNvSpPr txBox="1">
            <a:spLocks noGrp="1"/>
          </p:cNvSpPr>
          <p:nvPr>
            <p:ph type="title"/>
          </p:nvPr>
        </p:nvSpPr>
        <p:spPr>
          <a:xfrm>
            <a:off x="0" y="0"/>
            <a:ext cx="9144000" cy="628377"/>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000" dirty="0" smtClean="0">
                <a:solidFill>
                  <a:srgbClr val="FF0000"/>
                </a:solidFill>
                <a:latin typeface="Arial" panose="020B0604020202020204" pitchFamily="34" charset="0"/>
                <a:cs typeface="Arial" panose="020B0604020202020204" pitchFamily="34" charset="0"/>
              </a:rPr>
              <a:t>Types of Research Misconduct Cont.</a:t>
            </a:r>
            <a:endParaRPr lang="en-IN" sz="4000" dirty="0">
              <a:solidFill>
                <a:srgbClr val="FF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2" y="609600"/>
            <a:ext cx="8136475" cy="5829353"/>
          </a:xfrm>
          <a:prstGeom prst="rect">
            <a:avLst/>
          </a:prstGeom>
          <a:noFill/>
        </p:spPr>
        <p:txBody>
          <a:bodyPr wrap="square">
            <a:spAutoFit/>
          </a:bodyPr>
          <a:lstStyle/>
          <a:p>
            <a:pPr marL="457200" indent="-457200"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Failing to keep good research </a:t>
            </a:r>
            <a:r>
              <a:rPr lang="en-US" sz="2800" dirty="0" smtClean="0">
                <a:latin typeface="Cambria" panose="02040503050406030204" pitchFamily="18" charset="0"/>
                <a:ea typeface="Cambria" panose="02040503050406030204" pitchFamily="18" charset="0"/>
              </a:rPr>
              <a:t>records.</a:t>
            </a:r>
            <a:endParaRPr lang="en-US" sz="2800" dirty="0">
              <a:latin typeface="Cambria" panose="02040503050406030204" pitchFamily="18" charset="0"/>
              <a:ea typeface="Cambria" panose="02040503050406030204" pitchFamily="18" charset="0"/>
            </a:endParaRPr>
          </a:p>
          <a:p>
            <a:pPr marL="457200" indent="-457200"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Failing to maintain research data for a reasonable period of </a:t>
            </a:r>
            <a:r>
              <a:rPr lang="en-US" sz="2800" dirty="0" smtClean="0">
                <a:latin typeface="Cambria" panose="02040503050406030204" pitchFamily="18" charset="0"/>
                <a:ea typeface="Cambria" panose="02040503050406030204" pitchFamily="18" charset="0"/>
              </a:rPr>
              <a:t>time.</a:t>
            </a:r>
            <a:endParaRPr lang="en-US" sz="2800" dirty="0">
              <a:latin typeface="Cambria" panose="02040503050406030204" pitchFamily="18" charset="0"/>
              <a:ea typeface="Cambria" panose="02040503050406030204" pitchFamily="18" charset="0"/>
            </a:endParaRPr>
          </a:p>
          <a:p>
            <a:pPr marL="457200" indent="-457200"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Making derogatory comments and personal attacks in your review of author's </a:t>
            </a:r>
            <a:r>
              <a:rPr lang="en-US" sz="2800" dirty="0" smtClean="0">
                <a:latin typeface="Cambria" panose="02040503050406030204" pitchFamily="18" charset="0"/>
                <a:ea typeface="Cambria" panose="02040503050406030204" pitchFamily="18" charset="0"/>
              </a:rPr>
              <a:t>submission.</a:t>
            </a:r>
            <a:endParaRPr lang="en-US" sz="2800" dirty="0">
              <a:latin typeface="Cambria" panose="02040503050406030204" pitchFamily="18" charset="0"/>
              <a:ea typeface="Cambria" panose="02040503050406030204" pitchFamily="18" charset="0"/>
            </a:endParaRPr>
          </a:p>
          <a:p>
            <a:pPr marL="457200" indent="-457200"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Promising a student a better grade for sexual </a:t>
            </a:r>
            <a:r>
              <a:rPr lang="en-US" sz="2800" dirty="0" smtClean="0">
                <a:latin typeface="Cambria" panose="02040503050406030204" pitchFamily="18" charset="0"/>
                <a:ea typeface="Cambria" panose="02040503050406030204" pitchFamily="18" charset="0"/>
              </a:rPr>
              <a:t>favors</a:t>
            </a:r>
            <a:endParaRPr lang="en-US" sz="2800" dirty="0">
              <a:latin typeface="Cambria" panose="02040503050406030204" pitchFamily="18" charset="0"/>
              <a:ea typeface="Cambria" panose="02040503050406030204" pitchFamily="18" charset="0"/>
            </a:endParaRPr>
          </a:p>
          <a:p>
            <a:pPr marL="457200" indent="-457200"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Using a racist epithet in the </a:t>
            </a:r>
            <a:r>
              <a:rPr lang="en-US" sz="2800" dirty="0" smtClean="0">
                <a:latin typeface="Cambria" panose="02040503050406030204" pitchFamily="18" charset="0"/>
                <a:ea typeface="Cambria" panose="02040503050406030204" pitchFamily="18" charset="0"/>
              </a:rPr>
              <a:t>laboratory.</a:t>
            </a:r>
          </a:p>
          <a:p>
            <a:pPr marL="457200" indent="-457200" fontAlgn="base">
              <a:lnSpc>
                <a:spcPct val="150000"/>
              </a:lnSpc>
              <a:buFont typeface="Wingdings" panose="05000000000000000000" pitchFamily="2" charset="2"/>
              <a:buChar char="v"/>
            </a:pPr>
            <a:r>
              <a:rPr lang="en-IN" sz="2800" dirty="0">
                <a:latin typeface="Cambria" panose="02040503050406030204" pitchFamily="18" charset="0"/>
                <a:ea typeface="Cambria" panose="02040503050406030204" pitchFamily="18" charset="0"/>
              </a:rPr>
              <a:t>Wasting animals in </a:t>
            </a:r>
            <a:r>
              <a:rPr lang="en-IN" sz="2800" dirty="0" smtClean="0">
                <a:latin typeface="Cambria" panose="02040503050406030204" pitchFamily="18" charset="0"/>
                <a:ea typeface="Cambria" panose="02040503050406030204" pitchFamily="18" charset="0"/>
              </a:rPr>
              <a:t>research.</a:t>
            </a:r>
            <a:endParaRPr lang="en-IN"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886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25</a:t>
            </a:fld>
            <a:endParaRPr dirty="0"/>
          </a:p>
        </p:txBody>
      </p:sp>
      <p:sp>
        <p:nvSpPr>
          <p:cNvPr id="2" name="object 2"/>
          <p:cNvSpPr txBox="1">
            <a:spLocks noGrp="1"/>
          </p:cNvSpPr>
          <p:nvPr>
            <p:ph type="title"/>
          </p:nvPr>
        </p:nvSpPr>
        <p:spPr>
          <a:xfrm>
            <a:off x="0" y="0"/>
            <a:ext cx="9144000" cy="628377"/>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000" dirty="0" smtClean="0">
                <a:solidFill>
                  <a:srgbClr val="FF0000"/>
                </a:solidFill>
                <a:latin typeface="Arial" panose="020B0604020202020204" pitchFamily="34" charset="0"/>
                <a:cs typeface="Arial" panose="020B0604020202020204" pitchFamily="34" charset="0"/>
              </a:rPr>
              <a:t>Types of Research Misconduct Cont.</a:t>
            </a:r>
            <a:endParaRPr lang="en-IN" sz="4000" dirty="0">
              <a:solidFill>
                <a:srgbClr val="FF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2" y="609600"/>
            <a:ext cx="8136475" cy="5262979"/>
          </a:xfrm>
          <a:prstGeom prst="rect">
            <a:avLst/>
          </a:prstGeom>
          <a:noFill/>
        </p:spPr>
        <p:txBody>
          <a:bodyPr wrap="square">
            <a:spAutoFit/>
          </a:bodyPr>
          <a:lstStyle/>
          <a:p>
            <a:pPr marL="457200" indent="-4572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Not reporting an adverse event in a human research </a:t>
            </a:r>
            <a:r>
              <a:rPr lang="en-US" sz="2800" dirty="0" smtClean="0">
                <a:latin typeface="Cambria" panose="02040503050406030204" pitchFamily="18" charset="0"/>
                <a:ea typeface="Cambria" panose="02040503050406030204" pitchFamily="18" charset="0"/>
              </a:rPr>
              <a:t>experiment.</a:t>
            </a:r>
          </a:p>
          <a:p>
            <a:pPr marL="457200" indent="-4572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Exposing students and staff to biological risks in violation of your institution's biosafety </a:t>
            </a:r>
            <a:r>
              <a:rPr lang="en-US" sz="2800" dirty="0" smtClean="0">
                <a:latin typeface="Cambria" panose="02040503050406030204" pitchFamily="18" charset="0"/>
                <a:ea typeface="Cambria" panose="02040503050406030204" pitchFamily="18" charset="0"/>
              </a:rPr>
              <a:t>rules.</a:t>
            </a:r>
            <a:endParaRPr lang="en-US" sz="2800" dirty="0">
              <a:latin typeface="Cambria" panose="02040503050406030204" pitchFamily="18" charset="0"/>
              <a:ea typeface="Cambria" panose="02040503050406030204" pitchFamily="18" charset="0"/>
            </a:endParaRPr>
          </a:p>
          <a:p>
            <a:pPr marL="457200" indent="-4572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Sabotaging someone's </a:t>
            </a:r>
            <a:r>
              <a:rPr lang="en-US" sz="2800" dirty="0" smtClean="0">
                <a:latin typeface="Cambria" panose="02040503050406030204" pitchFamily="18" charset="0"/>
                <a:ea typeface="Cambria" panose="02040503050406030204" pitchFamily="18" charset="0"/>
              </a:rPr>
              <a:t>work.</a:t>
            </a:r>
            <a:endParaRPr lang="en-US" sz="2800" dirty="0">
              <a:latin typeface="Cambria" panose="02040503050406030204" pitchFamily="18" charset="0"/>
              <a:ea typeface="Cambria" panose="02040503050406030204" pitchFamily="18" charset="0"/>
            </a:endParaRPr>
          </a:p>
          <a:p>
            <a:pPr marL="457200" indent="-4572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Stealing supplies, books, or data</a:t>
            </a:r>
          </a:p>
          <a:p>
            <a:pPr marL="457200" indent="-457200" algn="just" fontAlgn="base">
              <a:lnSpc>
                <a:spcPct val="150000"/>
              </a:lnSpc>
              <a:buFont typeface="Wingdings" panose="05000000000000000000" pitchFamily="2" charset="2"/>
              <a:buChar char="v"/>
            </a:pPr>
            <a:r>
              <a:rPr lang="en-US" sz="2800" dirty="0">
                <a:latin typeface="Cambria" panose="02040503050406030204" pitchFamily="18" charset="0"/>
                <a:ea typeface="Cambria" panose="02040503050406030204" pitchFamily="18" charset="0"/>
              </a:rPr>
              <a:t>Rigging an experiment so you know how it will turn </a:t>
            </a:r>
            <a:r>
              <a:rPr lang="en-US" sz="2800" dirty="0" smtClean="0">
                <a:latin typeface="Cambria" panose="02040503050406030204" pitchFamily="18" charset="0"/>
                <a:ea typeface="Cambria" panose="02040503050406030204" pitchFamily="18" charset="0"/>
              </a:rPr>
              <a:t>out.</a:t>
            </a:r>
            <a:endParaRPr lang="en-US" sz="2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08416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26</a:t>
            </a:fld>
            <a:endParaRPr dirty="0"/>
          </a:p>
        </p:txBody>
      </p:sp>
      <p:sp>
        <p:nvSpPr>
          <p:cNvPr id="2" name="object 2"/>
          <p:cNvSpPr txBox="1">
            <a:spLocks noGrp="1"/>
          </p:cNvSpPr>
          <p:nvPr>
            <p:ph type="title"/>
          </p:nvPr>
        </p:nvSpPr>
        <p:spPr>
          <a:xfrm>
            <a:off x="0" y="0"/>
            <a:ext cx="9144000" cy="628377"/>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r>
              <a:rPr lang="en-IN" sz="4000" dirty="0">
                <a:solidFill>
                  <a:srgbClr val="FF0000"/>
                </a:solidFill>
                <a:latin typeface="Arial" panose="020B0604020202020204" pitchFamily="34" charset="0"/>
                <a:cs typeface="Arial" panose="020B0604020202020204" pitchFamily="34" charset="0"/>
              </a:rPr>
              <a:t>Criteria of Good Research</a:t>
            </a: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762000"/>
            <a:ext cx="8136475" cy="5509200"/>
          </a:xfrm>
          <a:prstGeom prst="rect">
            <a:avLst/>
          </a:prstGeom>
          <a:noFill/>
        </p:spPr>
        <p:txBody>
          <a:bodyPr wrap="square">
            <a:spAutoFit/>
          </a:bodyPr>
          <a:lstStyle/>
          <a:p>
            <a:pPr algn="just">
              <a:spcBef>
                <a:spcPts val="600"/>
              </a:spcBef>
              <a:spcAft>
                <a:spcPts val="600"/>
              </a:spcAft>
            </a:pPr>
            <a:r>
              <a:rPr lang="en-US" dirty="0">
                <a:latin typeface="Cambria" panose="02040503050406030204" pitchFamily="18" charset="0"/>
                <a:ea typeface="Cambria" panose="02040503050406030204" pitchFamily="18" charset="0"/>
                <a:cs typeface="Times New Roman" panose="02020603050405020304" pitchFamily="18" charset="0"/>
              </a:rPr>
              <a:t>The qualities of a good research can be stated as:</a:t>
            </a:r>
          </a:p>
          <a:p>
            <a:pPr marL="360000" indent="-360000" algn="just">
              <a:spcBef>
                <a:spcPts val="1200"/>
              </a:spcBef>
              <a:spcAft>
                <a:spcPts val="600"/>
              </a:spcAft>
              <a:buFont typeface="Wingdings" panose="05000000000000000000" pitchFamily="2" charset="2"/>
              <a:buChar char="v"/>
            </a:pPr>
            <a:r>
              <a:rPr lang="en-US" dirty="0">
                <a:latin typeface="Cambria" panose="02040503050406030204" pitchFamily="18" charset="0"/>
                <a:ea typeface="Cambria" panose="02040503050406030204" pitchFamily="18" charset="0"/>
                <a:cs typeface="Times New Roman" panose="02020603050405020304" pitchFamily="18" charset="0"/>
              </a:rPr>
              <a:t>Good research is </a:t>
            </a:r>
            <a:r>
              <a:rPr lang="en-US" b="1" dirty="0">
                <a:latin typeface="Cambria" panose="02040503050406030204" pitchFamily="18" charset="0"/>
                <a:ea typeface="Cambria" panose="02040503050406030204" pitchFamily="18" charset="0"/>
                <a:cs typeface="Times New Roman" panose="02020603050405020304" pitchFamily="18" charset="0"/>
              </a:rPr>
              <a:t>systematic</a:t>
            </a:r>
          </a:p>
          <a:p>
            <a:pPr marL="817200" lvl="1" indent="-360000" algn="just">
              <a:buFont typeface="Wingdings" panose="05000000000000000000" pitchFamily="2" charset="2"/>
              <a:buChar char="q"/>
            </a:pPr>
            <a:r>
              <a:rPr lang="en-US" sz="1600" dirty="0">
                <a:latin typeface="Cambria" panose="02040503050406030204" pitchFamily="18" charset="0"/>
                <a:ea typeface="Cambria" panose="02040503050406030204" pitchFamily="18" charset="0"/>
                <a:cs typeface="Times New Roman" panose="02020603050405020304" pitchFamily="18" charset="0"/>
              </a:rPr>
              <a:t>It means that research is structured with specified steps to be taken in a specified sequence in accordance with the well defined set of rules.</a:t>
            </a:r>
          </a:p>
          <a:p>
            <a:pPr marL="817200" lvl="1" indent="-360000" algn="just">
              <a:buFont typeface="Wingdings" panose="05000000000000000000" pitchFamily="2" charset="2"/>
              <a:buChar char="q"/>
            </a:pPr>
            <a:r>
              <a:rPr lang="en-US" sz="1600" dirty="0">
                <a:latin typeface="Cambria" panose="02040503050406030204" pitchFamily="18" charset="0"/>
                <a:ea typeface="Cambria" panose="02040503050406030204" pitchFamily="18" charset="0"/>
                <a:cs typeface="Times New Roman" panose="02020603050405020304" pitchFamily="18" charset="0"/>
              </a:rPr>
              <a:t>It rejects the use of guessing and intuition in arriving at conclusions.</a:t>
            </a:r>
          </a:p>
          <a:p>
            <a:pPr marL="360000" indent="-360000" algn="just">
              <a:spcBef>
                <a:spcPts val="1200"/>
              </a:spcBef>
              <a:spcAft>
                <a:spcPts val="600"/>
              </a:spcAft>
              <a:buFont typeface="Wingdings" panose="05000000000000000000" pitchFamily="2" charset="2"/>
              <a:buChar char="v"/>
            </a:pPr>
            <a:r>
              <a:rPr lang="en-US" dirty="0">
                <a:latin typeface="Cambria" panose="02040503050406030204" pitchFamily="18" charset="0"/>
                <a:ea typeface="Cambria" panose="02040503050406030204" pitchFamily="18" charset="0"/>
                <a:cs typeface="Times New Roman" panose="02020603050405020304" pitchFamily="18" charset="0"/>
              </a:rPr>
              <a:t>Good research is </a:t>
            </a:r>
            <a:r>
              <a:rPr lang="en-US" b="1" dirty="0">
                <a:latin typeface="Cambria" panose="02040503050406030204" pitchFamily="18" charset="0"/>
                <a:ea typeface="Cambria" panose="02040503050406030204" pitchFamily="18" charset="0"/>
                <a:cs typeface="Times New Roman" panose="02020603050405020304" pitchFamily="18" charset="0"/>
              </a:rPr>
              <a:t>logical</a:t>
            </a:r>
          </a:p>
          <a:p>
            <a:pPr marL="817200" lvl="1" indent="-360000" algn="just">
              <a:spcBef>
                <a:spcPts val="600"/>
              </a:spcBef>
              <a:spcAft>
                <a:spcPts val="600"/>
              </a:spcAft>
              <a:buFont typeface="Wingdings" panose="05000000000000000000" pitchFamily="2" charset="2"/>
              <a:buChar char="q"/>
            </a:pPr>
            <a:r>
              <a:rPr lang="en-US" sz="1600" dirty="0">
                <a:latin typeface="Cambria" panose="02040503050406030204" pitchFamily="18" charset="0"/>
                <a:ea typeface="Cambria" panose="02040503050406030204" pitchFamily="18" charset="0"/>
                <a:cs typeface="Times New Roman" panose="02020603050405020304" pitchFamily="18" charset="0"/>
              </a:rPr>
              <a:t>Logical reasoning makes research more meaningful in the context of decision making.</a:t>
            </a:r>
          </a:p>
          <a:p>
            <a:pPr marL="360000" indent="-360000" algn="just">
              <a:spcBef>
                <a:spcPts val="1200"/>
              </a:spcBef>
              <a:spcAft>
                <a:spcPts val="600"/>
              </a:spcAft>
              <a:buFont typeface="Wingdings" panose="05000000000000000000" pitchFamily="2" charset="2"/>
              <a:buChar char="v"/>
            </a:pPr>
            <a:r>
              <a:rPr lang="en-US" dirty="0">
                <a:latin typeface="Cambria" panose="02040503050406030204" pitchFamily="18" charset="0"/>
                <a:ea typeface="Cambria" panose="02040503050406030204" pitchFamily="18" charset="0"/>
                <a:cs typeface="Times New Roman" panose="02020603050405020304" pitchFamily="18" charset="0"/>
              </a:rPr>
              <a:t>Good research is </a:t>
            </a:r>
            <a:r>
              <a:rPr lang="en-US" b="1" dirty="0">
                <a:latin typeface="Cambria" panose="02040503050406030204" pitchFamily="18" charset="0"/>
                <a:ea typeface="Cambria" panose="02040503050406030204" pitchFamily="18" charset="0"/>
                <a:cs typeface="Times New Roman" panose="02020603050405020304" pitchFamily="18" charset="0"/>
              </a:rPr>
              <a:t>empirical</a:t>
            </a:r>
          </a:p>
          <a:p>
            <a:pPr marL="817200" lvl="1" indent="-360000" algn="just">
              <a:spcBef>
                <a:spcPts val="600"/>
              </a:spcBef>
              <a:spcAft>
                <a:spcPts val="600"/>
              </a:spcAft>
              <a:buFont typeface="Wingdings" panose="05000000000000000000" pitchFamily="2" charset="2"/>
              <a:buChar char="q"/>
            </a:pPr>
            <a:r>
              <a:rPr lang="en-US" sz="1600" dirty="0">
                <a:latin typeface="Cambria" panose="02040503050406030204" pitchFamily="18" charset="0"/>
                <a:ea typeface="Cambria" panose="02040503050406030204" pitchFamily="18" charset="0"/>
                <a:cs typeface="Times New Roman" panose="02020603050405020304" pitchFamily="18" charset="0"/>
              </a:rPr>
              <a:t>Research is related basically to one or more aspects of a real situation and deals with concrete data that provides a basis for external validity to research results.</a:t>
            </a:r>
          </a:p>
          <a:p>
            <a:pPr marL="360000" indent="-360000" algn="just">
              <a:spcBef>
                <a:spcPts val="1200"/>
              </a:spcBef>
              <a:spcAft>
                <a:spcPts val="600"/>
              </a:spcAft>
              <a:buFont typeface="Wingdings" panose="05000000000000000000" pitchFamily="2" charset="2"/>
              <a:buChar char="v"/>
            </a:pPr>
            <a:r>
              <a:rPr lang="en-US" dirty="0">
                <a:latin typeface="Cambria" panose="02040503050406030204" pitchFamily="18" charset="0"/>
                <a:ea typeface="Cambria" panose="02040503050406030204" pitchFamily="18" charset="0"/>
                <a:cs typeface="Times New Roman" panose="02020603050405020304" pitchFamily="18" charset="0"/>
              </a:rPr>
              <a:t>Good research is </a:t>
            </a:r>
            <a:r>
              <a:rPr lang="en-US" b="1" dirty="0">
                <a:latin typeface="Cambria" panose="02040503050406030204" pitchFamily="18" charset="0"/>
                <a:ea typeface="Cambria" panose="02040503050406030204" pitchFamily="18" charset="0"/>
                <a:cs typeface="Times New Roman" panose="02020603050405020304" pitchFamily="18" charset="0"/>
              </a:rPr>
              <a:t>replicable</a:t>
            </a:r>
          </a:p>
          <a:p>
            <a:pPr marL="817200" lvl="1" indent="-360000" algn="just">
              <a:spcBef>
                <a:spcPts val="600"/>
              </a:spcBef>
              <a:spcAft>
                <a:spcPts val="600"/>
              </a:spcAft>
              <a:buFont typeface="Wingdings" panose="05000000000000000000" pitchFamily="2" charset="2"/>
              <a:buChar char="q"/>
            </a:pPr>
            <a:r>
              <a:rPr lang="en-US" sz="1600" dirty="0">
                <a:latin typeface="Cambria" panose="02040503050406030204" pitchFamily="18" charset="0"/>
                <a:ea typeface="Cambria" panose="02040503050406030204" pitchFamily="18" charset="0"/>
                <a:cs typeface="Times New Roman" panose="02020603050405020304" pitchFamily="18" charset="0"/>
              </a:rPr>
              <a:t>This characteristic allows research results to be verified by replicating the study and thereby building a sound basis for decisions.</a:t>
            </a:r>
          </a:p>
          <a:p>
            <a:pPr marL="817200" lvl="1" indent="-360000" algn="just">
              <a:spcBef>
                <a:spcPts val="600"/>
              </a:spcBef>
              <a:spcAft>
                <a:spcPts val="600"/>
              </a:spcAft>
              <a:buFont typeface="Wingdings" panose="05000000000000000000" pitchFamily="2" charset="2"/>
              <a:buChar char="q"/>
            </a:pPr>
            <a:endParaRPr lang="en-US" dirty="0">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107052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669" y="447584"/>
            <a:ext cx="8098917" cy="492443"/>
          </a:xfrm>
        </p:spPr>
        <p:txBody>
          <a:bodyPr/>
          <a:lstStyle/>
          <a:p>
            <a:pPr algn="ctr"/>
            <a:r>
              <a:rPr lang="en-US" sz="3200" b="1" dirty="0">
                <a:solidFill>
                  <a:srgbClr val="FF0000"/>
                </a:solidFill>
                <a:latin typeface="Cambria" panose="02040503050406030204" pitchFamily="18" charset="0"/>
                <a:ea typeface="Cambria" panose="02040503050406030204" pitchFamily="18" charset="0"/>
                <a:cs typeface="Arial" panose="020B0604020202020204" pitchFamily="34" charset="0"/>
              </a:rPr>
              <a:t>Literature Review and Technical Reading</a:t>
            </a:r>
            <a:endParaRPr lang="en-IN" sz="3200" dirty="0">
              <a:solidFill>
                <a:srgbClr val="FF0000"/>
              </a:solidFill>
              <a:latin typeface="Cambria" panose="02040503050406030204" pitchFamily="18" charset="0"/>
              <a:ea typeface="Cambria" panose="02040503050406030204" pitchFamily="18" charset="0"/>
              <a:cs typeface="Arial" panose="020B0604020202020204" pitchFamily="34" charset="0"/>
            </a:endParaRPr>
          </a:p>
        </p:txBody>
      </p:sp>
      <p:sp>
        <p:nvSpPr>
          <p:cNvPr id="3" name="Text Placeholder 2"/>
          <p:cNvSpPr>
            <a:spLocks noGrp="1"/>
          </p:cNvSpPr>
          <p:nvPr>
            <p:ph type="body" idx="1"/>
          </p:nvPr>
        </p:nvSpPr>
        <p:spPr>
          <a:xfrm>
            <a:off x="534669" y="1494408"/>
            <a:ext cx="8074660" cy="4308872"/>
          </a:xfrm>
        </p:spPr>
        <p:txBody>
          <a:bodyPr/>
          <a:lstStyle/>
          <a:p>
            <a:pPr algn="just"/>
            <a:r>
              <a:rPr lang="en-US" sz="3500" dirty="0">
                <a:latin typeface="Cambria" panose="02040503050406030204" pitchFamily="18" charset="0"/>
                <a:ea typeface="Cambria" panose="02040503050406030204" pitchFamily="18" charset="0"/>
              </a:rPr>
              <a:t>The primary goal of literature review is to know the use of </a:t>
            </a:r>
            <a:r>
              <a:rPr lang="en-US" sz="3500" dirty="0" smtClean="0">
                <a:latin typeface="Cambria" panose="02040503050406030204" pitchFamily="18" charset="0"/>
                <a:ea typeface="Cambria" panose="02040503050406030204" pitchFamily="18" charset="0"/>
              </a:rPr>
              <a:t>content/ideas/ approaches in </a:t>
            </a:r>
            <a:r>
              <a:rPr lang="en-US" sz="3500" dirty="0">
                <a:latin typeface="Cambria" panose="02040503050406030204" pitchFamily="18" charset="0"/>
                <a:ea typeface="Cambria" panose="02040503050406030204" pitchFamily="18" charset="0"/>
              </a:rPr>
              <a:t>the literature to correctly identify the problem that is vaguely known </a:t>
            </a:r>
            <a:r>
              <a:rPr lang="en-US" sz="3500" dirty="0" smtClean="0">
                <a:latin typeface="Cambria" panose="02040503050406030204" pitchFamily="18" charset="0"/>
                <a:ea typeface="Cambria" panose="02040503050406030204" pitchFamily="18" charset="0"/>
              </a:rPr>
              <a:t>beforehand, to </a:t>
            </a:r>
            <a:r>
              <a:rPr lang="en-US" sz="3500" dirty="0">
                <a:latin typeface="Cambria" panose="02040503050406030204" pitchFamily="18" charset="0"/>
                <a:ea typeface="Cambria" panose="02040503050406030204" pitchFamily="18" charset="0"/>
              </a:rPr>
              <a:t>advocate a specific approach adopted to understanding the problem, and to </a:t>
            </a:r>
            <a:r>
              <a:rPr lang="en-US" sz="3500" dirty="0" smtClean="0">
                <a:latin typeface="Cambria" panose="02040503050406030204" pitchFamily="18" charset="0"/>
                <a:ea typeface="Cambria" panose="02040503050406030204" pitchFamily="18" charset="0"/>
              </a:rPr>
              <a:t>access the </a:t>
            </a:r>
            <a:r>
              <a:rPr lang="en-US" sz="3500" dirty="0">
                <a:latin typeface="Cambria" panose="02040503050406030204" pitchFamily="18" charset="0"/>
                <a:ea typeface="Cambria" panose="02040503050406030204" pitchFamily="18" charset="0"/>
              </a:rPr>
              <a:t>choice of methods used.</a:t>
            </a:r>
            <a:endParaRPr lang="en-IN" sz="35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27</a:t>
            </a:fld>
            <a:endParaRPr lang="en-IN" dirty="0"/>
          </a:p>
        </p:txBody>
      </p:sp>
    </p:spTree>
    <p:extLst>
      <p:ext uri="{BB962C8B-B14F-4D97-AF65-F5344CB8AC3E}">
        <p14:creationId xmlns:p14="http://schemas.microsoft.com/office/powerpoint/2010/main" val="18509084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669" y="447584"/>
            <a:ext cx="8098917" cy="677108"/>
          </a:xfrm>
        </p:spPr>
        <p:txBody>
          <a:bodyPr/>
          <a:lstStyle/>
          <a:p>
            <a:pPr algn="ctr"/>
            <a:r>
              <a:rPr lang="en-IN" b="1" dirty="0">
                <a:solidFill>
                  <a:srgbClr val="FF0000"/>
                </a:solidFill>
              </a:rPr>
              <a:t>New and Existing Knowledge</a:t>
            </a:r>
            <a:endParaRPr lang="en-IN" sz="3200" dirty="0">
              <a:solidFill>
                <a:srgbClr val="FF0000"/>
              </a:solidFill>
              <a:latin typeface="Cambria" panose="02040503050406030204" pitchFamily="18" charset="0"/>
              <a:ea typeface="Cambria" panose="02040503050406030204" pitchFamily="18" charset="0"/>
              <a:cs typeface="Arial" panose="020B0604020202020204" pitchFamily="34" charset="0"/>
            </a:endParaRPr>
          </a:p>
        </p:txBody>
      </p:sp>
      <p:sp>
        <p:nvSpPr>
          <p:cNvPr id="3" name="Text Placeholder 2"/>
          <p:cNvSpPr>
            <a:spLocks noGrp="1"/>
          </p:cNvSpPr>
          <p:nvPr>
            <p:ph type="body" idx="1"/>
          </p:nvPr>
        </p:nvSpPr>
        <p:spPr>
          <a:xfrm>
            <a:off x="534669" y="1494408"/>
            <a:ext cx="8074660" cy="4924425"/>
          </a:xfrm>
        </p:spPr>
        <p:txBody>
          <a:bodyPr/>
          <a:lstStyle/>
          <a:p>
            <a:pPr marL="571500" indent="-571500" algn="just">
              <a:buFont typeface="Arial" panose="020B0604020202020204" pitchFamily="34" charset="0"/>
              <a:buChar char="•"/>
            </a:pPr>
            <a:r>
              <a:rPr lang="en-US" dirty="0"/>
              <a:t>New knowledge in research can only be interpreted within the context of what </a:t>
            </a:r>
            <a:r>
              <a:rPr lang="en-US" dirty="0" smtClean="0"/>
              <a:t>is already </a:t>
            </a:r>
            <a:r>
              <a:rPr lang="en-US" dirty="0"/>
              <a:t>known, and cannot exist without the foundation of existing knowledge</a:t>
            </a:r>
            <a:r>
              <a:rPr lang="en-US" dirty="0" smtClean="0"/>
              <a:t>.</a:t>
            </a:r>
          </a:p>
          <a:p>
            <a:pPr marL="457200" indent="-457200" algn="just">
              <a:buFont typeface="Arial" panose="020B0604020202020204" pitchFamily="34" charset="0"/>
              <a:buChar char="•"/>
            </a:pPr>
            <a:r>
              <a:rPr lang="en-US" sz="3500" dirty="0" smtClean="0">
                <a:latin typeface="Cambria" panose="02040503050406030204" pitchFamily="18" charset="0"/>
                <a:ea typeface="Cambria" panose="02040503050406030204" pitchFamily="18" charset="0"/>
              </a:rPr>
              <a:t>Existing knowledge               Text Book</a:t>
            </a:r>
          </a:p>
          <a:p>
            <a:pPr marL="457200" indent="-457200" algn="just">
              <a:buFont typeface="Arial" panose="020B0604020202020204" pitchFamily="34" charset="0"/>
              <a:buChar char="•"/>
            </a:pPr>
            <a:r>
              <a:rPr lang="en-US" sz="3500" dirty="0" smtClean="0">
                <a:latin typeface="Cambria" panose="02040503050406030204" pitchFamily="18" charset="0"/>
                <a:ea typeface="Cambria" panose="02040503050406030204" pitchFamily="18" charset="0"/>
              </a:rPr>
              <a:t>New knowledge              Research Papers   </a:t>
            </a:r>
          </a:p>
          <a:p>
            <a:pPr algn="just"/>
            <a:endParaRPr lang="en-US" sz="3500" dirty="0">
              <a:latin typeface="Cambria" panose="02040503050406030204" pitchFamily="18" charset="0"/>
              <a:ea typeface="Cambria" panose="02040503050406030204" pitchFamily="18" charset="0"/>
            </a:endParaRPr>
          </a:p>
          <a:p>
            <a:pPr algn="just"/>
            <a:endParaRPr lang="en-US" sz="3500" dirty="0" smtClean="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28</a:t>
            </a:fld>
            <a:endParaRPr lang="en-IN" dirty="0"/>
          </a:p>
        </p:txBody>
      </p:sp>
      <p:cxnSp>
        <p:nvCxnSpPr>
          <p:cNvPr id="6" name="Straight Arrow Connector 5"/>
          <p:cNvCxnSpPr/>
          <p:nvPr/>
        </p:nvCxnSpPr>
        <p:spPr>
          <a:xfrm>
            <a:off x="4876800" y="4572000"/>
            <a:ext cx="1219200"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4114800" y="5105400"/>
            <a:ext cx="1219200" cy="0"/>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154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669" y="447584"/>
            <a:ext cx="8098917" cy="677108"/>
          </a:xfrm>
        </p:spPr>
        <p:txBody>
          <a:bodyPr/>
          <a:lstStyle/>
          <a:p>
            <a:pPr algn="ctr"/>
            <a:r>
              <a:rPr lang="en-IN" b="1" dirty="0">
                <a:solidFill>
                  <a:srgbClr val="FF0000"/>
                </a:solidFill>
              </a:rPr>
              <a:t>New and Existing </a:t>
            </a:r>
            <a:r>
              <a:rPr lang="en-IN" b="1" dirty="0" smtClean="0">
                <a:solidFill>
                  <a:srgbClr val="FF0000"/>
                </a:solidFill>
              </a:rPr>
              <a:t>Knowledge cont.</a:t>
            </a:r>
            <a:endParaRPr lang="en-IN" sz="3200" dirty="0">
              <a:solidFill>
                <a:srgbClr val="FF0000"/>
              </a:solidFill>
              <a:latin typeface="Cambria" panose="02040503050406030204" pitchFamily="18" charset="0"/>
              <a:ea typeface="Cambria" panose="02040503050406030204" pitchFamily="18" charset="0"/>
              <a:cs typeface="Arial" panose="020B0604020202020204" pitchFamily="34" charset="0"/>
            </a:endParaRPr>
          </a:p>
        </p:txBody>
      </p:sp>
      <p:sp>
        <p:nvSpPr>
          <p:cNvPr id="3" name="Text Placeholder 2"/>
          <p:cNvSpPr>
            <a:spLocks noGrp="1"/>
          </p:cNvSpPr>
          <p:nvPr>
            <p:ph type="body" idx="1"/>
          </p:nvPr>
        </p:nvSpPr>
        <p:spPr>
          <a:xfrm>
            <a:off x="534669" y="1494408"/>
            <a:ext cx="8074660" cy="4985980"/>
          </a:xfrm>
        </p:spPr>
        <p:txBody>
          <a:bodyPr/>
          <a:lstStyle/>
          <a:p>
            <a:pPr marL="571500" indent="-571500" algn="just">
              <a:buFont typeface="Arial" panose="020B0604020202020204" pitchFamily="34" charset="0"/>
              <a:buChar char="•"/>
            </a:pPr>
            <a:r>
              <a:rPr lang="en-US" dirty="0" smtClean="0"/>
              <a:t>Useful </a:t>
            </a:r>
            <a:r>
              <a:rPr lang="en-US" dirty="0"/>
              <a:t>research should elucidate </a:t>
            </a:r>
            <a:r>
              <a:rPr lang="en-US" dirty="0">
                <a:solidFill>
                  <a:srgbClr val="FF0000"/>
                </a:solidFill>
              </a:rPr>
              <a:t>how</a:t>
            </a:r>
            <a:r>
              <a:rPr lang="en-US" dirty="0"/>
              <a:t> and </a:t>
            </a:r>
            <a:r>
              <a:rPr lang="en-US" dirty="0">
                <a:solidFill>
                  <a:srgbClr val="FF0000"/>
                </a:solidFill>
              </a:rPr>
              <a:t>why</a:t>
            </a:r>
            <a:r>
              <a:rPr lang="en-US" dirty="0"/>
              <a:t> certain </a:t>
            </a:r>
            <a:r>
              <a:rPr lang="en-US" dirty="0" smtClean="0"/>
              <a:t>technical </a:t>
            </a:r>
            <a:r>
              <a:rPr lang="en-IN" dirty="0" smtClean="0"/>
              <a:t>development </a:t>
            </a:r>
            <a:r>
              <a:rPr lang="en-IN" dirty="0"/>
              <a:t>took </a:t>
            </a:r>
            <a:r>
              <a:rPr lang="en-IN" dirty="0" smtClean="0"/>
              <a:t>place.</a:t>
            </a:r>
          </a:p>
          <a:p>
            <a:pPr marL="571500" indent="-571500" algn="just">
              <a:buFont typeface="Arial" panose="020B0604020202020204" pitchFamily="34" charset="0"/>
              <a:buChar char="•"/>
            </a:pPr>
            <a:r>
              <a:rPr lang="en-US" dirty="0"/>
              <a:t>An effective review of literature ensures a firm foundation </a:t>
            </a:r>
            <a:r>
              <a:rPr lang="en-US" dirty="0" smtClean="0"/>
              <a:t>for advancing knowledge</a:t>
            </a:r>
            <a:r>
              <a:rPr lang="en-US" dirty="0"/>
              <a:t>, facilitates theoretical growth, eliminates as areas that </a:t>
            </a:r>
            <a:r>
              <a:rPr lang="en-US" dirty="0" smtClean="0"/>
              <a:t>might be </a:t>
            </a:r>
            <a:r>
              <a:rPr lang="en-US" dirty="0"/>
              <a:t>of interest, and opens new avenues of possible work.</a:t>
            </a:r>
            <a:endParaRPr lang="en-US" sz="3500" dirty="0" smtClean="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29</a:t>
            </a:fld>
            <a:endParaRPr lang="en-IN" dirty="0"/>
          </a:p>
        </p:txBody>
      </p:sp>
    </p:spTree>
    <p:extLst>
      <p:ext uri="{BB962C8B-B14F-4D97-AF65-F5344CB8AC3E}">
        <p14:creationId xmlns:p14="http://schemas.microsoft.com/office/powerpoint/2010/main" val="332984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669" y="447584"/>
            <a:ext cx="8098917" cy="677108"/>
          </a:xfrm>
        </p:spPr>
        <p:txBody>
          <a:bodyPr/>
          <a:lstStyle/>
          <a:p>
            <a:pPr algn="ctr"/>
            <a:r>
              <a:rPr lang="en-IN" b="1" dirty="0">
                <a:solidFill>
                  <a:srgbClr val="FF0000"/>
                </a:solidFill>
              </a:rPr>
              <a:t>New and Existing </a:t>
            </a:r>
            <a:r>
              <a:rPr lang="en-IN" b="1" dirty="0" smtClean="0">
                <a:solidFill>
                  <a:srgbClr val="FF0000"/>
                </a:solidFill>
              </a:rPr>
              <a:t>Knowledge cont.</a:t>
            </a:r>
            <a:endParaRPr lang="en-IN" sz="3200" dirty="0">
              <a:solidFill>
                <a:srgbClr val="FF0000"/>
              </a:solidFill>
              <a:latin typeface="Cambria" panose="02040503050406030204" pitchFamily="18" charset="0"/>
              <a:ea typeface="Cambria" panose="02040503050406030204" pitchFamily="18" charset="0"/>
              <a:cs typeface="Arial" panose="020B0604020202020204" pitchFamily="34" charset="0"/>
            </a:endParaRPr>
          </a:p>
        </p:txBody>
      </p:sp>
      <p:sp>
        <p:nvSpPr>
          <p:cNvPr id="3" name="Text Placeholder 2"/>
          <p:cNvSpPr>
            <a:spLocks noGrp="1"/>
          </p:cNvSpPr>
          <p:nvPr>
            <p:ph type="body" idx="1"/>
          </p:nvPr>
        </p:nvSpPr>
        <p:spPr>
          <a:xfrm>
            <a:off x="534669" y="1494408"/>
            <a:ext cx="8074660" cy="3308598"/>
          </a:xfrm>
        </p:spPr>
        <p:txBody>
          <a:bodyPr/>
          <a:lstStyle/>
          <a:p>
            <a:pPr marL="571500" indent="-571500" algn="just">
              <a:buFont typeface="Arial" panose="020B0604020202020204" pitchFamily="34" charset="0"/>
              <a:buChar char="•"/>
            </a:pPr>
            <a:r>
              <a:rPr lang="en-IN" dirty="0"/>
              <a:t>An efficient literature </a:t>
            </a:r>
            <a:r>
              <a:rPr lang="en-IN" dirty="0" smtClean="0"/>
              <a:t>review </a:t>
            </a:r>
            <a:r>
              <a:rPr lang="en-US" dirty="0" smtClean="0"/>
              <a:t>is </a:t>
            </a:r>
            <a:r>
              <a:rPr lang="en-US" dirty="0"/>
              <a:t>centered around concepts and not </a:t>
            </a:r>
            <a:r>
              <a:rPr lang="en-US" dirty="0" smtClean="0"/>
              <a:t>authors.</a:t>
            </a:r>
          </a:p>
          <a:p>
            <a:pPr marL="571500" indent="-571500">
              <a:buFont typeface="Arial" panose="020B0604020202020204" pitchFamily="34" charset="0"/>
              <a:buChar char="•"/>
            </a:pPr>
            <a:r>
              <a:rPr lang="en-IN" dirty="0" smtClean="0"/>
              <a:t>Through a good literature review, the state </a:t>
            </a:r>
            <a:r>
              <a:rPr lang="en-US" dirty="0" smtClean="0"/>
              <a:t>of </a:t>
            </a:r>
            <a:r>
              <a:rPr lang="en-US" dirty="0"/>
              <a:t>art in the chosen field is </a:t>
            </a:r>
            <a:r>
              <a:rPr lang="en-US" dirty="0" smtClean="0"/>
              <a:t>well understood</a:t>
            </a:r>
            <a:r>
              <a:rPr lang="en-US" dirty="0"/>
              <a:t>.</a:t>
            </a:r>
            <a:endParaRPr lang="en-US" dirty="0" smtClean="0"/>
          </a:p>
          <a:p>
            <a:pPr algn="just"/>
            <a:endParaRPr lang="en-US" sz="3500" dirty="0" smtClean="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7"/>
          </p:nvPr>
        </p:nvSpPr>
        <p:spPr/>
        <p:txBody>
          <a:bodyPr/>
          <a:lstStyle/>
          <a:p>
            <a:pPr marL="38100">
              <a:lnSpc>
                <a:spcPts val="1240"/>
              </a:lnSpc>
            </a:pPr>
            <a:fld id="{81D60167-4931-47E6-BA6A-407CBD079E47}" type="slidenum">
              <a:rPr lang="en-IN" smtClean="0"/>
              <a:pPr marL="38100">
                <a:lnSpc>
                  <a:spcPts val="1240"/>
                </a:lnSpc>
              </a:pPr>
              <a:t>30</a:t>
            </a:fld>
            <a:endParaRPr lang="en-IN" dirty="0"/>
          </a:p>
        </p:txBody>
      </p:sp>
    </p:spTree>
    <p:extLst>
      <p:ext uri="{BB962C8B-B14F-4D97-AF65-F5344CB8AC3E}">
        <p14:creationId xmlns:p14="http://schemas.microsoft.com/office/powerpoint/2010/main" val="2042237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48C6A0-2AF7-5E3A-736A-19E0D62281E2}"/>
              </a:ext>
            </a:extLst>
          </p:cNvPr>
          <p:cNvPicPr>
            <a:picLocks noChangeAspect="1"/>
          </p:cNvPicPr>
          <p:nvPr/>
        </p:nvPicPr>
        <p:blipFill>
          <a:blip r:embed="rId2"/>
          <a:stretch>
            <a:fillRect/>
          </a:stretch>
        </p:blipFill>
        <p:spPr>
          <a:xfrm>
            <a:off x="0" y="1036320"/>
            <a:ext cx="9144000" cy="4785360"/>
          </a:xfrm>
          <a:prstGeom prst="rect">
            <a:avLst/>
          </a:prstGeom>
        </p:spPr>
      </p:pic>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31</a:t>
            </a:fld>
            <a:endParaRPr dirty="0"/>
          </a:p>
        </p:txBody>
      </p:sp>
      <p:sp>
        <p:nvSpPr>
          <p:cNvPr id="2" name="object 2"/>
          <p:cNvSpPr txBox="1">
            <a:spLocks noGrp="1"/>
          </p:cNvSpPr>
          <p:nvPr>
            <p:ph type="title"/>
          </p:nvPr>
        </p:nvSpPr>
        <p:spPr>
          <a:xfrm>
            <a:off x="0" y="0"/>
            <a:ext cx="9144000" cy="628377"/>
          </a:xfrm>
          <a:prstGeom prst="rect">
            <a:avLst/>
          </a:prstGeom>
          <a:solidFill>
            <a:schemeClr val="accent1">
              <a:lumMod val="40000"/>
              <a:lumOff val="60000"/>
            </a:schemeClr>
          </a:solidFill>
        </p:spPr>
        <p:txBody>
          <a:bodyPr vert="horz" wrap="square" lIns="0" tIns="12700" rIns="0" bIns="0" rtlCol="0">
            <a:spAutoFit/>
          </a:bodyPr>
          <a:lstStyle/>
          <a:p>
            <a:pPr algn="ctr">
              <a:lnSpc>
                <a:spcPct val="100000"/>
              </a:lnSpc>
            </a:pPr>
            <a:endParaRPr lang="en-IN" sz="4000" dirty="0">
              <a:solidFill>
                <a:srgbClr val="FF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9E94416C-6900-420A-D6E8-0935D49C9356}"/>
              </a:ext>
            </a:extLst>
          </p:cNvPr>
          <p:cNvSpPr txBox="1"/>
          <p:nvPr/>
        </p:nvSpPr>
        <p:spPr>
          <a:xfrm>
            <a:off x="503763" y="2751892"/>
            <a:ext cx="3687237" cy="2308324"/>
          </a:xfrm>
          <a:prstGeom prst="rect">
            <a:avLst/>
          </a:prstGeom>
          <a:noFill/>
        </p:spPr>
        <p:txBody>
          <a:bodyPr wrap="square">
            <a:spAutoFit/>
          </a:bodyPr>
          <a:lstStyle/>
          <a:p>
            <a:pPr algn="just">
              <a:spcBef>
                <a:spcPts val="600"/>
              </a:spcBef>
              <a:spcAft>
                <a:spcPts val="600"/>
              </a:spcAft>
            </a:pPr>
            <a:r>
              <a:rPr lang="en-US" sz="3600" dirty="0">
                <a:solidFill>
                  <a:schemeClr val="bg1"/>
                </a:solidFill>
                <a:latin typeface="Cambria" panose="02040503050406030204" pitchFamily="18" charset="0"/>
                <a:ea typeface="Cambria" panose="02040503050406030204" pitchFamily="18" charset="0"/>
                <a:cs typeface="Times New Roman" panose="02020603050405020304" pitchFamily="18" charset="0"/>
              </a:rPr>
              <a:t> “there is no one best way for undertaking all research”</a:t>
            </a:r>
          </a:p>
        </p:txBody>
      </p:sp>
      <p:sp>
        <p:nvSpPr>
          <p:cNvPr id="4" name="TextBox 3">
            <a:extLst>
              <a:ext uri="{FF2B5EF4-FFF2-40B4-BE49-F238E27FC236}">
                <a16:creationId xmlns:a16="http://schemas.microsoft.com/office/drawing/2014/main" id="{2CB4772A-1BAA-BB81-D834-4588DC6668DE}"/>
              </a:ext>
            </a:extLst>
          </p:cNvPr>
          <p:cNvSpPr txBox="1"/>
          <p:nvPr/>
        </p:nvSpPr>
        <p:spPr>
          <a:xfrm>
            <a:off x="503762" y="1925975"/>
            <a:ext cx="4587240" cy="830997"/>
          </a:xfrm>
          <a:prstGeom prst="rect">
            <a:avLst/>
          </a:prstGeom>
          <a:noFill/>
        </p:spPr>
        <p:txBody>
          <a:bodyPr wrap="square">
            <a:spAutoFit/>
          </a:bodyPr>
          <a:lstStyle/>
          <a:p>
            <a:r>
              <a:rPr lang="en-IN" sz="4800" b="1" dirty="0">
                <a:solidFill>
                  <a:schemeClr val="bg1"/>
                </a:solidFill>
                <a:latin typeface="Cambria" panose="02040503050406030204" pitchFamily="18" charset="0"/>
                <a:ea typeface="Cambria" panose="02040503050406030204" pitchFamily="18" charset="0"/>
              </a:rPr>
              <a:t>Remember</a:t>
            </a:r>
          </a:p>
        </p:txBody>
      </p:sp>
    </p:spTree>
    <p:extLst>
      <p:ext uri="{BB962C8B-B14F-4D97-AF65-F5344CB8AC3E}">
        <p14:creationId xmlns:p14="http://schemas.microsoft.com/office/powerpoint/2010/main" val="298311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2791</TotalTime>
  <Words>2323</Words>
  <Application>Microsoft Office PowerPoint</Application>
  <PresentationFormat>On-screen Show (4:3)</PresentationFormat>
  <Paragraphs>197</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Cambria</vt:lpstr>
      <vt:lpstr>Times New Roman</vt:lpstr>
      <vt:lpstr>Wingdings</vt:lpstr>
      <vt:lpstr>Office Theme</vt:lpstr>
      <vt:lpstr>Research Methodology &amp; IPR (AL58)</vt:lpstr>
      <vt:lpstr>Course Contents</vt:lpstr>
      <vt:lpstr>Course Contents</vt:lpstr>
      <vt:lpstr>Course Contents</vt:lpstr>
      <vt:lpstr>Text Books</vt:lpstr>
      <vt:lpstr>Course Outcomes</vt:lpstr>
      <vt:lpstr>PowerPoint Presentation</vt:lpstr>
      <vt:lpstr>Need for Undergraduate Research</vt:lpstr>
      <vt:lpstr>Meaning of Research</vt:lpstr>
      <vt:lpstr>Research Flow Diagram</vt:lpstr>
      <vt:lpstr>The categories of knowledge in research</vt:lpstr>
      <vt:lpstr>PowerPoint Presentation</vt:lpstr>
      <vt:lpstr>Objectives of Research</vt:lpstr>
      <vt:lpstr>PowerPoint Presentation</vt:lpstr>
      <vt:lpstr>Types of Research</vt:lpstr>
      <vt:lpstr>Types of Research</vt:lpstr>
      <vt:lpstr>Some Other Types of Research</vt:lpstr>
      <vt:lpstr>Some Other Types of Research</vt:lpstr>
      <vt:lpstr>5 Important Ethics in Research</vt:lpstr>
      <vt:lpstr>Types of Research Misconduct</vt:lpstr>
      <vt:lpstr>Types of Research Misconduct Cont.</vt:lpstr>
      <vt:lpstr>Types of Research Misconduct Cont.</vt:lpstr>
      <vt:lpstr>Types of Research Misconduct Cont.</vt:lpstr>
      <vt:lpstr>Types of Research Misconduct Cont.</vt:lpstr>
      <vt:lpstr>Types of Research Misconduct Cont.</vt:lpstr>
      <vt:lpstr>Criteria of Good Research</vt:lpstr>
      <vt:lpstr>Literature Review and Technical Reading</vt:lpstr>
      <vt:lpstr>New and Existing Knowledge</vt:lpstr>
      <vt:lpstr>New and Existing Knowledge cont.</vt:lpstr>
      <vt:lpstr>New and Existing Knowledge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Research Methodology</dc:title>
  <dc:creator>ASIR JOHN SAMUEL</dc:creator>
  <cp:lastModifiedBy>Admin</cp:lastModifiedBy>
  <cp:revision>353</cp:revision>
  <dcterms:created xsi:type="dcterms:W3CDTF">2022-03-06T17:08:41Z</dcterms:created>
  <dcterms:modified xsi:type="dcterms:W3CDTF">2023-10-06T08:26:26Z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2012-01-07T00:00:00Z</vt:filetime>
  </property>
  <property fmtid="{D5CDD505-2E9C-101B-9397-08002B2CF9AE}" pid="3" name="Creator">
    <vt:lpwstr>Microsoft® PowerPoint® 2010</vt:lpwstr>
  </property>
  <property fmtid="{D5CDD505-2E9C-101B-9397-08002B2CF9AE}" pid="4" name="LastSaved">
    <vt:filetime>2022-03-06T00:00:00Z</vt:filetime>
  </property>
</Properties>
</file>